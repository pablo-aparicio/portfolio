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 r:id="rId5"/>
    <p:sldId id="334" r:id="rId6"/>
    <p:sldId id="259" r:id="rId7"/>
    <p:sldId id="331" r:id="rId8"/>
    <p:sldId id="299" r:id="rId9"/>
    <p:sldId id="333" r:id="rId10"/>
    <p:sldId id="301" r:id="rId11"/>
    <p:sldId id="307" r:id="rId12"/>
    <p:sldId id="321" r:id="rId13"/>
    <p:sldId id="322" r:id="rId14"/>
    <p:sldId id="268" r:id="rId15"/>
    <p:sldId id="293" r:id="rId16"/>
    <p:sldId id="303" r:id="rId17"/>
    <p:sldId id="298" r:id="rId18"/>
    <p:sldId id="294"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8"/>
    <a:srgbClr val="0000AB"/>
    <a:srgbClr val="0000A4"/>
    <a:srgbClr val="0200A2"/>
    <a:srgbClr val="0000AD"/>
    <a:srgbClr val="F9F9F9"/>
    <a:srgbClr val="B1A694"/>
    <a:srgbClr val="85765F"/>
    <a:srgbClr val="EFE8DC"/>
    <a:srgbClr val="2622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C186B4-E82B-48D9-B48C-3B2926A71478}" v="737" dt="2025-10-06T18:59:17.048"/>
    <p1510:client id="{67AFFD0D-8FDB-CAD7-7224-CD547C723A4A}" v="390" dt="2025-10-06T22:59:03.398"/>
    <p1510:client id="{7850839B-71A6-1658-489B-25F12663E100}" v="22" dt="2025-10-06T18:58:42.151"/>
    <p1510:client id="{80DDCDD5-A4ED-4D24-B0AF-EA9BE88BF253}" v="14" dt="2025-10-06T19:42:29.510"/>
    <p1510:client id="{C329E624-3DBB-765F-D63E-1F44AED60958}" v="73" dt="2025-10-06T10:46:46.943"/>
    <p1510:client id="{FD275260-B24D-4167-9707-4DD72561303A}" v="112" dt="2025-10-06T22:29:45.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228"/>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ferojasbandres" userId="S::maferojasbandres_gmail.com#ext#@upm365.onmicrosoft.com::4adbd032-1b76-4f85-a744-30d6bf249e9a" providerId="AD" clId="Web-{FC733FF5-3F70-7E7E-0D59-192FB2F3FFE6}"/>
    <pc:docChg chg="modSld">
      <pc:chgData name="maferojasbandres" userId="S::maferojasbandres_gmail.com#ext#@upm365.onmicrosoft.com::4adbd032-1b76-4f85-a744-30d6bf249e9a" providerId="AD" clId="Web-{FC733FF5-3F70-7E7E-0D59-192FB2F3FFE6}" dt="2025-10-07T06:56:43.426" v="1"/>
      <pc:docMkLst>
        <pc:docMk/>
      </pc:docMkLst>
      <pc:sldChg chg="modNotes">
        <pc:chgData name="maferojasbandres" userId="S::maferojasbandres_gmail.com#ext#@upm365.onmicrosoft.com::4adbd032-1b76-4f85-a744-30d6bf249e9a" providerId="AD" clId="Web-{FC733FF5-3F70-7E7E-0D59-192FB2F3FFE6}" dt="2025-10-07T06:56:43.426" v="1"/>
        <pc:sldMkLst>
          <pc:docMk/>
          <pc:sldMk cId="2938601944" sldId="331"/>
        </pc:sldMkLst>
      </pc:sldChg>
    </pc:docChg>
  </pc:docChgLst>
  <pc:docChgLst>
    <pc:chgData name="LUCIA MORENO YANCE" userId="S::lucia.moreno.yance@alumnos.upm.es::f58c88b3-bc8e-4b5c-8283-0c749f3a1268" providerId="AD" clId="Web-{67AFFD0D-8FDB-CAD7-7224-CD547C723A4A}"/>
    <pc:docChg chg="modSld">
      <pc:chgData name="LUCIA MORENO YANCE" userId="S::lucia.moreno.yance@alumnos.upm.es::f58c88b3-bc8e-4b5c-8283-0c749f3a1268" providerId="AD" clId="Web-{67AFFD0D-8FDB-CAD7-7224-CD547C723A4A}" dt="2025-10-06T22:59:03.398" v="377" actId="20577"/>
      <pc:docMkLst>
        <pc:docMk/>
      </pc:docMkLst>
      <pc:sldChg chg="addSp delSp modSp modNotes">
        <pc:chgData name="LUCIA MORENO YANCE" userId="S::lucia.moreno.yance@alumnos.upm.es::f58c88b3-bc8e-4b5c-8283-0c749f3a1268" providerId="AD" clId="Web-{67AFFD0D-8FDB-CAD7-7224-CD547C723A4A}" dt="2025-10-06T22:51:28.045" v="322" actId="20577"/>
        <pc:sldMkLst>
          <pc:docMk/>
          <pc:sldMk cId="2987616166" sldId="259"/>
        </pc:sldMkLst>
        <pc:spChg chg="mod">
          <ac:chgData name="LUCIA MORENO YANCE" userId="S::lucia.moreno.yance@alumnos.upm.es::f58c88b3-bc8e-4b5c-8283-0c749f3a1268" providerId="AD" clId="Web-{67AFFD0D-8FDB-CAD7-7224-CD547C723A4A}" dt="2025-10-06T22:48:30.434" v="298" actId="20577"/>
          <ac:spMkLst>
            <pc:docMk/>
            <pc:sldMk cId="2987616166" sldId="259"/>
            <ac:spMk id="3" creationId="{40AD0FC1-CF7A-5B15-B7F8-8A5C0D8B43A1}"/>
          </ac:spMkLst>
        </pc:spChg>
        <pc:spChg chg="mod">
          <ac:chgData name="LUCIA MORENO YANCE" userId="S::lucia.moreno.yance@alumnos.upm.es::f58c88b3-bc8e-4b5c-8283-0c749f3a1268" providerId="AD" clId="Web-{67AFFD0D-8FDB-CAD7-7224-CD547C723A4A}" dt="2025-10-06T22:51:28.045" v="322" actId="20577"/>
          <ac:spMkLst>
            <pc:docMk/>
            <pc:sldMk cId="2987616166" sldId="259"/>
            <ac:spMk id="7" creationId="{02BC5E73-BE42-4FA1-37D2-F900B38C0108}"/>
          </ac:spMkLst>
        </pc:spChg>
        <pc:picChg chg="add del mod modCrop">
          <ac:chgData name="LUCIA MORENO YANCE" userId="S::lucia.moreno.yance@alumnos.upm.es::f58c88b3-bc8e-4b5c-8283-0c749f3a1268" providerId="AD" clId="Web-{67AFFD0D-8FDB-CAD7-7224-CD547C723A4A}" dt="2025-10-06T22:35:37.709" v="224"/>
          <ac:picMkLst>
            <pc:docMk/>
            <pc:sldMk cId="2987616166" sldId="259"/>
            <ac:picMk id="2" creationId="{240C23E3-CE04-0AB0-4E06-9222AD0C7660}"/>
          </ac:picMkLst>
        </pc:picChg>
        <pc:picChg chg="mod modCrop">
          <ac:chgData name="LUCIA MORENO YANCE" userId="S::lucia.moreno.yance@alumnos.upm.es::f58c88b3-bc8e-4b5c-8283-0c749f3a1268" providerId="AD" clId="Web-{67AFFD0D-8FDB-CAD7-7224-CD547C723A4A}" dt="2025-10-06T22:36:16.117" v="233" actId="1076"/>
          <ac:picMkLst>
            <pc:docMk/>
            <pc:sldMk cId="2987616166" sldId="259"/>
            <ac:picMk id="4" creationId="{E2129C5D-9277-7972-5111-15AC7713DF49}"/>
          </ac:picMkLst>
        </pc:picChg>
        <pc:picChg chg="add del mod modCrop">
          <ac:chgData name="LUCIA MORENO YANCE" userId="S::lucia.moreno.yance@alumnos.upm.es::f58c88b3-bc8e-4b5c-8283-0c749f3a1268" providerId="AD" clId="Web-{67AFFD0D-8FDB-CAD7-7224-CD547C723A4A}" dt="2025-10-06T22:35:34.177" v="218"/>
          <ac:picMkLst>
            <pc:docMk/>
            <pc:sldMk cId="2987616166" sldId="259"/>
            <ac:picMk id="5" creationId="{FE5A0799-531F-08B9-6851-AE7CEEF833D3}"/>
          </ac:picMkLst>
        </pc:picChg>
      </pc:sldChg>
      <pc:sldChg chg="modSp modNotes">
        <pc:chgData name="LUCIA MORENO YANCE" userId="S::lucia.moreno.yance@alumnos.upm.es::f58c88b3-bc8e-4b5c-8283-0c749f3a1268" providerId="AD" clId="Web-{67AFFD0D-8FDB-CAD7-7224-CD547C723A4A}" dt="2025-10-06T22:58:24.334" v="372"/>
        <pc:sldMkLst>
          <pc:docMk/>
          <pc:sldMk cId="3068536220" sldId="268"/>
        </pc:sldMkLst>
        <pc:spChg chg="mod">
          <ac:chgData name="LUCIA MORENO YANCE" userId="S::lucia.moreno.yance@alumnos.upm.es::f58c88b3-bc8e-4b5c-8283-0c749f3a1268" providerId="AD" clId="Web-{67AFFD0D-8FDB-CAD7-7224-CD547C723A4A}" dt="2025-10-06T22:55:33.701" v="353" actId="20577"/>
          <ac:spMkLst>
            <pc:docMk/>
            <pc:sldMk cId="3068536220" sldId="268"/>
            <ac:spMk id="2" creationId="{57657DF9-D24D-52FF-BDE4-8B2B82A47F69}"/>
          </ac:spMkLst>
        </pc:spChg>
        <pc:spChg chg="mod">
          <ac:chgData name="LUCIA MORENO YANCE" userId="S::lucia.moreno.yance@alumnos.upm.es::f58c88b3-bc8e-4b5c-8283-0c749f3a1268" providerId="AD" clId="Web-{67AFFD0D-8FDB-CAD7-7224-CD547C723A4A}" dt="2025-10-06T22:58:24.334" v="372"/>
          <ac:spMkLst>
            <pc:docMk/>
            <pc:sldMk cId="3068536220" sldId="268"/>
            <ac:spMk id="7" creationId="{7466EAA6-7C80-1FED-E61B-1307FBE469FE}"/>
          </ac:spMkLst>
        </pc:spChg>
        <pc:spChg chg="mod">
          <ac:chgData name="LUCIA MORENO YANCE" userId="S::lucia.moreno.yance@alumnos.upm.es::f58c88b3-bc8e-4b5c-8283-0c749f3a1268" providerId="AD" clId="Web-{67AFFD0D-8FDB-CAD7-7224-CD547C723A4A}" dt="2025-10-06T22:56:43.910" v="360" actId="20577"/>
          <ac:spMkLst>
            <pc:docMk/>
            <pc:sldMk cId="3068536220" sldId="268"/>
            <ac:spMk id="17" creationId="{C7740546-0A5C-3C3A-1D18-1728BBAADFFC}"/>
          </ac:spMkLst>
        </pc:spChg>
      </pc:sldChg>
      <pc:sldChg chg="modSp">
        <pc:chgData name="LUCIA MORENO YANCE" userId="S::lucia.moreno.yance@alumnos.upm.es::f58c88b3-bc8e-4b5c-8283-0c749f3a1268" providerId="AD" clId="Web-{67AFFD0D-8FDB-CAD7-7224-CD547C723A4A}" dt="2025-10-06T22:58:13.428" v="371"/>
        <pc:sldMkLst>
          <pc:docMk/>
          <pc:sldMk cId="4076267349" sldId="293"/>
        </pc:sldMkLst>
        <pc:spChg chg="mod">
          <ac:chgData name="LUCIA MORENO YANCE" userId="S::lucia.moreno.yance@alumnos.upm.es::f58c88b3-bc8e-4b5c-8283-0c749f3a1268" providerId="AD" clId="Web-{67AFFD0D-8FDB-CAD7-7224-CD547C723A4A}" dt="2025-10-06T22:58:13.428" v="371"/>
          <ac:spMkLst>
            <pc:docMk/>
            <pc:sldMk cId="4076267349" sldId="293"/>
            <ac:spMk id="5" creationId="{41644139-661F-1606-A138-051309353D1E}"/>
          </ac:spMkLst>
        </pc:spChg>
        <pc:spChg chg="mod">
          <ac:chgData name="LUCIA MORENO YANCE" userId="S::lucia.moreno.yance@alumnos.upm.es::f58c88b3-bc8e-4b5c-8283-0c749f3a1268" providerId="AD" clId="Web-{67AFFD0D-8FDB-CAD7-7224-CD547C723A4A}" dt="2025-10-06T22:57:11.739" v="362" actId="20577"/>
          <ac:spMkLst>
            <pc:docMk/>
            <pc:sldMk cId="4076267349" sldId="293"/>
            <ac:spMk id="8" creationId="{463F9C5E-6FCB-A6FA-86E3-AD3F511371D8}"/>
          </ac:spMkLst>
        </pc:spChg>
        <pc:spChg chg="mod">
          <ac:chgData name="LUCIA MORENO YANCE" userId="S::lucia.moreno.yance@alumnos.upm.es::f58c88b3-bc8e-4b5c-8283-0c749f3a1268" providerId="AD" clId="Web-{67AFFD0D-8FDB-CAD7-7224-CD547C723A4A}" dt="2025-10-06T22:57:21.989" v="364" actId="20577"/>
          <ac:spMkLst>
            <pc:docMk/>
            <pc:sldMk cId="4076267349" sldId="293"/>
            <ac:spMk id="11" creationId="{1A1202EA-EE6F-5BCD-6E6E-8F8630CA5336}"/>
          </ac:spMkLst>
        </pc:spChg>
        <pc:spChg chg="mod">
          <ac:chgData name="LUCIA MORENO YANCE" userId="S::lucia.moreno.yance@alumnos.upm.es::f58c88b3-bc8e-4b5c-8283-0c749f3a1268" providerId="AD" clId="Web-{67AFFD0D-8FDB-CAD7-7224-CD547C723A4A}" dt="2025-10-06T22:57:16.942" v="363" actId="20577"/>
          <ac:spMkLst>
            <pc:docMk/>
            <pc:sldMk cId="4076267349" sldId="293"/>
            <ac:spMk id="15" creationId="{27BC5FAF-1664-CC28-EC52-39D96F1622C4}"/>
          </ac:spMkLst>
        </pc:spChg>
        <pc:spChg chg="mod">
          <ac:chgData name="LUCIA MORENO YANCE" userId="S::lucia.moreno.yance@alumnos.upm.es::f58c88b3-bc8e-4b5c-8283-0c749f3a1268" providerId="AD" clId="Web-{67AFFD0D-8FDB-CAD7-7224-CD547C723A4A}" dt="2025-10-06T22:57:06.192" v="361" actId="20577"/>
          <ac:spMkLst>
            <pc:docMk/>
            <pc:sldMk cId="4076267349" sldId="293"/>
            <ac:spMk id="17" creationId="{4BDEC007-EE7D-643B-1A31-8132D010239D}"/>
          </ac:spMkLst>
        </pc:spChg>
      </pc:sldChg>
      <pc:sldChg chg="modSp">
        <pc:chgData name="LUCIA MORENO YANCE" userId="S::lucia.moreno.yance@alumnos.upm.es::f58c88b3-bc8e-4b5c-8283-0c749f3a1268" providerId="AD" clId="Web-{67AFFD0D-8FDB-CAD7-7224-CD547C723A4A}" dt="2025-10-06T22:18:36.731" v="149" actId="1076"/>
        <pc:sldMkLst>
          <pc:docMk/>
          <pc:sldMk cId="1267039865" sldId="298"/>
        </pc:sldMkLst>
        <pc:spChg chg="mod">
          <ac:chgData name="LUCIA MORENO YANCE" userId="S::lucia.moreno.yance@alumnos.upm.es::f58c88b3-bc8e-4b5c-8283-0c749f3a1268" providerId="AD" clId="Web-{67AFFD0D-8FDB-CAD7-7224-CD547C723A4A}" dt="2025-10-06T22:18:36.731" v="149" actId="1076"/>
          <ac:spMkLst>
            <pc:docMk/>
            <pc:sldMk cId="1267039865" sldId="298"/>
            <ac:spMk id="3" creationId="{911C009A-F6E6-5A70-53B6-4B2DA7AE4AC1}"/>
          </ac:spMkLst>
        </pc:spChg>
      </pc:sldChg>
      <pc:sldChg chg="modSp">
        <pc:chgData name="LUCIA MORENO YANCE" userId="S::lucia.moreno.yance@alumnos.upm.es::f58c88b3-bc8e-4b5c-8283-0c749f3a1268" providerId="AD" clId="Web-{67AFFD0D-8FDB-CAD7-7224-CD547C723A4A}" dt="2025-10-06T22:50:50.714" v="316" actId="20577"/>
        <pc:sldMkLst>
          <pc:docMk/>
          <pc:sldMk cId="3745541989" sldId="299"/>
        </pc:sldMkLst>
        <pc:spChg chg="mod">
          <ac:chgData name="LUCIA MORENO YANCE" userId="S::lucia.moreno.yance@alumnos.upm.es::f58c88b3-bc8e-4b5c-8283-0c749f3a1268" providerId="AD" clId="Web-{67AFFD0D-8FDB-CAD7-7224-CD547C723A4A}" dt="2025-10-06T22:50:50.714" v="316" actId="20577"/>
          <ac:spMkLst>
            <pc:docMk/>
            <pc:sldMk cId="3745541989" sldId="299"/>
            <ac:spMk id="7" creationId="{8A0E8BE5-9940-8219-4A6A-4C790C760BED}"/>
          </ac:spMkLst>
        </pc:spChg>
        <pc:spChg chg="mod">
          <ac:chgData name="LUCIA MORENO YANCE" userId="S::lucia.moreno.yance@alumnos.upm.es::f58c88b3-bc8e-4b5c-8283-0c749f3a1268" providerId="AD" clId="Web-{67AFFD0D-8FDB-CAD7-7224-CD547C723A4A}" dt="2025-10-06T22:49:51.865" v="305" actId="20577"/>
          <ac:spMkLst>
            <pc:docMk/>
            <pc:sldMk cId="3745541989" sldId="299"/>
            <ac:spMk id="11" creationId="{B2F9BC13-4536-B564-0E97-7547F6718C7D}"/>
          </ac:spMkLst>
        </pc:spChg>
      </pc:sldChg>
      <pc:sldChg chg="modSp modNotes">
        <pc:chgData name="LUCIA MORENO YANCE" userId="S::lucia.moreno.yance@alumnos.upm.es::f58c88b3-bc8e-4b5c-8283-0c749f3a1268" providerId="AD" clId="Web-{67AFFD0D-8FDB-CAD7-7224-CD547C723A4A}" dt="2025-10-06T22:52:40.378" v="334" actId="20577"/>
        <pc:sldMkLst>
          <pc:docMk/>
          <pc:sldMk cId="2414270248" sldId="301"/>
        </pc:sldMkLst>
        <pc:spChg chg="mod">
          <ac:chgData name="LUCIA MORENO YANCE" userId="S::lucia.moreno.yance@alumnos.upm.es::f58c88b3-bc8e-4b5c-8283-0c749f3a1268" providerId="AD" clId="Web-{67AFFD0D-8FDB-CAD7-7224-CD547C723A4A}" dt="2025-10-06T22:52:40.378" v="334" actId="20577"/>
          <ac:spMkLst>
            <pc:docMk/>
            <pc:sldMk cId="2414270248" sldId="301"/>
            <ac:spMk id="16" creationId="{EC1CFB7F-C781-6DC8-5C4B-4C4636D7B7FE}"/>
          </ac:spMkLst>
        </pc:spChg>
        <pc:spChg chg="mod">
          <ac:chgData name="LUCIA MORENO YANCE" userId="S::lucia.moreno.yance@alumnos.upm.es::f58c88b3-bc8e-4b5c-8283-0c749f3a1268" providerId="AD" clId="Web-{67AFFD0D-8FDB-CAD7-7224-CD547C723A4A}" dt="2025-10-06T22:52:23.330" v="331" actId="20577"/>
          <ac:spMkLst>
            <pc:docMk/>
            <pc:sldMk cId="2414270248" sldId="301"/>
            <ac:spMk id="17" creationId="{4A0A22B0-4996-0CA8-1671-67EB1583E84B}"/>
          </ac:spMkLst>
        </pc:spChg>
      </pc:sldChg>
      <pc:sldChg chg="modSp">
        <pc:chgData name="LUCIA MORENO YANCE" userId="S::lucia.moreno.yance@alumnos.upm.es::f58c88b3-bc8e-4b5c-8283-0c749f3a1268" providerId="AD" clId="Web-{67AFFD0D-8FDB-CAD7-7224-CD547C723A4A}" dt="2025-10-06T22:57:54.849" v="370"/>
        <pc:sldMkLst>
          <pc:docMk/>
          <pc:sldMk cId="844897263" sldId="303"/>
        </pc:sldMkLst>
        <pc:spChg chg="mod">
          <ac:chgData name="LUCIA MORENO YANCE" userId="S::lucia.moreno.yance@alumnos.upm.es::f58c88b3-bc8e-4b5c-8283-0c749f3a1268" providerId="AD" clId="Web-{67AFFD0D-8FDB-CAD7-7224-CD547C723A4A}" dt="2025-10-06T22:57:32.114" v="366" actId="20577"/>
          <ac:spMkLst>
            <pc:docMk/>
            <pc:sldMk cId="844897263" sldId="303"/>
            <ac:spMk id="3" creationId="{F3B0368E-37E3-037B-44D2-172F0DC213DB}"/>
          </ac:spMkLst>
        </pc:spChg>
        <pc:spChg chg="mod">
          <ac:chgData name="LUCIA MORENO YANCE" userId="S::lucia.moreno.yance@alumnos.upm.es::f58c88b3-bc8e-4b5c-8283-0c749f3a1268" providerId="AD" clId="Web-{67AFFD0D-8FDB-CAD7-7224-CD547C723A4A}" dt="2025-10-06T22:57:38.036" v="368" actId="20577"/>
          <ac:spMkLst>
            <pc:docMk/>
            <pc:sldMk cId="844897263" sldId="303"/>
            <ac:spMk id="6" creationId="{A96F8EF3-9F9C-791C-DFF2-F48FD464695D}"/>
          </ac:spMkLst>
        </pc:spChg>
        <pc:spChg chg="mod">
          <ac:chgData name="LUCIA MORENO YANCE" userId="S::lucia.moreno.yance@alumnos.upm.es::f58c88b3-bc8e-4b5c-8283-0c749f3a1268" providerId="AD" clId="Web-{67AFFD0D-8FDB-CAD7-7224-CD547C723A4A}" dt="2025-10-06T22:57:54.849" v="370"/>
          <ac:spMkLst>
            <pc:docMk/>
            <pc:sldMk cId="844897263" sldId="303"/>
            <ac:spMk id="8" creationId="{5F8B241E-2294-0787-A43C-A03A2EE1765F}"/>
          </ac:spMkLst>
        </pc:spChg>
      </pc:sldChg>
      <pc:sldChg chg="modSp">
        <pc:chgData name="LUCIA MORENO YANCE" userId="S::lucia.moreno.yance@alumnos.upm.es::f58c88b3-bc8e-4b5c-8283-0c749f3a1268" providerId="AD" clId="Web-{67AFFD0D-8FDB-CAD7-7224-CD547C723A4A}" dt="2025-10-06T22:59:03.398" v="377" actId="20577"/>
        <pc:sldMkLst>
          <pc:docMk/>
          <pc:sldMk cId="4291009063" sldId="307"/>
        </pc:sldMkLst>
        <pc:spChg chg="mod">
          <ac:chgData name="LUCIA MORENO YANCE" userId="S::lucia.moreno.yance@alumnos.upm.es::f58c88b3-bc8e-4b5c-8283-0c749f3a1268" providerId="AD" clId="Web-{67AFFD0D-8FDB-CAD7-7224-CD547C723A4A}" dt="2025-10-06T22:59:03.398" v="377" actId="20577"/>
          <ac:spMkLst>
            <pc:docMk/>
            <pc:sldMk cId="4291009063" sldId="307"/>
            <ac:spMk id="5" creationId="{0BBDBFC8-BA52-2DA6-D01D-D0D4F1B89AE1}"/>
          </ac:spMkLst>
        </pc:spChg>
      </pc:sldChg>
      <pc:sldChg chg="modSp">
        <pc:chgData name="LUCIA MORENO YANCE" userId="S::lucia.moreno.yance@alumnos.upm.es::f58c88b3-bc8e-4b5c-8283-0c749f3a1268" providerId="AD" clId="Web-{67AFFD0D-8FDB-CAD7-7224-CD547C723A4A}" dt="2025-10-06T22:58:43.944" v="376" actId="1076"/>
        <pc:sldMkLst>
          <pc:docMk/>
          <pc:sldMk cId="1526459856" sldId="321"/>
        </pc:sldMkLst>
        <pc:spChg chg="mod">
          <ac:chgData name="LUCIA MORENO YANCE" userId="S::lucia.moreno.yance@alumnos.upm.es::f58c88b3-bc8e-4b5c-8283-0c749f3a1268" providerId="AD" clId="Web-{67AFFD0D-8FDB-CAD7-7224-CD547C723A4A}" dt="2025-10-06T22:52:59.457" v="336"/>
          <ac:spMkLst>
            <pc:docMk/>
            <pc:sldMk cId="1526459856" sldId="321"/>
            <ac:spMk id="2" creationId="{0F3ECB3F-BE7A-8589-EA08-C034350502F3}"/>
          </ac:spMkLst>
        </pc:spChg>
        <pc:spChg chg="mod">
          <ac:chgData name="LUCIA MORENO YANCE" userId="S::lucia.moreno.yance@alumnos.upm.es::f58c88b3-bc8e-4b5c-8283-0c749f3a1268" providerId="AD" clId="Web-{67AFFD0D-8FDB-CAD7-7224-CD547C723A4A}" dt="2025-10-06T22:53:24.052" v="339" actId="20577"/>
          <ac:spMkLst>
            <pc:docMk/>
            <pc:sldMk cId="1526459856" sldId="321"/>
            <ac:spMk id="7" creationId="{FF2F81D5-0B0E-A82D-7150-6C3ACD10AE47}"/>
          </ac:spMkLst>
        </pc:spChg>
        <pc:spChg chg="mod">
          <ac:chgData name="LUCIA MORENO YANCE" userId="S::lucia.moreno.yance@alumnos.upm.es::f58c88b3-bc8e-4b5c-8283-0c749f3a1268" providerId="AD" clId="Web-{67AFFD0D-8FDB-CAD7-7224-CD547C723A4A}" dt="2025-10-06T22:58:43.944" v="376" actId="1076"/>
          <ac:spMkLst>
            <pc:docMk/>
            <pc:sldMk cId="1526459856" sldId="321"/>
            <ac:spMk id="8" creationId="{70F6BD63-AB72-FEF5-F345-A0B820EF3530}"/>
          </ac:spMkLst>
        </pc:spChg>
      </pc:sldChg>
      <pc:sldChg chg="modSp modNotes">
        <pc:chgData name="LUCIA MORENO YANCE" userId="S::lucia.moreno.yance@alumnos.upm.es::f58c88b3-bc8e-4b5c-8283-0c749f3a1268" providerId="AD" clId="Web-{67AFFD0D-8FDB-CAD7-7224-CD547C723A4A}" dt="2025-10-06T22:58:35.304" v="374"/>
        <pc:sldMkLst>
          <pc:docMk/>
          <pc:sldMk cId="1571564629" sldId="322"/>
        </pc:sldMkLst>
        <pc:spChg chg="mod">
          <ac:chgData name="LUCIA MORENO YANCE" userId="S::lucia.moreno.yance@alumnos.upm.es::f58c88b3-bc8e-4b5c-8283-0c749f3a1268" providerId="AD" clId="Web-{67AFFD0D-8FDB-CAD7-7224-CD547C723A4A}" dt="2025-10-06T22:58:35.304" v="374"/>
          <ac:spMkLst>
            <pc:docMk/>
            <pc:sldMk cId="1571564629" sldId="322"/>
            <ac:spMk id="15" creationId="{E5D1A088-ED90-56E2-0EB8-AF811FB3C3DF}"/>
          </ac:spMkLst>
        </pc:spChg>
        <pc:spChg chg="mod">
          <ac:chgData name="LUCIA MORENO YANCE" userId="S::lucia.moreno.yance@alumnos.upm.es::f58c88b3-bc8e-4b5c-8283-0c749f3a1268" providerId="AD" clId="Web-{67AFFD0D-8FDB-CAD7-7224-CD547C723A4A}" dt="2025-10-06T22:53:50.757" v="342" actId="20577"/>
          <ac:spMkLst>
            <pc:docMk/>
            <pc:sldMk cId="1571564629" sldId="322"/>
            <ac:spMk id="21" creationId="{7357B7B5-1762-4759-9E32-3841F5230C18}"/>
          </ac:spMkLst>
        </pc:spChg>
      </pc:sldChg>
      <pc:sldChg chg="modSp modNotes">
        <pc:chgData name="LUCIA MORENO YANCE" userId="S::lucia.moreno.yance@alumnos.upm.es::f58c88b3-bc8e-4b5c-8283-0c749f3a1268" providerId="AD" clId="Web-{67AFFD0D-8FDB-CAD7-7224-CD547C723A4A}" dt="2025-10-06T22:52:04.001" v="327" actId="1076"/>
        <pc:sldMkLst>
          <pc:docMk/>
          <pc:sldMk cId="2938601944" sldId="331"/>
        </pc:sldMkLst>
        <pc:spChg chg="mod">
          <ac:chgData name="LUCIA MORENO YANCE" userId="S::lucia.moreno.yance@alumnos.upm.es::f58c88b3-bc8e-4b5c-8283-0c749f3a1268" providerId="AD" clId="Web-{67AFFD0D-8FDB-CAD7-7224-CD547C723A4A}" dt="2025-10-06T22:51:38.093" v="324"/>
          <ac:spMkLst>
            <pc:docMk/>
            <pc:sldMk cId="2938601944" sldId="331"/>
            <ac:spMk id="4" creationId="{B7CFE47E-CCB4-D1AC-BEEA-931AF593F90F}"/>
          </ac:spMkLst>
        </pc:spChg>
        <pc:spChg chg="mod">
          <ac:chgData name="LUCIA MORENO YANCE" userId="S::lucia.moreno.yance@alumnos.upm.es::f58c88b3-bc8e-4b5c-8283-0c749f3a1268" providerId="AD" clId="Web-{67AFFD0D-8FDB-CAD7-7224-CD547C723A4A}" dt="2025-10-06T22:52:04.001" v="327" actId="1076"/>
          <ac:spMkLst>
            <pc:docMk/>
            <pc:sldMk cId="2938601944" sldId="331"/>
            <ac:spMk id="7" creationId="{5F01AF4D-28F2-CA91-9730-F3FDA3BCF5F8}"/>
          </ac:spMkLst>
        </pc:spChg>
      </pc:sldChg>
    </pc:docChg>
  </pc:docChgLst>
  <pc:docChgLst>
    <pc:chgData name="PABLO APARICIO MARTIN" userId="d4cc45bb-3e99-4f6e-ae13-b46dafe0dcc7" providerId="ADAL" clId="{6D095506-1869-49C4-906B-3A109B2BB531}"/>
    <pc:docChg chg="modSld">
      <pc:chgData name="PABLO APARICIO MARTIN" userId="d4cc45bb-3e99-4f6e-ae13-b46dafe0dcc7" providerId="ADAL" clId="{6D095506-1869-49C4-906B-3A109B2BB531}" dt="2025-10-06T22:29:45.157" v="110" actId="20577"/>
      <pc:docMkLst>
        <pc:docMk/>
      </pc:docMkLst>
      <pc:sldChg chg="modNotesTx">
        <pc:chgData name="PABLO APARICIO MARTIN" userId="d4cc45bb-3e99-4f6e-ae13-b46dafe0dcc7" providerId="ADAL" clId="{6D095506-1869-49C4-906B-3A109B2BB531}" dt="2025-10-06T22:15:48.026" v="88" actId="20577"/>
        <pc:sldMkLst>
          <pc:docMk/>
          <pc:sldMk cId="2987616166" sldId="259"/>
        </pc:sldMkLst>
      </pc:sldChg>
      <pc:sldChg chg="modNotesTx">
        <pc:chgData name="PABLO APARICIO MARTIN" userId="d4cc45bb-3e99-4f6e-ae13-b46dafe0dcc7" providerId="ADAL" clId="{6D095506-1869-49C4-906B-3A109B2BB531}" dt="2025-10-06T22:29:45.157" v="110" actId="20577"/>
        <pc:sldMkLst>
          <pc:docMk/>
          <pc:sldMk cId="1571564629" sldId="322"/>
        </pc:sldMkLst>
      </pc:sldChg>
      <pc:sldChg chg="setBg">
        <pc:chgData name="PABLO APARICIO MARTIN" userId="d4cc45bb-3e99-4f6e-ae13-b46dafe0dcc7" providerId="ADAL" clId="{6D095506-1869-49C4-906B-3A109B2BB531}" dt="2025-10-06T21:16:58.559" v="0"/>
        <pc:sldMkLst>
          <pc:docMk/>
          <pc:sldMk cId="2907798247" sldId="333"/>
        </pc:sldMkLst>
      </pc:sldChg>
      <pc:sldChg chg="modNotesTx">
        <pc:chgData name="PABLO APARICIO MARTIN" userId="d4cc45bb-3e99-4f6e-ae13-b46dafe0dcc7" providerId="ADAL" clId="{6D095506-1869-49C4-906B-3A109B2BB531}" dt="2025-10-06T22:13:08.661" v="75" actId="20577"/>
        <pc:sldMkLst>
          <pc:docMk/>
          <pc:sldMk cId="2097483661" sldId="3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AB59F-EA55-48C0-96AB-10036EC89E23}" type="datetimeFigureOut">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9EA4B-FDF3-4C74-8961-01CAD5D8DB5A}" type="slidenum">
              <a:t>‹#›</a:t>
            </a:fld>
            <a:endParaRPr lang="en-US"/>
          </a:p>
        </p:txBody>
      </p:sp>
    </p:spTree>
    <p:extLst>
      <p:ext uri="{BB962C8B-B14F-4D97-AF65-F5344CB8AC3E}">
        <p14:creationId xmlns:p14="http://schemas.microsoft.com/office/powerpoint/2010/main" val="164960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ea typeface="Calibri"/>
                <a:cs typeface="Calibri"/>
              </a:rPr>
              <a:t>Good </a:t>
            </a:r>
            <a:r>
              <a:rPr lang="es-ES" err="1">
                <a:ea typeface="Calibri"/>
                <a:cs typeface="Calibri"/>
              </a:rPr>
              <a:t>morning</a:t>
            </a:r>
            <a:r>
              <a:rPr lang="es-ES">
                <a:ea typeface="Calibri"/>
                <a:cs typeface="Calibri"/>
              </a:rPr>
              <a:t> </a:t>
            </a:r>
            <a:r>
              <a:rPr lang="es-ES" err="1">
                <a:ea typeface="Calibri"/>
                <a:cs typeface="Calibri"/>
              </a:rPr>
              <a:t>everyone</a:t>
            </a:r>
            <a:r>
              <a:rPr lang="es-ES">
                <a:ea typeface="Calibri"/>
                <a:cs typeface="Calibri"/>
              </a:rPr>
              <a:t>, </a:t>
            </a:r>
            <a:r>
              <a:rPr lang="es-ES" err="1">
                <a:ea typeface="Calibri"/>
                <a:cs typeface="Calibri"/>
              </a:rPr>
              <a:t>this</a:t>
            </a:r>
            <a:r>
              <a:rPr lang="es-ES">
                <a:ea typeface="Calibri"/>
                <a:cs typeface="Calibri"/>
              </a:rPr>
              <a:t> </a:t>
            </a:r>
            <a:r>
              <a:rPr lang="es-ES" err="1">
                <a:ea typeface="Calibri"/>
                <a:cs typeface="Calibri"/>
              </a:rPr>
              <a:t>is</a:t>
            </a:r>
            <a:r>
              <a:rPr lang="es-ES">
                <a:ea typeface="Calibri"/>
                <a:cs typeface="Calibri"/>
              </a:rPr>
              <a:t> </a:t>
            </a:r>
            <a:r>
              <a:rPr lang="es-ES" err="1">
                <a:ea typeface="Calibri"/>
                <a:cs typeface="Calibri"/>
              </a:rPr>
              <a:t>the</a:t>
            </a:r>
            <a:r>
              <a:rPr lang="es-ES">
                <a:ea typeface="Calibri"/>
                <a:cs typeface="Calibri"/>
              </a:rPr>
              <a:t> </a:t>
            </a:r>
            <a:r>
              <a:rPr lang="es-ES" err="1">
                <a:ea typeface="Calibri"/>
                <a:cs typeface="Calibri"/>
              </a:rPr>
              <a:t>team</a:t>
            </a:r>
            <a:r>
              <a:rPr lang="es-ES">
                <a:ea typeface="Calibri"/>
                <a:cs typeface="Calibri"/>
              </a:rPr>
              <a:t> </a:t>
            </a:r>
            <a:r>
              <a:rPr lang="es-ES" err="1">
                <a:ea typeface="Calibri"/>
                <a:cs typeface="Calibri"/>
              </a:rPr>
              <a:t>formed</a:t>
            </a:r>
            <a:r>
              <a:rPr lang="es-ES">
                <a:ea typeface="Calibri"/>
                <a:cs typeface="Calibri"/>
              </a:rPr>
              <a:t> </a:t>
            </a:r>
            <a:r>
              <a:rPr lang="es-ES" err="1">
                <a:ea typeface="Calibri"/>
                <a:cs typeface="Calibri"/>
              </a:rPr>
              <a:t>by</a:t>
            </a:r>
            <a:r>
              <a:rPr lang="es-ES">
                <a:ea typeface="Calibri"/>
                <a:cs typeface="Calibri"/>
              </a:rPr>
              <a:t> Pablo, Lucía and Mafe, and </a:t>
            </a:r>
            <a:r>
              <a:rPr lang="es-ES" err="1">
                <a:ea typeface="Calibri"/>
                <a:cs typeface="Calibri"/>
              </a:rPr>
              <a:t>we</a:t>
            </a:r>
            <a:r>
              <a:rPr lang="es-ES">
                <a:ea typeface="Calibri"/>
                <a:cs typeface="Calibri"/>
              </a:rPr>
              <a:t> are </a:t>
            </a:r>
            <a:r>
              <a:rPr lang="es-ES" err="1">
                <a:ea typeface="Calibri"/>
                <a:cs typeface="Calibri"/>
              </a:rPr>
              <a:t>here</a:t>
            </a:r>
            <a:r>
              <a:rPr lang="es-ES">
                <a:ea typeface="Calibri"/>
                <a:cs typeface="Calibri"/>
              </a:rPr>
              <a:t> to </a:t>
            </a:r>
            <a:r>
              <a:rPr lang="es-ES" err="1">
                <a:ea typeface="Calibri"/>
                <a:cs typeface="Calibri"/>
              </a:rPr>
              <a:t>present</a:t>
            </a:r>
            <a:r>
              <a:rPr lang="es-ES">
                <a:ea typeface="Calibri"/>
                <a:cs typeface="Calibri"/>
              </a:rPr>
              <a:t> </a:t>
            </a:r>
            <a:r>
              <a:rPr lang="es-ES" err="1">
                <a:ea typeface="Calibri"/>
                <a:cs typeface="Calibri"/>
              </a:rPr>
              <a:t>you</a:t>
            </a:r>
            <a:r>
              <a:rPr lang="es-ES">
                <a:ea typeface="Calibri"/>
                <a:cs typeface="Calibri"/>
              </a:rPr>
              <a:t> UBIBUS</a:t>
            </a:r>
          </a:p>
        </p:txBody>
      </p:sp>
      <p:sp>
        <p:nvSpPr>
          <p:cNvPr id="4" name="Marcador de número de diapositiva 3"/>
          <p:cNvSpPr>
            <a:spLocks noGrp="1"/>
          </p:cNvSpPr>
          <p:nvPr>
            <p:ph type="sldNum" sz="quarter" idx="5"/>
          </p:nvPr>
        </p:nvSpPr>
        <p:spPr/>
        <p:txBody>
          <a:bodyPr/>
          <a:lstStyle/>
          <a:p>
            <a:fld id="{1869EA4B-FDF3-4C74-8961-01CAD5D8DB5A}" type="slidenum">
              <a:rPr lang="es-ES" smtClean="0"/>
              <a:t>1</a:t>
            </a:fld>
            <a:endParaRPr lang="es-ES"/>
          </a:p>
        </p:txBody>
      </p:sp>
    </p:spTree>
    <p:extLst>
      <p:ext uri="{BB962C8B-B14F-4D97-AF65-F5344CB8AC3E}">
        <p14:creationId xmlns:p14="http://schemas.microsoft.com/office/powerpoint/2010/main" val="1808370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AB85-39A4-5556-CD28-D5891AAF28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80B9FB-EABE-CBE4-94EB-F4B0859CACD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3A46D3-82F4-E6DE-5457-4539E25AE4E3}"/>
              </a:ext>
            </a:extLst>
          </p:cNvPr>
          <p:cNvSpPr>
            <a:spLocks noGrp="1"/>
          </p:cNvSpPr>
          <p:nvPr>
            <p:ph type="body" idx="1"/>
          </p:nvPr>
        </p:nvSpPr>
        <p:spPr/>
        <p:txBody>
          <a:bodyPr/>
          <a:lstStyle/>
          <a:p>
            <a:r>
              <a:rPr lang="es-ES">
                <a:ea typeface="Calibri"/>
                <a:cs typeface="Calibri"/>
              </a:rPr>
              <a:t>Good </a:t>
            </a:r>
            <a:r>
              <a:rPr lang="es-ES" err="1">
                <a:ea typeface="Calibri"/>
                <a:cs typeface="Calibri"/>
              </a:rPr>
              <a:t>morning</a:t>
            </a:r>
            <a:r>
              <a:rPr lang="es-ES">
                <a:ea typeface="Calibri"/>
                <a:cs typeface="Calibri"/>
              </a:rPr>
              <a:t> </a:t>
            </a:r>
            <a:r>
              <a:rPr lang="es-ES" err="1">
                <a:ea typeface="Calibri"/>
                <a:cs typeface="Calibri"/>
              </a:rPr>
              <a:t>everyone</a:t>
            </a:r>
            <a:r>
              <a:rPr lang="es-ES">
                <a:ea typeface="Calibri"/>
                <a:cs typeface="Calibri"/>
              </a:rPr>
              <a:t>, </a:t>
            </a:r>
            <a:r>
              <a:rPr lang="es-ES" err="1">
                <a:ea typeface="Calibri"/>
                <a:cs typeface="Calibri"/>
              </a:rPr>
              <a:t>we</a:t>
            </a:r>
            <a:r>
              <a:rPr lang="es-ES">
                <a:ea typeface="Calibri"/>
                <a:cs typeface="Calibri"/>
              </a:rPr>
              <a:t> are Pablo, Lucía and Mafe, and </a:t>
            </a:r>
            <a:r>
              <a:rPr lang="es-ES" err="1">
                <a:ea typeface="Calibri"/>
                <a:cs typeface="Calibri"/>
              </a:rPr>
              <a:t>we</a:t>
            </a:r>
            <a:r>
              <a:rPr lang="es-ES">
                <a:ea typeface="Calibri"/>
                <a:cs typeface="Calibri"/>
              </a:rPr>
              <a:t> are </a:t>
            </a:r>
            <a:r>
              <a:rPr lang="es-ES" err="1">
                <a:ea typeface="Calibri"/>
                <a:cs typeface="Calibri"/>
              </a:rPr>
              <a:t>here</a:t>
            </a:r>
            <a:r>
              <a:rPr lang="es-ES">
                <a:ea typeface="Calibri"/>
                <a:cs typeface="Calibri"/>
              </a:rPr>
              <a:t> to </a:t>
            </a:r>
            <a:r>
              <a:rPr lang="es-ES" err="1">
                <a:ea typeface="Calibri"/>
                <a:cs typeface="Calibri"/>
              </a:rPr>
              <a:t>present</a:t>
            </a:r>
            <a:r>
              <a:rPr lang="es-ES">
                <a:ea typeface="Calibri"/>
                <a:cs typeface="Calibri"/>
              </a:rPr>
              <a:t> </a:t>
            </a:r>
            <a:r>
              <a:rPr lang="es-ES" err="1">
                <a:ea typeface="Calibri"/>
                <a:cs typeface="Calibri"/>
              </a:rPr>
              <a:t>you</a:t>
            </a:r>
            <a:r>
              <a:rPr lang="es-ES">
                <a:ea typeface="Calibri"/>
                <a:cs typeface="Calibri"/>
              </a:rPr>
              <a:t> UBIBUS</a:t>
            </a:r>
          </a:p>
        </p:txBody>
      </p:sp>
      <p:sp>
        <p:nvSpPr>
          <p:cNvPr id="4" name="Marcador de número de diapositiva 3">
            <a:extLst>
              <a:ext uri="{FF2B5EF4-FFF2-40B4-BE49-F238E27FC236}">
                <a16:creationId xmlns:a16="http://schemas.microsoft.com/office/drawing/2014/main" id="{BFDA017F-FB87-11FD-80DD-04D001D1BA80}"/>
              </a:ext>
            </a:extLst>
          </p:cNvPr>
          <p:cNvSpPr>
            <a:spLocks noGrp="1"/>
          </p:cNvSpPr>
          <p:nvPr>
            <p:ph type="sldNum" sz="quarter" idx="5"/>
          </p:nvPr>
        </p:nvSpPr>
        <p:spPr/>
        <p:txBody>
          <a:bodyPr/>
          <a:lstStyle/>
          <a:p>
            <a:fld id="{1869EA4B-FDF3-4C74-8961-01CAD5D8DB5A}" type="slidenum">
              <a:rPr lang="es-ES" smtClean="0"/>
              <a:t>2</a:t>
            </a:fld>
            <a:endParaRPr lang="es-ES"/>
          </a:p>
        </p:txBody>
      </p:sp>
    </p:spTree>
    <p:extLst>
      <p:ext uri="{BB962C8B-B14F-4D97-AF65-F5344CB8AC3E}">
        <p14:creationId xmlns:p14="http://schemas.microsoft.com/office/powerpoint/2010/main" val="2517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These are the contents we are going through today. And we'll start with the problem definition.</a:t>
            </a:r>
          </a:p>
          <a:p>
            <a:endParaRPr lang="en-US">
              <a:ea typeface="Calibri"/>
              <a:cs typeface="Calibri"/>
            </a:endParaRPr>
          </a:p>
          <a:p>
            <a:r>
              <a:rPr lang="en-US">
                <a:ea typeface="Calibri"/>
                <a:cs typeface="Calibri"/>
              </a:rPr>
              <a:t>So, let's take a look at a key moment in public transport: the waiting at the bus stop</a:t>
            </a:r>
          </a:p>
        </p:txBody>
      </p:sp>
      <p:sp>
        <p:nvSpPr>
          <p:cNvPr id="4" name="Slide Number Placeholder 3"/>
          <p:cNvSpPr>
            <a:spLocks noGrp="1"/>
          </p:cNvSpPr>
          <p:nvPr>
            <p:ph type="sldNum" sz="quarter" idx="5"/>
          </p:nvPr>
        </p:nvSpPr>
        <p:spPr/>
        <p:txBody>
          <a:bodyPr/>
          <a:lstStyle/>
          <a:p>
            <a:fld id="{1869EA4B-FDF3-4C74-8961-01CAD5D8DB5A}" type="slidenum">
              <a:rPr lang="en-US"/>
              <a:t>3</a:t>
            </a:fld>
            <a:endParaRPr lang="en-US"/>
          </a:p>
        </p:txBody>
      </p:sp>
    </p:spTree>
    <p:extLst>
      <p:ext uri="{BB962C8B-B14F-4D97-AF65-F5344CB8AC3E}">
        <p14:creationId xmlns:p14="http://schemas.microsoft.com/office/powerpoint/2010/main" val="114208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1:10 </a:t>
            </a:r>
            <a:r>
              <a:rPr lang="en-US" i="1">
                <a:ea typeface="Calibri"/>
                <a:cs typeface="Calibri"/>
              </a:rPr>
              <a:t>[Let's take a look at a key moment in public transport: the wait at the bus stop.]</a:t>
            </a:r>
            <a:endParaRPr lang="en-US">
              <a:ea typeface="Calibri"/>
              <a:cs typeface="Calibri"/>
            </a:endParaRPr>
          </a:p>
          <a:p>
            <a:endParaRPr lang="en-US" i="1">
              <a:ea typeface="Calibri"/>
              <a:cs typeface="Calibri"/>
            </a:endParaRPr>
          </a:p>
          <a:p>
            <a:r>
              <a:rPr lang="en-US">
                <a:ea typeface="Calibri"/>
                <a:cs typeface="Calibri"/>
              </a:rPr>
              <a:t>Our user is Miguel, he is on his way to university to take an exam. Once he arrives at the stop, he checks the time and he has to wait 11 minutes for the bus to come. +++ After 8 minutes of waiting, he checks the time panel again and now it shows 9 minutes remaining. He feels completely frustrated. He doesn't know what</a:t>
            </a:r>
            <a:r>
              <a:rPr lang="en-US"/>
              <a:t> has happened to the bus, how long it will actually take, or if it is really coming, because it could have been involved in a service disruption or accident. The way Miguel receives the information is not very empathetic and is not enough.  +++He loses trust in the public system. So he thinks of an alternative and takes a private vehicle.++++++ This reality is even worse at night or in suburban areas with low-frequency routes.</a:t>
            </a:r>
            <a:endParaRPr lang="en-US">
              <a:ea typeface="Calibri"/>
              <a:cs typeface="Calibri"/>
            </a:endParaRPr>
          </a:p>
        </p:txBody>
      </p:sp>
      <p:sp>
        <p:nvSpPr>
          <p:cNvPr id="4" name="Slide Number Placeholder 3"/>
          <p:cNvSpPr>
            <a:spLocks noGrp="1"/>
          </p:cNvSpPr>
          <p:nvPr>
            <p:ph type="sldNum" sz="quarter" idx="5"/>
          </p:nvPr>
        </p:nvSpPr>
        <p:spPr/>
        <p:txBody>
          <a:bodyPr/>
          <a:lstStyle/>
          <a:p>
            <a:fld id="{1869EA4B-FDF3-4C74-8961-01CAD5D8DB5A}" type="slidenum">
              <a:rPr lang="en-US"/>
              <a:t>4</a:t>
            </a:fld>
            <a:endParaRPr lang="en-US"/>
          </a:p>
        </p:txBody>
      </p:sp>
    </p:spTree>
    <p:extLst>
      <p:ext uri="{BB962C8B-B14F-4D97-AF65-F5344CB8AC3E}">
        <p14:creationId xmlns:p14="http://schemas.microsoft.com/office/powerpoint/2010/main" val="1569905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AF29-6F3C-2927-898A-05107A53B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0EAC5-E6FD-088C-FDD3-45F0FCD3D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DD125-E942-D514-A80A-483C4B209019}"/>
              </a:ext>
            </a:extLst>
          </p:cNvPr>
          <p:cNvSpPr>
            <a:spLocks noGrp="1"/>
          </p:cNvSpPr>
          <p:nvPr>
            <p:ph type="body" idx="1"/>
          </p:nvPr>
        </p:nvSpPr>
        <p:spPr/>
        <p:txBody>
          <a:bodyPr/>
          <a:lstStyle/>
          <a:p>
            <a:r>
              <a:rPr lang="en-US">
                <a:ea typeface="Calibri"/>
                <a:cs typeface="Calibri"/>
              </a:rPr>
              <a:t>15s</a:t>
            </a:r>
          </a:p>
          <a:p>
            <a:endParaRPr lang="en-US">
              <a:ea typeface="Calibri"/>
              <a:cs typeface="Calibri"/>
            </a:endParaRPr>
          </a:p>
          <a:p>
            <a:r>
              <a:rPr lang="en-US">
                <a:ea typeface="Calibri"/>
                <a:cs typeface="Calibri"/>
              </a:rPr>
              <a:t>So, which are the user pain points?</a:t>
            </a:r>
            <a:endParaRPr lang="en-US"/>
          </a:p>
          <a:p>
            <a:pPr marL="171450" indent="-171450">
              <a:buFont typeface="Arial"/>
              <a:buChar char="•"/>
            </a:pPr>
            <a:r>
              <a:rPr lang="en-US">
                <a:ea typeface="Calibri"/>
                <a:cs typeface="Calibri"/>
              </a:rPr>
              <a:t>Frustration </a:t>
            </a:r>
          </a:p>
          <a:p>
            <a:pPr marL="171450" indent="-171450">
              <a:lnSpc>
                <a:spcPct val="90000"/>
              </a:lnSpc>
              <a:spcBef>
                <a:spcPts val="1000"/>
              </a:spcBef>
              <a:buFont typeface="Arial"/>
              <a:buChar char="•"/>
            </a:pPr>
            <a:r>
              <a:rPr lang="en-US"/>
              <a:t>Impossible planification</a:t>
            </a:r>
            <a:endParaRPr lang="en-US">
              <a:ea typeface="Calibri"/>
              <a:cs typeface="Calibri"/>
            </a:endParaRPr>
          </a:p>
          <a:p>
            <a:pPr marL="171450" indent="-171450">
              <a:lnSpc>
                <a:spcPct val="90000"/>
              </a:lnSpc>
              <a:spcBef>
                <a:spcPts val="1000"/>
              </a:spcBef>
              <a:buFont typeface="Arial"/>
              <a:buChar char="•"/>
            </a:pPr>
            <a:r>
              <a:rPr lang="en-US"/>
              <a:t>Unreliability</a:t>
            </a:r>
            <a:endParaRPr lang="en-US">
              <a:ea typeface="Calibri"/>
              <a:cs typeface="Calibri"/>
            </a:endParaRPr>
          </a:p>
          <a:p>
            <a:pPr marL="171450" indent="-171450">
              <a:lnSpc>
                <a:spcPct val="90000"/>
              </a:lnSpc>
              <a:spcBef>
                <a:spcPts val="1000"/>
              </a:spcBef>
              <a:buFont typeface="Arial"/>
              <a:buChar char="•"/>
            </a:pPr>
            <a:r>
              <a:rPr lang="en-US"/>
              <a:t>Inefficient transfers – many times, the bus is just a connection. And if you lose the bus, you lose the train.</a:t>
            </a:r>
            <a:endParaRPr lang="en-US">
              <a:ea typeface="Calibri"/>
              <a:cs typeface="Calibri"/>
            </a:endParaRPr>
          </a:p>
          <a:p>
            <a:pPr marL="171450" indent="-171450">
              <a:lnSpc>
                <a:spcPct val="90000"/>
              </a:lnSpc>
              <a:spcBef>
                <a:spcPts val="1000"/>
              </a:spcBef>
              <a:buFont typeface="Arial"/>
              <a:buChar char="•"/>
            </a:pPr>
            <a:r>
              <a:rPr lang="en-US">
                <a:ea typeface="Calibri"/>
                <a:cs typeface="Calibri"/>
              </a:rPr>
              <a:t>Strong disappointment, leading to</a:t>
            </a:r>
          </a:p>
          <a:p>
            <a:pPr marL="171450" indent="-171450">
              <a:lnSpc>
                <a:spcPct val="90000"/>
              </a:lnSpc>
              <a:spcBef>
                <a:spcPts val="1000"/>
              </a:spcBef>
              <a:buFont typeface="Arial"/>
              <a:buChar char="•"/>
            </a:pPr>
            <a:r>
              <a:rPr lang="en-US"/>
              <a:t>Negative attitude towards public transport</a:t>
            </a:r>
            <a:endParaRPr lang="en-US">
              <a:ea typeface="Calibri" panose="020F0502020204030204"/>
              <a:cs typeface="Calibri" panose="020F0502020204030204"/>
            </a:endParaRPr>
          </a:p>
          <a:p>
            <a:pPr marL="171450" indent="-171450">
              <a:lnSpc>
                <a:spcPct val="90000"/>
              </a:lnSpc>
              <a:spcBef>
                <a:spcPts val="1000"/>
              </a:spcBef>
              <a:buFont typeface="Arial"/>
              <a:buChar char="•"/>
            </a:pPr>
            <a:endParaRPr lang="en-US">
              <a:ea typeface="Calibri" panose="020F0502020204030204"/>
              <a:cs typeface="Calibri" panose="020F0502020204030204"/>
            </a:endParaRPr>
          </a:p>
          <a:p>
            <a:pPr>
              <a:lnSpc>
                <a:spcPct val="90000"/>
              </a:lnSpc>
              <a:spcBef>
                <a:spcPts val="1000"/>
              </a:spcBef>
            </a:pPr>
            <a:r>
              <a:rPr lang="en-US">
                <a:ea typeface="Calibri" panose="020F0502020204030204"/>
                <a:cs typeface="Calibri" panose="020F0502020204030204"/>
              </a:rPr>
              <a:t>And with all of these pains, we lose a public transport user, </a:t>
            </a:r>
            <a:r>
              <a:rPr lang="en-US"/>
              <a:t>driving more people toward private vehicles.</a:t>
            </a:r>
            <a:endParaRPr lang="en-US">
              <a:ea typeface="Calibri"/>
              <a:cs typeface="Calibri"/>
            </a:endParaRPr>
          </a:p>
          <a:p>
            <a:pPr>
              <a:lnSpc>
                <a:spcPct val="90000"/>
              </a:lnSpc>
              <a:spcBef>
                <a:spcPts val="1000"/>
              </a:spcBef>
            </a:pPr>
            <a:endParaRPr lang="en-US">
              <a:ea typeface="Calibri"/>
              <a:cs typeface="Calibri"/>
            </a:endParaRPr>
          </a:p>
          <a:p>
            <a:endParaRPr lang="en-US"/>
          </a:p>
          <a:p>
            <a:r>
              <a:rPr lang="en-US"/>
              <a:t>---------------------------------------------------------------------------------------------------------------------------------------------------------------------------------------</a:t>
            </a:r>
            <a:endParaRPr lang="en-US">
              <a:ea typeface="Calibri"/>
              <a:cs typeface="Calibri"/>
            </a:endParaRPr>
          </a:p>
          <a:p>
            <a:r>
              <a:rPr lang="en-US"/>
              <a:t>Our goal is to reduce the user’s pain generated by the sparse and unreliable time information.</a:t>
            </a:r>
            <a:endParaRPr lang="en-US">
              <a:ea typeface="Calibri" panose="020F0502020204030204"/>
              <a:cs typeface="Calibri" panose="020F0502020204030204"/>
            </a:endParaRPr>
          </a:p>
          <a:p>
            <a:r>
              <a:rPr lang="en-US"/>
              <a:t> </a:t>
            </a:r>
            <a:endParaRPr lang="en-US">
              <a:solidFill>
                <a:srgbClr val="444444"/>
              </a:solidFill>
              <a:ea typeface="Calibri"/>
              <a:cs typeface="Calibri"/>
            </a:endParaRPr>
          </a:p>
          <a:p>
            <a:r>
              <a:rPr lang="en-US"/>
              <a:t>[If they knew the position of the bus, they could plan and take informed decisions/choose a different public mean of transport]</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8F93EAB4-0C54-6DCC-8AD3-AAEACCEA20FC}"/>
              </a:ext>
            </a:extLst>
          </p:cNvPr>
          <p:cNvSpPr>
            <a:spLocks noGrp="1"/>
          </p:cNvSpPr>
          <p:nvPr>
            <p:ph type="sldNum" sz="quarter" idx="5"/>
          </p:nvPr>
        </p:nvSpPr>
        <p:spPr/>
        <p:txBody>
          <a:bodyPr/>
          <a:lstStyle/>
          <a:p>
            <a:fld id="{1869EA4B-FDF3-4C74-8961-01CAD5D8DB5A}" type="slidenum">
              <a:rPr lang="en-US"/>
              <a:t>5</a:t>
            </a:fld>
            <a:endParaRPr lang="en-US"/>
          </a:p>
        </p:txBody>
      </p:sp>
    </p:spTree>
    <p:extLst>
      <p:ext uri="{BB962C8B-B14F-4D97-AF65-F5344CB8AC3E}">
        <p14:creationId xmlns:p14="http://schemas.microsoft.com/office/powerpoint/2010/main" val="1135178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547C-D786-E054-0079-D83B23361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6B97D-BBA2-813D-EFEF-469BF3EB8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D051D-9E2D-ABDE-3AC9-5438A61D2171}"/>
              </a:ext>
            </a:extLst>
          </p:cNvPr>
          <p:cNvSpPr>
            <a:spLocks noGrp="1"/>
          </p:cNvSpPr>
          <p:nvPr>
            <p:ph type="body" idx="1"/>
          </p:nvPr>
        </p:nvSpPr>
        <p:spPr/>
        <p:txBody>
          <a:bodyPr/>
          <a:lstStyle/>
          <a:p>
            <a:r>
              <a:rPr lang="en-US">
                <a:ea typeface="Calibri"/>
                <a:cs typeface="Calibri"/>
              </a:rPr>
              <a:t>The solution?: UBIBUS</a:t>
            </a:r>
          </a:p>
          <a:p>
            <a:endParaRPr lang="en-US">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Our product combines a paper information poster, similar to the already existing ones, with a vertical screen. This results on a smart display that still gives the crucial information in case of blackout (route name, stops, direction…).</a:t>
            </a:r>
            <a:endParaRPr lang="en-US"/>
          </a:p>
          <a:p>
            <a:endParaRPr lang="en-US">
              <a:ea typeface="Calibri"/>
              <a:cs typeface="Calibri"/>
            </a:endParaRPr>
          </a:p>
          <a:p>
            <a:r>
              <a:rPr lang="en-US">
                <a:ea typeface="Calibri"/>
                <a:cs typeface="Calibri"/>
              </a:rPr>
              <a:t>----------------------------------------------------------------------------------------------------------------------------------------------------------------</a:t>
            </a:r>
          </a:p>
          <a:p>
            <a:endParaRPr lang="en-US">
              <a:ea typeface="Calibri"/>
              <a:cs typeface="Calibri"/>
            </a:endParaRPr>
          </a:p>
          <a:p>
            <a:r>
              <a:rPr lang="en-US">
                <a:ea typeface="Calibri"/>
                <a:cs typeface="Calibri"/>
              </a:rPr>
              <a:t>It focuses on the concept of location instead of only the remaining time, resulting on a better comprehension by the user.</a:t>
            </a:r>
          </a:p>
          <a:p>
            <a:endParaRPr lang="en-US">
              <a:ea typeface="Calibri"/>
              <a:cs typeface="Calibri"/>
            </a:endParaRPr>
          </a:p>
          <a:p>
            <a:endParaRPr lang="en-US">
              <a:ea typeface="Calibri"/>
              <a:cs typeface="Calibri"/>
            </a:endParaRPr>
          </a:p>
          <a:p>
            <a:r>
              <a:rPr lang="en-US">
                <a:ea typeface="Calibri"/>
                <a:cs typeface="Calibri"/>
              </a:rPr>
              <a:t>On the screen we have a moving bus icon showing the location and the traffic state, with colorblind adapted color code. We can also use different icons to communicate an issue on the bus line. And even extend this issue-information by adding messages on the vertical screen.</a:t>
            </a:r>
          </a:p>
          <a:p>
            <a:endParaRPr lang="en-US">
              <a:ea typeface="Calibri"/>
              <a:cs typeface="Calibri"/>
            </a:endParaRPr>
          </a:p>
          <a:p>
            <a:r>
              <a:rPr lang="en-US">
                <a:ea typeface="Calibri"/>
                <a:cs typeface="Calibri"/>
              </a:rPr>
              <a:t>Furthermore, we also have a screen reader button for blind people.</a:t>
            </a:r>
          </a:p>
          <a:p>
            <a:endParaRPr lang="en-US">
              <a:ea typeface="Calibri"/>
              <a:cs typeface="Calibri"/>
            </a:endParaRPr>
          </a:p>
          <a:p>
            <a:r>
              <a:rPr lang="en-US" err="1">
                <a:ea typeface="Calibri"/>
                <a:cs typeface="Calibri"/>
              </a:rPr>
              <a:t>UBIbus</a:t>
            </a:r>
            <a:r>
              <a:rPr lang="en-US">
                <a:ea typeface="Calibri"/>
                <a:cs typeface="Calibri"/>
              </a:rPr>
              <a:t> provides innovative features while keeping universality, accessibility and intuitiveness; reaching every user.</a:t>
            </a: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Eases</a:t>
            </a:r>
            <a:r>
              <a:rPr lang="en-US"/>
              <a:t> feelings of uncertainty by providing accurate and up-to-date information.</a:t>
            </a:r>
            <a:endParaRPr lang="en-US">
              <a:ea typeface="Calibri"/>
              <a:cs typeface="Calibri"/>
            </a:endParaRPr>
          </a:p>
          <a:p>
            <a:endParaRPr lang="en-US">
              <a:ea typeface="Calibri"/>
              <a:cs typeface="Calibri"/>
            </a:endParaRPr>
          </a:p>
          <a:p>
            <a:r>
              <a:rPr lang="en-US"/>
              <a:t>[If they knew the position of the bus, they could plan and take informed decisions/choose a different public mean of transport]</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609E5773-C101-3A97-CF42-B1C01C5A2B3A}"/>
              </a:ext>
            </a:extLst>
          </p:cNvPr>
          <p:cNvSpPr>
            <a:spLocks noGrp="1"/>
          </p:cNvSpPr>
          <p:nvPr>
            <p:ph type="sldNum" sz="quarter" idx="5"/>
          </p:nvPr>
        </p:nvSpPr>
        <p:spPr/>
        <p:txBody>
          <a:bodyPr/>
          <a:lstStyle/>
          <a:p>
            <a:fld id="{1869EA4B-FDF3-4C74-8961-01CAD5D8DB5A}" type="slidenum">
              <a:rPr lang="en-US"/>
              <a:t>6</a:t>
            </a:fld>
            <a:endParaRPr lang="en-US"/>
          </a:p>
        </p:txBody>
      </p:sp>
    </p:spTree>
    <p:extLst>
      <p:ext uri="{BB962C8B-B14F-4D97-AF65-F5344CB8AC3E}">
        <p14:creationId xmlns:p14="http://schemas.microsoft.com/office/powerpoint/2010/main" val="2197043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636D-B680-19B2-0DBC-0C90AAB31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BEF7A-AB05-69C9-57D2-9521E2874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23057-52E1-8352-C60D-E35161C57FB4}"/>
              </a:ext>
            </a:extLst>
          </p:cNvPr>
          <p:cNvSpPr>
            <a:spLocks noGrp="1"/>
          </p:cNvSpPr>
          <p:nvPr>
            <p:ph type="body" idx="1"/>
          </p:nvPr>
        </p:nvSpPr>
        <p:spPr/>
        <p:txBody>
          <a:bodyPr/>
          <a:lstStyle/>
          <a:p>
            <a:r>
              <a:rPr lang="en-US">
                <a:ea typeface="Calibri"/>
                <a:cs typeface="Calibri"/>
              </a:rPr>
              <a:t>It focuses on the concept of location instead of only the remaining time.</a:t>
            </a:r>
          </a:p>
          <a:p>
            <a:r>
              <a:rPr lang="en-US">
                <a:ea typeface="Calibri"/>
                <a:cs typeface="Calibri"/>
              </a:rPr>
              <a:t>On the screen we have a moving bus icon showing the real time position and the traffic state, with a colorblind adapted color code. We can communicate an issue on the bus line by showing different icons or by adding messages on the vertical screen. All of this powered by solar panels.</a:t>
            </a:r>
          </a:p>
          <a:p>
            <a:r>
              <a:rPr lang="en-US">
                <a:ea typeface="Calibri"/>
                <a:cs typeface="Calibri"/>
              </a:rPr>
              <a:t>This info will also be digital (pasar), available in the smartphone scanning a </a:t>
            </a:r>
            <a:r>
              <a:rPr lang="en-US" err="1">
                <a:ea typeface="Calibri"/>
                <a:cs typeface="Calibri"/>
              </a:rPr>
              <a:t>qr</a:t>
            </a:r>
            <a:r>
              <a:rPr lang="en-US">
                <a:ea typeface="Calibri"/>
                <a:cs typeface="Calibri"/>
              </a:rPr>
              <a:t> or downloading the app.</a:t>
            </a:r>
          </a:p>
          <a:p>
            <a:endParaRPr lang="en-US">
              <a:ea typeface="Calibri"/>
              <a:cs typeface="Calibri"/>
            </a:endParaRPr>
          </a:p>
          <a:p>
            <a:r>
              <a:rPr lang="en-US">
                <a:ea typeface="Calibri"/>
                <a:cs typeface="Calibri"/>
              </a:rPr>
              <a:t>---------------------------------------------------------------------------------------------------------------------------</a:t>
            </a:r>
          </a:p>
          <a:p>
            <a:endParaRPr lang="en-US">
              <a:ea typeface="Calibri"/>
              <a:cs typeface="Calibri"/>
            </a:endParaRPr>
          </a:p>
          <a:p>
            <a:endParaRPr lang="en-US">
              <a:ea typeface="Calibri"/>
              <a:cs typeface="Calibri"/>
            </a:endParaRPr>
          </a:p>
          <a:p>
            <a:r>
              <a:rPr lang="en-US" err="1">
                <a:ea typeface="Calibri"/>
                <a:cs typeface="Calibri"/>
              </a:rPr>
              <a:t>Hemos</a:t>
            </a:r>
            <a:r>
              <a:rPr lang="en-US">
                <a:ea typeface="Calibri"/>
                <a:cs typeface="Calibri"/>
              </a:rPr>
              <a:t> </a:t>
            </a:r>
            <a:r>
              <a:rPr lang="en-US" err="1">
                <a:ea typeface="Calibri"/>
                <a:cs typeface="Calibri"/>
              </a:rPr>
              <a:t>cambiado</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concepto</a:t>
            </a:r>
            <a:r>
              <a:rPr lang="en-US">
                <a:ea typeface="Calibri"/>
                <a:cs typeface="Calibri"/>
              </a:rPr>
              <a:t> de </a:t>
            </a:r>
            <a:r>
              <a:rPr lang="en-US" err="1">
                <a:ea typeface="Calibri"/>
                <a:cs typeface="Calibri"/>
              </a:rPr>
              <a:t>tiempo</a:t>
            </a:r>
            <a:r>
              <a:rPr lang="en-US">
                <a:ea typeface="Calibri"/>
                <a:cs typeface="Calibri"/>
              </a:rPr>
              <a:t> a </a:t>
            </a:r>
            <a:r>
              <a:rPr lang="en-US" err="1">
                <a:ea typeface="Calibri"/>
                <a:cs typeface="Calibri"/>
              </a:rPr>
              <a:t>posición</a:t>
            </a:r>
            <a:r>
              <a:rPr lang="en-US">
                <a:ea typeface="Calibri"/>
                <a:cs typeface="Calibri"/>
              </a:rPr>
              <a:t> para </a:t>
            </a:r>
            <a:r>
              <a:rPr lang="en-US" err="1">
                <a:ea typeface="Calibri"/>
                <a:cs typeface="Calibri"/>
              </a:rPr>
              <a:t>contrarestar</a:t>
            </a:r>
            <a:r>
              <a:rPr lang="en-US">
                <a:ea typeface="Calibri"/>
                <a:cs typeface="Calibri"/>
              </a:rPr>
              <a:t> la </a:t>
            </a:r>
            <a:r>
              <a:rPr lang="en-US" err="1">
                <a:ea typeface="Calibri"/>
                <a:cs typeface="Calibri"/>
              </a:rPr>
              <a:t>incertidumbre</a:t>
            </a:r>
            <a:r>
              <a:rPr lang="en-US">
                <a:ea typeface="Calibri"/>
                <a:cs typeface="Calibri"/>
              </a:rPr>
              <a:t> de </a:t>
            </a:r>
            <a:r>
              <a:rPr lang="en-US" err="1">
                <a:ea typeface="Calibri"/>
                <a:cs typeface="Calibri"/>
              </a:rPr>
              <a:t>nuestro</a:t>
            </a:r>
            <a:r>
              <a:rPr lang="en-US">
                <a:ea typeface="Calibri"/>
                <a:cs typeface="Calibri"/>
              </a:rPr>
              <a:t> </a:t>
            </a:r>
            <a:r>
              <a:rPr lang="en-US" err="1">
                <a:ea typeface="Calibri"/>
                <a:cs typeface="Calibri"/>
              </a:rPr>
              <a:t>usuario</a:t>
            </a:r>
            <a:r>
              <a:rPr lang="en-US">
                <a:ea typeface="Calibri"/>
                <a:cs typeface="Calibri"/>
              </a:rPr>
              <a:t>. </a:t>
            </a:r>
            <a:endParaRPr lang="en-US"/>
          </a:p>
          <a:p>
            <a:endParaRPr lang="en-US">
              <a:ea typeface="Calibri"/>
              <a:cs typeface="Calibri"/>
            </a:endParaRPr>
          </a:p>
          <a:p>
            <a:r>
              <a:rPr lang="en-US">
                <a:ea typeface="Calibri"/>
                <a:cs typeface="Calibri"/>
              </a:rPr>
              <a:t>Esto lo </a:t>
            </a:r>
            <a:r>
              <a:rPr lang="en-US" err="1">
                <a:ea typeface="Calibri"/>
                <a:cs typeface="Calibri"/>
              </a:rPr>
              <a:t>conseguimos</a:t>
            </a:r>
            <a:r>
              <a:rPr lang="en-US">
                <a:ea typeface="Calibri"/>
                <a:cs typeface="Calibri"/>
              </a:rPr>
              <a:t> con </a:t>
            </a:r>
            <a:r>
              <a:rPr lang="en-US" err="1">
                <a:ea typeface="Calibri"/>
                <a:cs typeface="Calibri"/>
              </a:rPr>
              <a:t>una</a:t>
            </a:r>
            <a:r>
              <a:rPr lang="en-US">
                <a:ea typeface="Calibri"/>
                <a:cs typeface="Calibri"/>
              </a:rPr>
              <a:t> poster de </a:t>
            </a:r>
            <a:r>
              <a:rPr lang="en-US" err="1">
                <a:ea typeface="Calibri"/>
                <a:cs typeface="Calibri"/>
              </a:rPr>
              <a:t>información</a:t>
            </a:r>
            <a:r>
              <a:rPr lang="en-US">
                <a:ea typeface="Calibri"/>
                <a:cs typeface="Calibri"/>
              </a:rPr>
              <a:t> </a:t>
            </a:r>
            <a:r>
              <a:rPr lang="en-US" err="1">
                <a:ea typeface="Calibri"/>
                <a:cs typeface="Calibri"/>
              </a:rPr>
              <a:t>convencional</a:t>
            </a:r>
            <a:r>
              <a:rPr lang="en-US">
                <a:ea typeface="Calibri"/>
                <a:cs typeface="Calibri"/>
              </a:rPr>
              <a:t> </a:t>
            </a:r>
            <a:r>
              <a:rPr lang="en-US" err="1">
                <a:ea typeface="Calibri"/>
                <a:cs typeface="Calibri"/>
              </a:rPr>
              <a:t>que</a:t>
            </a:r>
            <a:r>
              <a:rPr lang="en-US">
                <a:ea typeface="Calibri"/>
                <a:cs typeface="Calibri"/>
              </a:rPr>
              <a:t> </a:t>
            </a:r>
            <a:r>
              <a:rPr lang="en-US" err="1">
                <a:ea typeface="Calibri"/>
                <a:cs typeface="Calibri"/>
              </a:rPr>
              <a:t>combina</a:t>
            </a:r>
            <a:r>
              <a:rPr lang="en-US">
                <a:ea typeface="Calibri"/>
                <a:cs typeface="Calibri"/>
              </a:rPr>
              <a:t> la </a:t>
            </a:r>
            <a:r>
              <a:rPr lang="en-US" err="1">
                <a:ea typeface="Calibri"/>
                <a:cs typeface="Calibri"/>
              </a:rPr>
              <a:t>pantalla</a:t>
            </a:r>
            <a:r>
              <a:rPr lang="en-US">
                <a:ea typeface="Calibri"/>
                <a:cs typeface="Calibri"/>
              </a:rPr>
              <a:t> vertical con </a:t>
            </a:r>
            <a:r>
              <a:rPr lang="en-US" err="1">
                <a:ea typeface="Calibri"/>
                <a:cs typeface="Calibri"/>
              </a:rPr>
              <a:t>el</a:t>
            </a:r>
            <a:r>
              <a:rPr lang="en-US">
                <a:ea typeface="Calibri"/>
                <a:cs typeface="Calibri"/>
              </a:rPr>
              <a:t> </a:t>
            </a:r>
            <a:r>
              <a:rPr lang="en-US" err="1">
                <a:ea typeface="Calibri"/>
                <a:cs typeface="Calibri"/>
              </a:rPr>
              <a:t>papel</a:t>
            </a:r>
            <a:r>
              <a:rPr lang="en-US">
                <a:ea typeface="Calibri"/>
                <a:cs typeface="Calibri"/>
              </a:rPr>
              <a:t>. Para </a:t>
            </a:r>
            <a:r>
              <a:rPr lang="en-US" err="1">
                <a:ea typeface="Calibri"/>
                <a:cs typeface="Calibri"/>
              </a:rPr>
              <a:t>que</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caso</a:t>
            </a:r>
            <a:r>
              <a:rPr lang="en-US">
                <a:ea typeface="Calibri"/>
                <a:cs typeface="Calibri"/>
              </a:rPr>
              <a:t> de </a:t>
            </a:r>
            <a:r>
              <a:rPr lang="en-US" err="1">
                <a:ea typeface="Calibri"/>
                <a:cs typeface="Calibri"/>
              </a:rPr>
              <a:t>apagón</a:t>
            </a:r>
            <a:r>
              <a:rPr lang="en-US">
                <a:ea typeface="Calibri"/>
                <a:cs typeface="Calibri"/>
              </a:rPr>
              <a:t>, </a:t>
            </a:r>
            <a:r>
              <a:rPr lang="en-US" err="1">
                <a:ea typeface="Calibri"/>
                <a:cs typeface="Calibri"/>
              </a:rPr>
              <a:t>siga</a:t>
            </a:r>
            <a:r>
              <a:rPr lang="en-US">
                <a:ea typeface="Calibri"/>
                <a:cs typeface="Calibri"/>
              </a:rPr>
              <a:t> </a:t>
            </a:r>
            <a:r>
              <a:rPr lang="en-US" err="1">
                <a:ea typeface="Calibri"/>
                <a:cs typeface="Calibri"/>
              </a:rPr>
              <a:t>existiendo</a:t>
            </a:r>
            <a:r>
              <a:rPr lang="en-US">
                <a:ea typeface="Calibri"/>
                <a:cs typeface="Calibri"/>
              </a:rPr>
              <a:t> </a:t>
            </a:r>
            <a:r>
              <a:rPr lang="en-US" err="1">
                <a:ea typeface="Calibri"/>
                <a:cs typeface="Calibri"/>
              </a:rPr>
              <a:t>una</a:t>
            </a:r>
            <a:r>
              <a:rPr lang="en-US">
                <a:ea typeface="Calibri"/>
                <a:cs typeface="Calibri"/>
              </a:rPr>
              <a:t> </a:t>
            </a:r>
            <a:r>
              <a:rPr lang="en-US" err="1">
                <a:ea typeface="Calibri"/>
                <a:cs typeface="Calibri"/>
              </a:rPr>
              <a:t>información</a:t>
            </a:r>
            <a:r>
              <a:rPr lang="en-US">
                <a:ea typeface="Calibri"/>
                <a:cs typeface="Calibri"/>
              </a:rPr>
              <a:t> </a:t>
            </a:r>
            <a:r>
              <a:rPr lang="en-US" err="1">
                <a:ea typeface="Calibri"/>
                <a:cs typeface="Calibri"/>
              </a:rPr>
              <a:t>básica</a:t>
            </a:r>
            <a:r>
              <a:rPr lang="en-US">
                <a:ea typeface="Calibri"/>
                <a:cs typeface="Calibri"/>
              </a:rPr>
              <a:t>. </a:t>
            </a:r>
          </a:p>
          <a:p>
            <a:endParaRPr lang="en-US">
              <a:ea typeface="Calibri"/>
              <a:cs typeface="Calibri"/>
            </a:endParaRPr>
          </a:p>
          <a:p>
            <a:r>
              <a:rPr lang="en-US">
                <a:ea typeface="Calibri"/>
                <a:cs typeface="Calibri"/>
              </a:rPr>
              <a:t>Un bus icon </a:t>
            </a:r>
            <a:r>
              <a:rPr lang="en-US" err="1">
                <a:ea typeface="Calibri"/>
                <a:cs typeface="Calibri"/>
              </a:rPr>
              <a:t>que</a:t>
            </a:r>
            <a:r>
              <a:rPr lang="en-US">
                <a:ea typeface="Calibri"/>
                <a:cs typeface="Calibri"/>
              </a:rPr>
              <a:t> </a:t>
            </a:r>
            <a:r>
              <a:rPr lang="en-US" err="1">
                <a:ea typeface="Calibri"/>
                <a:cs typeface="Calibri"/>
              </a:rPr>
              <a:t>va</a:t>
            </a:r>
            <a:r>
              <a:rPr lang="en-US">
                <a:ea typeface="Calibri"/>
                <a:cs typeface="Calibri"/>
              </a:rPr>
              <a:t> a </a:t>
            </a:r>
            <a:r>
              <a:rPr lang="en-US" err="1">
                <a:ea typeface="Calibri"/>
                <a:cs typeface="Calibri"/>
              </a:rPr>
              <a:t>determinar</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dónde</a:t>
            </a:r>
            <a:r>
              <a:rPr lang="en-US">
                <a:ea typeface="Calibri"/>
                <a:cs typeface="Calibri"/>
              </a:rPr>
              <a:t> </a:t>
            </a:r>
            <a:r>
              <a:rPr lang="en-US" err="1">
                <a:ea typeface="Calibri"/>
                <a:cs typeface="Calibri"/>
              </a:rPr>
              <a:t>está</a:t>
            </a:r>
            <a:r>
              <a:rPr lang="en-US">
                <a:ea typeface="Calibri"/>
                <a:cs typeface="Calibri"/>
              </a:rPr>
              <a:t> y </a:t>
            </a:r>
            <a:r>
              <a:rPr lang="en-US" err="1">
                <a:ea typeface="Calibri"/>
                <a:cs typeface="Calibri"/>
              </a:rPr>
              <a:t>en</a:t>
            </a:r>
            <a:r>
              <a:rPr lang="en-US">
                <a:ea typeface="Calibri"/>
                <a:cs typeface="Calibri"/>
              </a:rPr>
              <a:t> </a:t>
            </a:r>
            <a:r>
              <a:rPr lang="en-US" err="1">
                <a:ea typeface="Calibri"/>
                <a:cs typeface="Calibri"/>
              </a:rPr>
              <a:t>qué</a:t>
            </a:r>
            <a:r>
              <a:rPr lang="en-US">
                <a:ea typeface="Calibri"/>
                <a:cs typeface="Calibri"/>
              </a:rPr>
              <a:t> </a:t>
            </a:r>
            <a:r>
              <a:rPr lang="en-US" err="1">
                <a:ea typeface="Calibri"/>
                <a:cs typeface="Calibri"/>
              </a:rPr>
              <a:t>estado</a:t>
            </a:r>
            <a:r>
              <a:rPr lang="en-US">
                <a:ea typeface="Calibri"/>
                <a:cs typeface="Calibri"/>
              </a:rPr>
              <a:t> </a:t>
            </a:r>
            <a:r>
              <a:rPr lang="en-US" err="1">
                <a:ea typeface="Calibri"/>
                <a:cs typeface="Calibri"/>
              </a:rPr>
              <a:t>está</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tráfico</a:t>
            </a:r>
            <a:r>
              <a:rPr lang="en-US">
                <a:ea typeface="Calibri"/>
                <a:cs typeface="Calibri"/>
              </a:rPr>
              <a:t>. </a:t>
            </a:r>
            <a:r>
              <a:rPr lang="en-US" err="1">
                <a:ea typeface="Calibri"/>
                <a:cs typeface="Calibri"/>
              </a:rPr>
              <a:t>Siguiendo</a:t>
            </a:r>
            <a:r>
              <a:rPr lang="en-US">
                <a:ea typeface="Calibri"/>
                <a:cs typeface="Calibri"/>
              </a:rPr>
              <a:t> un </a:t>
            </a:r>
            <a:r>
              <a:rPr lang="en-US" err="1">
                <a:ea typeface="Calibri"/>
                <a:cs typeface="Calibri"/>
              </a:rPr>
              <a:t>esquema</a:t>
            </a:r>
            <a:r>
              <a:rPr lang="en-US">
                <a:ea typeface="Calibri"/>
                <a:cs typeface="Calibri"/>
              </a:rPr>
              <a:t> de </a:t>
            </a:r>
            <a:r>
              <a:rPr lang="en-US" err="1">
                <a:ea typeface="Calibri"/>
                <a:cs typeface="Calibri"/>
              </a:rPr>
              <a:t>colores</a:t>
            </a:r>
            <a:r>
              <a:rPr lang="en-US">
                <a:ea typeface="Calibri"/>
                <a:cs typeface="Calibri"/>
              </a:rPr>
              <a:t> </a:t>
            </a:r>
            <a:r>
              <a:rPr lang="en-US" err="1">
                <a:ea typeface="Calibri"/>
                <a:cs typeface="Calibri"/>
              </a:rPr>
              <a:t>apto</a:t>
            </a:r>
            <a:r>
              <a:rPr lang="en-US">
                <a:ea typeface="Calibri"/>
                <a:cs typeface="Calibri"/>
              </a:rPr>
              <a:t> para </a:t>
            </a:r>
            <a:r>
              <a:rPr lang="en-US" err="1">
                <a:ea typeface="Calibri"/>
                <a:cs typeface="Calibri"/>
              </a:rPr>
              <a:t>daltónicos</a:t>
            </a:r>
            <a:r>
              <a:rPr lang="en-US">
                <a:ea typeface="Calibri"/>
                <a:cs typeface="Calibri"/>
              </a:rPr>
              <a:t>. Y </a:t>
            </a:r>
            <a:r>
              <a:rPr lang="en-US" err="1">
                <a:ea typeface="Calibri"/>
                <a:cs typeface="Calibri"/>
              </a:rPr>
              <a:t>una</a:t>
            </a:r>
            <a:r>
              <a:rPr lang="en-US">
                <a:ea typeface="Calibri"/>
                <a:cs typeface="Calibri"/>
              </a:rPr>
              <a:t> </a:t>
            </a:r>
            <a:r>
              <a:rPr lang="en-US" err="1">
                <a:ea typeface="Calibri"/>
                <a:cs typeface="Calibri"/>
              </a:rPr>
              <a:t>pantalla</a:t>
            </a:r>
            <a:r>
              <a:rPr lang="en-US">
                <a:ea typeface="Calibri"/>
                <a:cs typeface="Calibri"/>
              </a:rPr>
              <a:t> vertical </a:t>
            </a:r>
            <a:r>
              <a:rPr lang="en-US" err="1">
                <a:ea typeface="Calibri"/>
                <a:cs typeface="Calibri"/>
              </a:rPr>
              <a:t>que</a:t>
            </a:r>
            <a:r>
              <a:rPr lang="en-US">
                <a:ea typeface="Calibri"/>
                <a:cs typeface="Calibri"/>
              </a:rPr>
              <a:t> también </a:t>
            </a:r>
            <a:r>
              <a:rPr lang="en-US" err="1">
                <a:ea typeface="Calibri"/>
                <a:cs typeface="Calibri"/>
              </a:rPr>
              <a:t>muestra</a:t>
            </a:r>
            <a:r>
              <a:rPr lang="en-US">
                <a:ea typeface="Calibri"/>
                <a:cs typeface="Calibri"/>
              </a:rPr>
              <a:t> </a:t>
            </a:r>
            <a:r>
              <a:rPr lang="en-US" err="1">
                <a:ea typeface="Calibri"/>
                <a:cs typeface="Calibri"/>
              </a:rPr>
              <a:t>mensajes</a:t>
            </a:r>
            <a:r>
              <a:rPr lang="en-US">
                <a:ea typeface="Calibri"/>
                <a:cs typeface="Calibri"/>
              </a:rPr>
              <a:t> o </a:t>
            </a:r>
            <a:r>
              <a:rPr lang="en-US" err="1">
                <a:ea typeface="Calibri"/>
                <a:cs typeface="Calibri"/>
              </a:rPr>
              <a:t>adertencias</a:t>
            </a:r>
            <a:r>
              <a:rPr lang="en-US">
                <a:ea typeface="Calibri"/>
                <a:cs typeface="Calibri"/>
              </a:rPr>
              <a:t> </a:t>
            </a:r>
            <a:r>
              <a:rPr lang="en-US" err="1">
                <a:ea typeface="Calibri"/>
                <a:cs typeface="Calibri"/>
              </a:rPr>
              <a:t>respecto</a:t>
            </a:r>
            <a:r>
              <a:rPr lang="en-US">
                <a:ea typeface="Calibri"/>
                <a:cs typeface="Calibri"/>
              </a:rPr>
              <a:t> a </a:t>
            </a:r>
            <a:r>
              <a:rPr lang="en-US" err="1">
                <a:ea typeface="Calibri"/>
                <a:cs typeface="Calibri"/>
              </a:rPr>
              <a:t>averías</a:t>
            </a:r>
            <a:r>
              <a:rPr lang="en-US">
                <a:ea typeface="Calibri"/>
                <a:cs typeface="Calibri"/>
              </a:rPr>
              <a:t>, </a:t>
            </a:r>
            <a:r>
              <a:rPr lang="en-US" err="1">
                <a:ea typeface="Calibri"/>
                <a:cs typeface="Calibri"/>
              </a:rPr>
              <a:t>accidentes</a:t>
            </a:r>
            <a:r>
              <a:rPr lang="en-US">
                <a:ea typeface="Calibri"/>
                <a:cs typeface="Calibri"/>
              </a:rPr>
              <a:t>, etc.</a:t>
            </a:r>
          </a:p>
          <a:p>
            <a:endParaRPr lang="en-US">
              <a:ea typeface="Calibri"/>
              <a:cs typeface="Calibri"/>
            </a:endParaRPr>
          </a:p>
          <a:p>
            <a:r>
              <a:rPr lang="en-US">
                <a:ea typeface="Calibri"/>
                <a:cs typeface="Calibri"/>
              </a:rPr>
              <a:t>Todo </a:t>
            </a:r>
            <a:r>
              <a:rPr lang="en-US" err="1">
                <a:ea typeface="Calibri"/>
                <a:cs typeface="Calibri"/>
              </a:rPr>
              <a:t>nuestro</a:t>
            </a:r>
            <a:r>
              <a:rPr lang="en-US">
                <a:ea typeface="Calibri"/>
                <a:cs typeface="Calibri"/>
              </a:rPr>
              <a:t> </a:t>
            </a:r>
            <a:r>
              <a:rPr lang="en-US" err="1">
                <a:ea typeface="Calibri"/>
                <a:cs typeface="Calibri"/>
              </a:rPr>
              <a:t>producto</a:t>
            </a:r>
            <a:r>
              <a:rPr lang="en-US">
                <a:ea typeface="Calibri"/>
                <a:cs typeface="Calibri"/>
              </a:rPr>
              <a:t> es universal, </a:t>
            </a:r>
            <a:r>
              <a:rPr lang="en-US" err="1">
                <a:ea typeface="Calibri"/>
                <a:cs typeface="Calibri"/>
              </a:rPr>
              <a:t>accesible</a:t>
            </a:r>
            <a:r>
              <a:rPr lang="en-US">
                <a:ea typeface="Calibri"/>
                <a:cs typeface="Calibri"/>
              </a:rPr>
              <a:t> e </a:t>
            </a:r>
            <a:r>
              <a:rPr lang="en-US" err="1">
                <a:ea typeface="Calibri"/>
                <a:cs typeface="Calibri"/>
              </a:rPr>
              <a:t>intuitivo</a:t>
            </a:r>
            <a:r>
              <a:rPr lang="en-US">
                <a:ea typeface="Calibri"/>
                <a:cs typeface="Calibri"/>
              </a:rPr>
              <a:t>.</a:t>
            </a:r>
          </a:p>
          <a:p>
            <a:endParaRPr lang="en-US">
              <a:ea typeface="Calibri"/>
              <a:cs typeface="Calibri"/>
            </a:endParaRPr>
          </a:p>
          <a:p>
            <a:r>
              <a:rPr lang="en-US">
                <a:ea typeface="Calibri"/>
                <a:cs typeface="Calibri"/>
              </a:rPr>
              <a:t>Eases</a:t>
            </a:r>
            <a:r>
              <a:rPr lang="en-US"/>
              <a:t> feelings of uncertainty by providing accurate and up-to-date information.</a:t>
            </a:r>
            <a:endParaRPr lang="en-US">
              <a:ea typeface="Calibri"/>
              <a:cs typeface="Calibri"/>
            </a:endParaRPr>
          </a:p>
          <a:p>
            <a:endParaRPr lang="en-US">
              <a:ea typeface="Calibri"/>
              <a:cs typeface="Calibri"/>
            </a:endParaRPr>
          </a:p>
          <a:p>
            <a:r>
              <a:rPr lang="en-US"/>
              <a:t>[If they knew the position of the bus, they could plan and take informed decisions/choose a different public mean of transport]</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342B60E-6F72-C3AD-0378-0E8825E76EA8}"/>
              </a:ext>
            </a:extLst>
          </p:cNvPr>
          <p:cNvSpPr>
            <a:spLocks noGrp="1"/>
          </p:cNvSpPr>
          <p:nvPr>
            <p:ph type="sldNum" sz="quarter" idx="5"/>
          </p:nvPr>
        </p:nvSpPr>
        <p:spPr/>
        <p:txBody>
          <a:bodyPr/>
          <a:lstStyle/>
          <a:p>
            <a:fld id="{1869EA4B-FDF3-4C74-8961-01CAD5D8DB5A}" type="slidenum">
              <a:rPr lang="en-US"/>
              <a:t>7</a:t>
            </a:fld>
            <a:endParaRPr lang="en-US"/>
          </a:p>
        </p:txBody>
      </p:sp>
    </p:spTree>
    <p:extLst>
      <p:ext uri="{BB962C8B-B14F-4D97-AF65-F5344CB8AC3E}">
        <p14:creationId xmlns:p14="http://schemas.microsoft.com/office/powerpoint/2010/main" val="706345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D847A-A284-04CE-7193-BF2B45572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B51DB-3720-5428-A337-51365654F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B709E-BE5C-AD8C-E17D-C024354CEE07}"/>
              </a:ext>
            </a:extLst>
          </p:cNvPr>
          <p:cNvSpPr>
            <a:spLocks noGrp="1"/>
          </p:cNvSpPr>
          <p:nvPr>
            <p:ph type="body" idx="1"/>
          </p:nvPr>
        </p:nvSpPr>
        <p:spPr/>
        <p:txBody>
          <a:bodyPr/>
          <a:lstStyle/>
          <a:p>
            <a:r>
              <a:rPr lang="en-US">
                <a:ea typeface="Calibri" panose="020F0502020204030204"/>
                <a:cs typeface="Calibri" panose="020F0502020204030204"/>
              </a:rPr>
              <a:t>For more inclusion, we also have a voice reading button for blind people.</a:t>
            </a:r>
          </a:p>
          <a:p>
            <a:endParaRPr lang="en-US">
              <a:ea typeface="Calibri" panose="020F0502020204030204"/>
              <a:cs typeface="Calibri" panose="020F0502020204030204"/>
            </a:endParaRPr>
          </a:p>
          <a:p>
            <a:r>
              <a:rPr lang="en-US" err="1">
                <a:ea typeface="Calibri" panose="020F0502020204030204"/>
                <a:cs typeface="Calibri" panose="020F0502020204030204"/>
              </a:rPr>
              <a:t>UBIbus</a:t>
            </a:r>
            <a:r>
              <a:rPr lang="en-US">
                <a:ea typeface="Calibri" panose="020F0502020204030204"/>
                <a:cs typeface="Calibri" panose="020F0502020204030204"/>
              </a:rPr>
              <a:t> provides innovation while keeping universal access, reaching every user.</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a:p>
            <a:r>
              <a:rPr lang="en-US">
                <a:ea typeface="Calibri" panose="020F0502020204030204"/>
                <a:cs typeface="Calibri" panose="020F0502020204030204"/>
              </a:rPr>
              <a:t>---------------------------------------------------------------------------------------------------------------------------------------------------------</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p>
          <a:p>
            <a:r>
              <a:rPr lang="en-US"/>
              <a:t>The core solution provided by the project is to reduce the user’s pain generated by the sparse and unreliable time information provided by the bus stops. This pain results in frustration, low confidence on the bus and, in the worst cases, a decrease in bus usage. </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7E11980C-1417-DBCF-1B84-F9C945EDB4F7}"/>
              </a:ext>
            </a:extLst>
          </p:cNvPr>
          <p:cNvSpPr>
            <a:spLocks noGrp="1"/>
          </p:cNvSpPr>
          <p:nvPr>
            <p:ph type="sldNum" sz="quarter" idx="5"/>
          </p:nvPr>
        </p:nvSpPr>
        <p:spPr/>
        <p:txBody>
          <a:bodyPr/>
          <a:lstStyle/>
          <a:p>
            <a:fld id="{1869EA4B-FDF3-4C74-8961-01CAD5D8DB5A}" type="slidenum">
              <a:rPr lang="en-US"/>
              <a:t>8</a:t>
            </a:fld>
            <a:endParaRPr lang="en-US"/>
          </a:p>
        </p:txBody>
      </p:sp>
    </p:spTree>
    <p:extLst>
      <p:ext uri="{BB962C8B-B14F-4D97-AF65-F5344CB8AC3E}">
        <p14:creationId xmlns:p14="http://schemas.microsoft.com/office/powerpoint/2010/main" val="2300574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30C9A-918D-17DA-3A2E-9C0428C72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00A5B-CEE3-801C-5C1F-E9117BAE9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D7A525-13AB-21C5-0CA4-F70CBE2635C6}"/>
              </a:ext>
            </a:extLst>
          </p:cNvPr>
          <p:cNvSpPr>
            <a:spLocks noGrp="1"/>
          </p:cNvSpPr>
          <p:nvPr>
            <p:ph type="body" idx="1"/>
          </p:nvPr>
        </p:nvSpPr>
        <p:spPr/>
        <p:txBody>
          <a:bodyPr/>
          <a:lstStyle/>
          <a:p>
            <a:r>
              <a:rPr lang="en-US">
                <a:ea typeface="Calibri"/>
                <a:cs typeface="Calibri"/>
              </a:rPr>
              <a:t>10s</a:t>
            </a:r>
          </a:p>
          <a:p>
            <a:endParaRPr lang="en-US">
              <a:ea typeface="Calibri"/>
              <a:cs typeface="Calibri"/>
            </a:endParaRPr>
          </a:p>
          <a:p>
            <a:r>
              <a:rPr lang="en-US">
                <a:ea typeface="Calibri"/>
                <a:cs typeface="Calibri"/>
              </a:rPr>
              <a:t>We have studied the market, and The main competitor of </a:t>
            </a:r>
            <a:r>
              <a:rPr lang="en-US" err="1">
                <a:ea typeface="Calibri"/>
                <a:cs typeface="Calibri"/>
              </a:rPr>
              <a:t>Ubibus</a:t>
            </a:r>
            <a:r>
              <a:rPr lang="en-US">
                <a:ea typeface="Calibri"/>
                <a:cs typeface="Calibri"/>
              </a:rPr>
              <a:t> is the time-panel, which forms part of the bus stop itself, like UBIBUS wants to. But this system has communication deficiencies, as we have seen.</a:t>
            </a:r>
            <a:endParaRPr lang="en-US"/>
          </a:p>
          <a:p>
            <a:endParaRPr lang="en-US">
              <a:ea typeface="Calibri"/>
              <a:cs typeface="Calibri"/>
            </a:endParaRPr>
          </a:p>
          <a:p>
            <a:r>
              <a:rPr lang="en-US">
                <a:ea typeface="Calibri"/>
                <a:cs typeface="Calibri"/>
              </a:rPr>
              <a:t>--------------------------------------------------------------------------------------------------------------------------------------------------------------------------------------</a:t>
            </a:r>
          </a:p>
          <a:p>
            <a:r>
              <a:rPr lang="en-US">
                <a:ea typeface="Calibri"/>
                <a:cs typeface="Calibri"/>
              </a:rPr>
              <a:t>El real </a:t>
            </a:r>
            <a:r>
              <a:rPr lang="en-US" err="1">
                <a:ea typeface="Calibri"/>
                <a:cs typeface="Calibri"/>
              </a:rPr>
              <a:t>competidor</a:t>
            </a:r>
            <a:r>
              <a:rPr lang="en-US">
                <a:ea typeface="Calibri"/>
                <a:cs typeface="Calibri"/>
              </a:rPr>
              <a:t> de </a:t>
            </a:r>
            <a:r>
              <a:rPr lang="en-US" err="1">
                <a:ea typeface="Calibri"/>
                <a:cs typeface="Calibri"/>
              </a:rPr>
              <a:t>ubibus</a:t>
            </a:r>
            <a:r>
              <a:rPr lang="en-US">
                <a:ea typeface="Calibri"/>
                <a:cs typeface="Calibri"/>
              </a:rPr>
              <a:t> son </a:t>
            </a:r>
            <a:r>
              <a:rPr lang="en-US" err="1">
                <a:ea typeface="Calibri"/>
                <a:cs typeface="Calibri"/>
              </a:rPr>
              <a:t>los</a:t>
            </a:r>
            <a:r>
              <a:rPr lang="en-US">
                <a:ea typeface="Calibri"/>
                <a:cs typeface="Calibri"/>
              </a:rPr>
              <a:t> </a:t>
            </a:r>
            <a:r>
              <a:rPr lang="en-US" err="1">
                <a:ea typeface="Calibri"/>
                <a:cs typeface="Calibri"/>
              </a:rPr>
              <a:t>paneles</a:t>
            </a:r>
            <a:r>
              <a:rPr lang="en-US">
                <a:ea typeface="Calibri"/>
                <a:cs typeface="Calibri"/>
              </a:rPr>
              <a:t> de </a:t>
            </a:r>
            <a:r>
              <a:rPr lang="en-US" err="1">
                <a:ea typeface="Calibri"/>
                <a:cs typeface="Calibri"/>
              </a:rPr>
              <a:t>tiempo</a:t>
            </a:r>
            <a:r>
              <a:rPr lang="en-US">
                <a:ea typeface="Calibri"/>
                <a:cs typeface="Calibri"/>
              </a:rPr>
              <a:t> de las </a:t>
            </a:r>
            <a:r>
              <a:rPr lang="en-US" err="1">
                <a:ea typeface="Calibri"/>
                <a:cs typeface="Calibri"/>
              </a:rPr>
              <a:t>paradas</a:t>
            </a:r>
            <a:r>
              <a:rPr lang="en-US">
                <a:ea typeface="Calibri"/>
                <a:cs typeface="Calibri"/>
              </a:rPr>
              <a:t> de buses, </a:t>
            </a:r>
            <a:r>
              <a:rPr lang="en-US" err="1">
                <a:ea typeface="Calibri"/>
                <a:cs typeface="Calibri"/>
              </a:rPr>
              <a:t>existen</a:t>
            </a:r>
            <a:r>
              <a:rPr lang="en-US">
                <a:ea typeface="Calibri"/>
                <a:cs typeface="Calibri"/>
              </a:rPr>
              <a:t> </a:t>
            </a:r>
            <a:r>
              <a:rPr lang="en-US" err="1">
                <a:ea typeface="Calibri"/>
                <a:cs typeface="Calibri"/>
              </a:rPr>
              <a:t>otras</a:t>
            </a:r>
            <a:r>
              <a:rPr lang="en-US">
                <a:ea typeface="Calibri"/>
                <a:cs typeface="Calibri"/>
              </a:rPr>
              <a:t> apps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mercado </a:t>
            </a:r>
            <a:r>
              <a:rPr lang="en-US" err="1">
                <a:ea typeface="Calibri"/>
                <a:cs typeface="Calibri"/>
              </a:rPr>
              <a:t>que</a:t>
            </a:r>
            <a:r>
              <a:rPr lang="en-US">
                <a:ea typeface="Calibri"/>
                <a:cs typeface="Calibri"/>
              </a:rPr>
              <a:t> </a:t>
            </a:r>
            <a:r>
              <a:rPr lang="en-US" err="1">
                <a:ea typeface="Calibri"/>
                <a:cs typeface="Calibri"/>
              </a:rPr>
              <a:t>tratan</a:t>
            </a:r>
            <a:r>
              <a:rPr lang="en-US">
                <a:ea typeface="Calibri"/>
                <a:cs typeface="Calibri"/>
              </a:rPr>
              <a:t> de </a:t>
            </a:r>
            <a:r>
              <a:rPr lang="en-US" err="1">
                <a:ea typeface="Calibri"/>
                <a:cs typeface="Calibri"/>
              </a:rPr>
              <a:t>mejorar</a:t>
            </a:r>
            <a:r>
              <a:rPr lang="en-US">
                <a:ea typeface="Calibri"/>
                <a:cs typeface="Calibri"/>
              </a:rPr>
              <a:t> </a:t>
            </a:r>
            <a:r>
              <a:rPr lang="en-US" err="1">
                <a:ea typeface="Calibri"/>
                <a:cs typeface="Calibri"/>
              </a:rPr>
              <a:t>estas</a:t>
            </a:r>
            <a:r>
              <a:rPr lang="en-US">
                <a:ea typeface="Calibri"/>
                <a:cs typeface="Calibri"/>
              </a:rPr>
              <a:t> </a:t>
            </a:r>
            <a:r>
              <a:rPr lang="en-US" err="1">
                <a:ea typeface="Calibri"/>
                <a:cs typeface="Calibri"/>
              </a:rPr>
              <a:t>estimaciones</a:t>
            </a:r>
            <a:r>
              <a:rPr lang="en-US">
                <a:ea typeface="Calibri"/>
                <a:cs typeface="Calibri"/>
              </a:rPr>
              <a:t> </a:t>
            </a:r>
            <a:r>
              <a:rPr lang="en-US" err="1">
                <a:ea typeface="Calibri"/>
                <a:cs typeface="Calibri"/>
              </a:rPr>
              <a:t>pero</a:t>
            </a:r>
            <a:r>
              <a:rPr lang="en-US">
                <a:ea typeface="Calibri"/>
                <a:cs typeface="Calibri"/>
              </a:rPr>
              <a:t> </a:t>
            </a:r>
            <a:r>
              <a:rPr lang="en-US" err="1">
                <a:ea typeface="Calibri"/>
                <a:cs typeface="Calibri"/>
              </a:rPr>
              <a:t>todas</a:t>
            </a:r>
            <a:r>
              <a:rPr lang="en-US">
                <a:ea typeface="Calibri"/>
                <a:cs typeface="Calibri"/>
              </a:rPr>
              <a:t> se </a:t>
            </a:r>
            <a:r>
              <a:rPr lang="en-US" err="1">
                <a:ea typeface="Calibri"/>
                <a:cs typeface="Calibri"/>
              </a:rPr>
              <a:t>enfocan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los</a:t>
            </a:r>
            <a:r>
              <a:rPr lang="en-US">
                <a:ea typeface="Calibri"/>
                <a:cs typeface="Calibri"/>
              </a:rPr>
              <a:t> </a:t>
            </a:r>
            <a:r>
              <a:rPr lang="en-US" err="1">
                <a:ea typeface="Calibri"/>
                <a:cs typeface="Calibri"/>
              </a:rPr>
              <a:t>tiempos</a:t>
            </a:r>
            <a:r>
              <a:rPr lang="en-US">
                <a:ea typeface="Calibri"/>
                <a:cs typeface="Calibri"/>
              </a:rPr>
              <a:t> de </a:t>
            </a:r>
            <a:r>
              <a:rPr lang="en-US" err="1">
                <a:ea typeface="Calibri"/>
                <a:cs typeface="Calibri"/>
              </a:rPr>
              <a:t>llegada</a:t>
            </a:r>
            <a:r>
              <a:rPr lang="en-US">
                <a:ea typeface="Calibri"/>
                <a:cs typeface="Calibri"/>
              </a:rPr>
              <a:t>. Que no es tan </a:t>
            </a:r>
            <a:r>
              <a:rPr lang="en-US" err="1">
                <a:ea typeface="Calibri"/>
                <a:cs typeface="Calibri"/>
              </a:rPr>
              <a:t>satisfactorio</a:t>
            </a:r>
            <a:r>
              <a:rPr lang="en-US">
                <a:ea typeface="Calibri"/>
                <a:cs typeface="Calibri"/>
              </a:rPr>
              <a:t> </a:t>
            </a:r>
            <a:r>
              <a:rPr lang="en-US" err="1">
                <a:ea typeface="Calibri"/>
                <a:cs typeface="Calibri"/>
              </a:rPr>
              <a:t>como</a:t>
            </a:r>
            <a:r>
              <a:rPr lang="en-US">
                <a:ea typeface="Calibri"/>
                <a:cs typeface="Calibri"/>
              </a:rPr>
              <a:t> </a:t>
            </a:r>
            <a:r>
              <a:rPr lang="en-US" err="1">
                <a:ea typeface="Calibri"/>
                <a:cs typeface="Calibri"/>
              </a:rPr>
              <a:t>ver</a:t>
            </a:r>
            <a:r>
              <a:rPr lang="en-US">
                <a:ea typeface="Calibri"/>
                <a:cs typeface="Calibri"/>
              </a:rPr>
              <a:t> la </a:t>
            </a:r>
            <a:r>
              <a:rPr lang="en-US" err="1">
                <a:ea typeface="Calibri"/>
                <a:cs typeface="Calibri"/>
              </a:rPr>
              <a:t>posición</a:t>
            </a:r>
            <a:r>
              <a:rPr lang="en-US">
                <a:ea typeface="Calibri"/>
                <a:cs typeface="Calibri"/>
              </a:rPr>
              <a:t> del bus. (</a:t>
            </a:r>
            <a:r>
              <a:rPr lang="en-US" err="1">
                <a:ea typeface="Calibri"/>
                <a:cs typeface="Calibri"/>
              </a:rPr>
              <a:t>emplean</a:t>
            </a:r>
            <a:r>
              <a:rPr lang="en-US">
                <a:ea typeface="Calibri"/>
                <a:cs typeface="Calibri"/>
              </a:rPr>
              <a:t> la </a:t>
            </a:r>
            <a:r>
              <a:rPr lang="en-US" err="1">
                <a:ea typeface="Calibri"/>
                <a:cs typeface="Calibri"/>
              </a:rPr>
              <a:t>misma</a:t>
            </a:r>
            <a:r>
              <a:rPr lang="en-US">
                <a:ea typeface="Calibri"/>
                <a:cs typeface="Calibri"/>
              </a:rPr>
              <a:t> </a:t>
            </a:r>
            <a:r>
              <a:rPr lang="en-US" err="1">
                <a:ea typeface="Calibri"/>
                <a:cs typeface="Calibri"/>
              </a:rPr>
              <a:t>metodología</a:t>
            </a:r>
            <a:r>
              <a:rPr lang="en-US">
                <a:ea typeface="Calibri"/>
                <a:cs typeface="Calibri"/>
              </a:rPr>
              <a:t>)</a:t>
            </a:r>
          </a:p>
          <a:p>
            <a:r>
              <a:rPr lang="en-US" err="1">
                <a:ea typeface="Calibri"/>
                <a:cs typeface="Calibri"/>
              </a:rPr>
              <a:t>Ubibus</a:t>
            </a:r>
            <a:r>
              <a:rPr lang="en-US">
                <a:ea typeface="Calibri"/>
                <a:cs typeface="Calibri"/>
              </a:rPr>
              <a:t> no es </a:t>
            </a:r>
            <a:r>
              <a:rPr lang="en-US" err="1">
                <a:ea typeface="Calibri"/>
                <a:cs typeface="Calibri"/>
              </a:rPr>
              <a:t>una</a:t>
            </a:r>
            <a:r>
              <a:rPr lang="en-US">
                <a:ea typeface="Calibri"/>
                <a:cs typeface="Calibri"/>
              </a:rPr>
              <a:t> app </a:t>
            </a:r>
            <a:r>
              <a:rPr lang="en-US" err="1">
                <a:ea typeface="Calibri"/>
                <a:cs typeface="Calibri"/>
              </a:rPr>
              <a:t>más</a:t>
            </a:r>
            <a:r>
              <a:rPr lang="en-US">
                <a:ea typeface="Calibri"/>
                <a:cs typeface="Calibri"/>
              </a:rPr>
              <a:t> del mercado </a:t>
            </a:r>
            <a:r>
              <a:rPr lang="en-US" err="1">
                <a:ea typeface="Calibri"/>
                <a:cs typeface="Calibri"/>
              </a:rPr>
              <a:t>ni</a:t>
            </a:r>
            <a:r>
              <a:rPr lang="en-US">
                <a:ea typeface="Calibri"/>
                <a:cs typeface="Calibri"/>
              </a:rPr>
              <a:t> </a:t>
            </a:r>
            <a:r>
              <a:rPr lang="en-US" err="1">
                <a:ea typeface="Calibri"/>
                <a:cs typeface="Calibri"/>
              </a:rPr>
              <a:t>sigue</a:t>
            </a:r>
            <a:r>
              <a:rPr lang="en-US">
                <a:ea typeface="Calibri"/>
                <a:cs typeface="Calibri"/>
              </a:rPr>
              <a:t> </a:t>
            </a:r>
            <a:r>
              <a:rPr lang="en-US" err="1">
                <a:ea typeface="Calibri"/>
                <a:cs typeface="Calibri"/>
              </a:rPr>
              <a:t>este</a:t>
            </a:r>
            <a:r>
              <a:rPr lang="en-US">
                <a:ea typeface="Calibri"/>
                <a:cs typeface="Calibri"/>
              </a:rPr>
              <a:t> </a:t>
            </a:r>
            <a:r>
              <a:rPr lang="en-US" err="1">
                <a:ea typeface="Calibri"/>
                <a:cs typeface="Calibri"/>
              </a:rPr>
              <a:t>enfoque</a:t>
            </a:r>
            <a:r>
              <a:rPr lang="en-US">
                <a:ea typeface="Calibri"/>
                <a:cs typeface="Calibri"/>
              </a:rPr>
              <a:t>.</a:t>
            </a:r>
            <a:endParaRPr lang="en-US"/>
          </a:p>
          <a:p>
            <a:r>
              <a:rPr lang="en-US">
                <a:ea typeface="Calibri"/>
                <a:cs typeface="Calibri"/>
              </a:rPr>
              <a:t>Es un </a:t>
            </a:r>
            <a:r>
              <a:rPr lang="en-US" err="1">
                <a:ea typeface="Calibri"/>
                <a:cs typeface="Calibri"/>
              </a:rPr>
              <a:t>producto</a:t>
            </a:r>
            <a:r>
              <a:rPr lang="en-US">
                <a:ea typeface="Calibri"/>
                <a:cs typeface="Calibri"/>
              </a:rPr>
              <a:t> </a:t>
            </a:r>
            <a:r>
              <a:rPr lang="en-US" err="1">
                <a:ea typeface="Calibri"/>
                <a:cs typeface="Calibri"/>
              </a:rPr>
              <a:t>integrado</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transporte</a:t>
            </a:r>
            <a:r>
              <a:rPr lang="en-US">
                <a:ea typeface="Calibri"/>
                <a:cs typeface="Calibri"/>
              </a:rPr>
              <a:t> </a:t>
            </a:r>
            <a:r>
              <a:rPr lang="en-US" err="1">
                <a:ea typeface="Calibri"/>
                <a:cs typeface="Calibri"/>
              </a:rPr>
              <a:t>público</a:t>
            </a:r>
            <a:r>
              <a:rPr lang="en-US">
                <a:ea typeface="Calibri"/>
                <a:cs typeface="Calibri"/>
              </a:rPr>
              <a:t>. Que </a:t>
            </a:r>
            <a:r>
              <a:rPr lang="en-US" err="1">
                <a:ea typeface="Calibri"/>
                <a:cs typeface="Calibri"/>
              </a:rPr>
              <a:t>elimina</a:t>
            </a:r>
            <a:r>
              <a:rPr lang="en-US">
                <a:ea typeface="Calibri"/>
                <a:cs typeface="Calibri"/>
              </a:rPr>
              <a:t> la </a:t>
            </a:r>
            <a:r>
              <a:rPr lang="en-US" err="1">
                <a:ea typeface="Calibri"/>
                <a:cs typeface="Calibri"/>
              </a:rPr>
              <a:t>brecha</a:t>
            </a:r>
            <a:r>
              <a:rPr lang="en-US">
                <a:ea typeface="Calibri"/>
                <a:cs typeface="Calibri"/>
              </a:rPr>
              <a:t> digital, al no </a:t>
            </a:r>
            <a:r>
              <a:rPr lang="en-US" err="1">
                <a:ea typeface="Calibri"/>
                <a:cs typeface="Calibri"/>
              </a:rPr>
              <a:t>necesitar</a:t>
            </a:r>
            <a:r>
              <a:rPr lang="en-US">
                <a:ea typeface="Calibri"/>
                <a:cs typeface="Calibri"/>
              </a:rPr>
              <a:t> smartphone </a:t>
            </a:r>
            <a:r>
              <a:rPr lang="en-US" err="1">
                <a:ea typeface="Calibri"/>
                <a:cs typeface="Calibri"/>
              </a:rPr>
              <a:t>ni</a:t>
            </a:r>
            <a:r>
              <a:rPr lang="en-US">
                <a:ea typeface="Calibri"/>
                <a:cs typeface="Calibri"/>
              </a:rPr>
              <a:t> </a:t>
            </a:r>
            <a:r>
              <a:rPr lang="en-US" err="1">
                <a:ea typeface="Calibri"/>
                <a:cs typeface="Calibri"/>
              </a:rPr>
              <a:t>conocimientos</a:t>
            </a:r>
            <a:r>
              <a:rPr lang="en-US">
                <a:ea typeface="Calibri"/>
                <a:cs typeface="Calibri"/>
              </a:rPr>
              <a:t> </a:t>
            </a:r>
            <a:r>
              <a:rPr lang="en-US" err="1">
                <a:ea typeface="Calibri"/>
                <a:cs typeface="Calibri"/>
              </a:rPr>
              <a:t>tecnológicos</a:t>
            </a:r>
            <a:r>
              <a:rPr lang="en-US">
                <a:ea typeface="Calibri"/>
                <a:cs typeface="Calibri"/>
              </a:rPr>
              <a:t>. Es </a:t>
            </a:r>
            <a:r>
              <a:rPr lang="en-US" err="1">
                <a:ea typeface="Calibri"/>
                <a:cs typeface="Calibri"/>
              </a:rPr>
              <a:t>además</a:t>
            </a:r>
            <a:r>
              <a:rPr lang="en-US">
                <a:ea typeface="Calibri"/>
                <a:cs typeface="Calibri"/>
              </a:rPr>
              <a:t> </a:t>
            </a:r>
            <a:r>
              <a:rPr lang="en-US" err="1">
                <a:ea typeface="Calibri"/>
                <a:cs typeface="Calibri"/>
              </a:rPr>
              <a:t>inclusiva</a:t>
            </a:r>
            <a:r>
              <a:rPr lang="en-US">
                <a:ea typeface="Calibri"/>
                <a:cs typeface="Calibri"/>
              </a:rPr>
              <a:t>, con </a:t>
            </a:r>
            <a:r>
              <a:rPr lang="en-US" err="1">
                <a:ea typeface="Calibri"/>
                <a:cs typeface="Calibri"/>
              </a:rPr>
              <a:t>su</a:t>
            </a:r>
            <a:r>
              <a:rPr lang="en-US">
                <a:ea typeface="Calibri"/>
                <a:cs typeface="Calibri"/>
              </a:rPr>
              <a:t> voice reading y </a:t>
            </a:r>
            <a:r>
              <a:rPr lang="en-US" err="1">
                <a:ea typeface="Calibri"/>
                <a:cs typeface="Calibri"/>
              </a:rPr>
              <a:t>su</a:t>
            </a:r>
            <a:r>
              <a:rPr lang="en-US">
                <a:ea typeface="Calibri"/>
                <a:cs typeface="Calibri"/>
              </a:rPr>
              <a:t> color blinded friendly interface. </a:t>
            </a:r>
            <a:r>
              <a:rPr lang="en-US" err="1">
                <a:ea typeface="Calibri"/>
                <a:cs typeface="Calibri"/>
              </a:rPr>
              <a:t>Parte</a:t>
            </a:r>
            <a:r>
              <a:rPr lang="en-US">
                <a:ea typeface="Calibri"/>
                <a:cs typeface="Calibri"/>
              </a:rPr>
              <a:t> del cartel actual, </a:t>
            </a:r>
            <a:r>
              <a:rPr lang="en-US" err="1">
                <a:ea typeface="Calibri"/>
                <a:cs typeface="Calibri"/>
              </a:rPr>
              <a:t>por</a:t>
            </a:r>
            <a:r>
              <a:rPr lang="en-US">
                <a:ea typeface="Calibri"/>
                <a:cs typeface="Calibri"/>
              </a:rPr>
              <a:t> lo </a:t>
            </a:r>
            <a:r>
              <a:rPr lang="en-US" err="1">
                <a:ea typeface="Calibri"/>
                <a:cs typeface="Calibri"/>
              </a:rPr>
              <a:t>que</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comprensión</a:t>
            </a:r>
            <a:r>
              <a:rPr lang="en-US">
                <a:ea typeface="Calibri"/>
                <a:cs typeface="Calibri"/>
              </a:rPr>
              <a:t> es </a:t>
            </a:r>
            <a:r>
              <a:rPr lang="en-US" err="1">
                <a:ea typeface="Calibri"/>
                <a:cs typeface="Calibri"/>
              </a:rPr>
              <a:t>inmediata</a:t>
            </a:r>
            <a:r>
              <a:rPr lang="en-US">
                <a:ea typeface="Calibri"/>
                <a:cs typeface="Calibri"/>
              </a:rPr>
              <a:t>. Y a </a:t>
            </a:r>
            <a:r>
              <a:rPr lang="en-US" err="1">
                <a:ea typeface="Calibri"/>
                <a:cs typeface="Calibri"/>
              </a:rPr>
              <a:t>diferencia</a:t>
            </a:r>
            <a:r>
              <a:rPr lang="en-US">
                <a:ea typeface="Calibri"/>
                <a:cs typeface="Calibri"/>
              </a:rPr>
              <a:t> de TODOS LOS DEMÁS, </a:t>
            </a:r>
            <a:r>
              <a:rPr lang="en-US" err="1">
                <a:ea typeface="Calibri"/>
                <a:cs typeface="Calibri"/>
              </a:rPr>
              <a:t>muestra</a:t>
            </a:r>
            <a:r>
              <a:rPr lang="en-US">
                <a:ea typeface="Calibri"/>
                <a:cs typeface="Calibri"/>
              </a:rPr>
              <a:t> la </a:t>
            </a:r>
            <a:r>
              <a:rPr lang="en-US" err="1">
                <a:ea typeface="Calibri"/>
                <a:cs typeface="Calibri"/>
              </a:rPr>
              <a:t>ubicación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tiempo</a:t>
            </a:r>
            <a:r>
              <a:rPr lang="en-US">
                <a:ea typeface="Calibri"/>
                <a:cs typeface="Calibri"/>
              </a:rPr>
              <a:t> real, al </a:t>
            </a:r>
            <a:r>
              <a:rPr lang="en-US" err="1">
                <a:ea typeface="Calibri"/>
                <a:cs typeface="Calibri"/>
              </a:rPr>
              <a:t>conocer</a:t>
            </a:r>
            <a:r>
              <a:rPr lang="en-US">
                <a:ea typeface="Calibri"/>
                <a:cs typeface="Calibri"/>
              </a:rPr>
              <a:t> con </a:t>
            </a:r>
            <a:r>
              <a:rPr lang="en-US" err="1">
                <a:ea typeface="Calibri"/>
                <a:cs typeface="Calibri"/>
              </a:rPr>
              <a:t>exactitud</a:t>
            </a:r>
            <a:r>
              <a:rPr lang="en-US">
                <a:ea typeface="Calibri"/>
                <a:cs typeface="Calibri"/>
              </a:rPr>
              <a:t> </a:t>
            </a:r>
            <a:r>
              <a:rPr lang="en-US" err="1">
                <a:ea typeface="Calibri"/>
                <a:cs typeface="Calibri"/>
              </a:rPr>
              <a:t>cuando</a:t>
            </a:r>
            <a:r>
              <a:rPr lang="en-US">
                <a:ea typeface="Calibri"/>
                <a:cs typeface="Calibri"/>
              </a:rPr>
              <a:t> </a:t>
            </a:r>
            <a:r>
              <a:rPr lang="en-US" err="1">
                <a:ea typeface="Calibri"/>
                <a:cs typeface="Calibri"/>
              </a:rPr>
              <a:t>pasó</a:t>
            </a:r>
            <a:r>
              <a:rPr lang="en-US">
                <a:ea typeface="Calibri"/>
                <a:cs typeface="Calibri"/>
              </a:rPr>
              <a:t> </a:t>
            </a:r>
            <a:r>
              <a:rPr lang="en-US" err="1">
                <a:ea typeface="Calibri"/>
                <a:cs typeface="Calibri"/>
              </a:rPr>
              <a:t>por</a:t>
            </a:r>
            <a:r>
              <a:rPr lang="en-US">
                <a:ea typeface="Calibri"/>
                <a:cs typeface="Calibri"/>
              </a:rPr>
              <a:t> la </a:t>
            </a:r>
            <a:r>
              <a:rPr lang="en-US" err="1">
                <a:ea typeface="Calibri"/>
                <a:cs typeface="Calibri"/>
              </a:rPr>
              <a:t>última</a:t>
            </a:r>
            <a:r>
              <a:rPr lang="en-US">
                <a:ea typeface="Calibri"/>
                <a:cs typeface="Calibri"/>
              </a:rPr>
              <a:t> </a:t>
            </a:r>
            <a:r>
              <a:rPr lang="en-US" err="1">
                <a:ea typeface="Calibri"/>
                <a:cs typeface="Calibri"/>
              </a:rPr>
              <a:t>parada</a:t>
            </a:r>
            <a:r>
              <a:rPr lang="en-US">
                <a:ea typeface="Calibri"/>
                <a:cs typeface="Calibri"/>
              </a:rPr>
              <a:t>. </a:t>
            </a:r>
          </a:p>
          <a:p>
            <a:endParaRPr lang="en-US">
              <a:ea typeface="Calibri"/>
              <a:cs typeface="Calibri"/>
            </a:endParaRPr>
          </a:p>
          <a:p>
            <a:r>
              <a:rPr lang="en-US">
                <a:ea typeface="Calibri"/>
                <a:cs typeface="Calibri"/>
              </a:rPr>
              <a:t>Google maps </a:t>
            </a:r>
            <a:r>
              <a:rPr lang="en-US" err="1">
                <a:ea typeface="Calibri"/>
                <a:cs typeface="Calibri"/>
              </a:rPr>
              <a:t>tiene</a:t>
            </a:r>
            <a:r>
              <a:rPr lang="en-US">
                <a:ea typeface="Calibri"/>
                <a:cs typeface="Calibri"/>
              </a:rPr>
              <a:t> a recent feature </a:t>
            </a:r>
            <a:r>
              <a:rPr lang="en-US" err="1">
                <a:ea typeface="Calibri"/>
                <a:cs typeface="Calibri"/>
              </a:rPr>
              <a:t>que</a:t>
            </a:r>
            <a:r>
              <a:rPr lang="en-US">
                <a:ea typeface="Calibri"/>
                <a:cs typeface="Calibri"/>
              </a:rPr>
              <a:t> </a:t>
            </a:r>
            <a:r>
              <a:rPr lang="en-US" err="1">
                <a:ea typeface="Calibri"/>
                <a:cs typeface="Calibri"/>
              </a:rPr>
              <a:t>muestra</a:t>
            </a:r>
            <a:r>
              <a:rPr lang="en-US">
                <a:ea typeface="Calibri"/>
                <a:cs typeface="Calibri"/>
              </a:rPr>
              <a:t> la </a:t>
            </a:r>
            <a:r>
              <a:rPr lang="en-US" err="1">
                <a:ea typeface="Calibri"/>
                <a:cs typeface="Calibri"/>
              </a:rPr>
              <a:t>posición</a:t>
            </a:r>
            <a:r>
              <a:rPr lang="en-US">
                <a:ea typeface="Calibri"/>
                <a:cs typeface="Calibri"/>
              </a:rPr>
              <a:t> de </a:t>
            </a:r>
            <a:r>
              <a:rPr lang="en-US" err="1">
                <a:ea typeface="Calibri"/>
                <a:cs typeface="Calibri"/>
              </a:rPr>
              <a:t>los</a:t>
            </a:r>
            <a:r>
              <a:rPr lang="en-US">
                <a:ea typeface="Calibri"/>
                <a:cs typeface="Calibri"/>
              </a:rPr>
              <a:t> buses, </a:t>
            </a:r>
            <a:r>
              <a:rPr lang="en-US" err="1">
                <a:ea typeface="Calibri"/>
                <a:cs typeface="Calibri"/>
              </a:rPr>
              <a:t>pero</a:t>
            </a:r>
            <a:r>
              <a:rPr lang="en-US">
                <a:ea typeface="Calibri"/>
                <a:cs typeface="Calibri"/>
              </a:rPr>
              <a:t> a día de hoy, </a:t>
            </a:r>
            <a:r>
              <a:rPr lang="en-US" err="1">
                <a:ea typeface="Calibri"/>
                <a:cs typeface="Calibri"/>
              </a:rPr>
              <a:t>sigue</a:t>
            </a:r>
            <a:r>
              <a:rPr lang="en-US">
                <a:ea typeface="Calibri"/>
                <a:cs typeface="Calibri"/>
              </a:rPr>
              <a:t> sin </a:t>
            </a:r>
            <a:r>
              <a:rPr lang="en-US" err="1">
                <a:ea typeface="Calibri"/>
                <a:cs typeface="Calibri"/>
              </a:rPr>
              <a:t>funcionar</a:t>
            </a:r>
            <a:r>
              <a:rPr lang="en-US">
                <a:ea typeface="Calibri"/>
                <a:cs typeface="Calibri"/>
              </a:rPr>
              <a:t> </a:t>
            </a:r>
            <a:r>
              <a:rPr lang="en-US" err="1">
                <a:ea typeface="Calibri"/>
                <a:cs typeface="Calibri"/>
              </a:rPr>
              <a:t>correctamente</a:t>
            </a:r>
            <a:r>
              <a:rPr lang="en-US">
                <a:ea typeface="Calibri"/>
                <a:cs typeface="Calibri"/>
              </a:rPr>
              <a:t>. A </a:t>
            </a:r>
            <a:r>
              <a:rPr lang="en-US" err="1">
                <a:ea typeface="Calibri"/>
                <a:cs typeface="Calibri"/>
              </a:rPr>
              <a:t>veces</a:t>
            </a:r>
            <a:r>
              <a:rPr lang="en-US">
                <a:ea typeface="Calibri"/>
                <a:cs typeface="Calibri"/>
              </a:rPr>
              <a:t> no </a:t>
            </a:r>
            <a:r>
              <a:rPr lang="en-US" err="1">
                <a:ea typeface="Calibri"/>
                <a:cs typeface="Calibri"/>
              </a:rPr>
              <a:t>aparece</a:t>
            </a:r>
            <a:r>
              <a:rPr lang="en-US">
                <a:ea typeface="Calibri"/>
                <a:cs typeface="Calibri"/>
              </a:rPr>
              <a:t> y </a:t>
            </a:r>
            <a:r>
              <a:rPr lang="en-US" err="1">
                <a:ea typeface="Calibri"/>
                <a:cs typeface="Calibri"/>
              </a:rPr>
              <a:t>los</a:t>
            </a:r>
            <a:r>
              <a:rPr lang="en-US">
                <a:ea typeface="Calibri"/>
                <a:cs typeface="Calibri"/>
              </a:rPr>
              <a:t> buses </a:t>
            </a:r>
            <a:r>
              <a:rPr lang="en-US" err="1">
                <a:ea typeface="Calibri"/>
                <a:cs typeface="Calibri"/>
              </a:rPr>
              <a:t>cambian</a:t>
            </a:r>
            <a:r>
              <a:rPr lang="en-US">
                <a:ea typeface="Calibri"/>
                <a:cs typeface="Calibri"/>
              </a:rPr>
              <a:t> de </a:t>
            </a:r>
            <a:r>
              <a:rPr lang="en-US" err="1">
                <a:ea typeface="Calibri"/>
                <a:cs typeface="Calibri"/>
              </a:rPr>
              <a:t>ubicación</a:t>
            </a:r>
            <a:r>
              <a:rPr lang="en-US">
                <a:ea typeface="Calibri"/>
                <a:cs typeface="Calibri"/>
              </a:rPr>
              <a:t> </a:t>
            </a:r>
            <a:r>
              <a:rPr lang="en-US" err="1">
                <a:ea typeface="Calibri"/>
                <a:cs typeface="Calibri"/>
              </a:rPr>
              <a:t>bruscamente</a:t>
            </a:r>
            <a:r>
              <a:rPr lang="en-US">
                <a:ea typeface="Calibri"/>
                <a:cs typeface="Calibri"/>
              </a:rPr>
              <a:t>.</a:t>
            </a:r>
          </a:p>
          <a:p>
            <a:endParaRPr lang="en-US">
              <a:ea typeface="Calibri"/>
              <a:cs typeface="Calibri"/>
            </a:endParaRPr>
          </a:p>
          <a:p>
            <a:r>
              <a:rPr lang="en-US" err="1">
                <a:ea typeface="Calibri"/>
                <a:cs typeface="Calibri"/>
              </a:rPr>
              <a:t>Mantiene</a:t>
            </a:r>
            <a:r>
              <a:rPr lang="en-US">
                <a:ea typeface="Calibri"/>
                <a:cs typeface="Calibri"/>
              </a:rPr>
              <a:t> la </a:t>
            </a:r>
            <a:r>
              <a:rPr lang="en-US" err="1">
                <a:ea typeface="Calibri"/>
                <a:cs typeface="Calibri"/>
              </a:rPr>
              <a:t>identidad</a:t>
            </a:r>
            <a:r>
              <a:rPr lang="en-US">
                <a:ea typeface="Calibri"/>
                <a:cs typeface="Calibri"/>
              </a:rPr>
              <a:t> </a:t>
            </a:r>
            <a:r>
              <a:rPr lang="en-US" err="1">
                <a:ea typeface="Calibri"/>
                <a:cs typeface="Calibri"/>
              </a:rPr>
              <a:t>corporativa</a:t>
            </a:r>
            <a:r>
              <a:rPr lang="en-US">
                <a:ea typeface="Calibri"/>
                <a:cs typeface="Calibri"/>
              </a:rPr>
              <a:t> de EMT </a:t>
            </a:r>
            <a:endParaRPr lang="en-US"/>
          </a:p>
          <a:p>
            <a:r>
              <a:rPr lang="en-US">
                <a:ea typeface="Calibri"/>
                <a:cs typeface="Calibri"/>
              </a:rPr>
              <a:t>Elimina </a:t>
            </a:r>
            <a:r>
              <a:rPr lang="en-US" err="1">
                <a:ea typeface="Calibri"/>
                <a:cs typeface="Calibri"/>
              </a:rPr>
              <a:t>brecha</a:t>
            </a:r>
            <a:r>
              <a:rPr lang="en-US">
                <a:ea typeface="Calibri"/>
                <a:cs typeface="Calibri"/>
              </a:rPr>
              <a:t> digital, </a:t>
            </a:r>
            <a:r>
              <a:rPr lang="en-US" err="1">
                <a:ea typeface="Calibri"/>
                <a:cs typeface="Calibri"/>
              </a:rPr>
              <a:t>producto</a:t>
            </a:r>
            <a:r>
              <a:rPr lang="en-US">
                <a:ea typeface="Calibri"/>
                <a:cs typeface="Calibri"/>
              </a:rPr>
              <a:t> </a:t>
            </a:r>
            <a:r>
              <a:rPr lang="en-US" err="1">
                <a:ea typeface="Calibri"/>
                <a:cs typeface="Calibri"/>
              </a:rPr>
              <a:t>todo</a:t>
            </a:r>
            <a:r>
              <a:rPr lang="en-US">
                <a:ea typeface="Calibri"/>
                <a:cs typeface="Calibri"/>
              </a:rPr>
              <a:t> </a:t>
            </a:r>
            <a:r>
              <a:rPr lang="en-US" err="1">
                <a:ea typeface="Calibri"/>
                <a:cs typeface="Calibri"/>
              </a:rPr>
              <a:t>en</a:t>
            </a:r>
            <a:r>
              <a:rPr lang="en-US">
                <a:ea typeface="Calibri"/>
                <a:cs typeface="Calibri"/>
              </a:rPr>
              <a:t> 1? - sin </a:t>
            </a:r>
            <a:r>
              <a:rPr lang="en-US" err="1">
                <a:ea typeface="Calibri"/>
                <a:cs typeface="Calibri"/>
              </a:rPr>
              <a:t>necesidad</a:t>
            </a:r>
            <a:r>
              <a:rPr lang="en-US">
                <a:ea typeface="Calibri"/>
                <a:cs typeface="Calibri"/>
              </a:rPr>
              <a:t> de smartphones </a:t>
            </a:r>
            <a:r>
              <a:rPr lang="en-US" err="1">
                <a:ea typeface="Calibri"/>
                <a:cs typeface="Calibri"/>
              </a:rPr>
              <a:t>ni</a:t>
            </a:r>
            <a:r>
              <a:rPr lang="en-US">
                <a:ea typeface="Calibri"/>
                <a:cs typeface="Calibri"/>
              </a:rPr>
              <a:t> </a:t>
            </a:r>
            <a:r>
              <a:rPr lang="en-US" err="1">
                <a:ea typeface="Calibri"/>
                <a:cs typeface="Calibri"/>
              </a:rPr>
              <a:t>complementos</a:t>
            </a:r>
            <a:r>
              <a:rPr lang="en-US">
                <a:ea typeface="Calibri"/>
                <a:cs typeface="Calibri"/>
              </a:rPr>
              <a:t> </a:t>
            </a:r>
            <a:r>
              <a:rPr lang="en-US" err="1">
                <a:ea typeface="Calibri"/>
                <a:cs typeface="Calibri"/>
              </a:rPr>
              <a:t>que</a:t>
            </a:r>
            <a:r>
              <a:rPr lang="en-US">
                <a:ea typeface="Calibri"/>
                <a:cs typeface="Calibri"/>
              </a:rPr>
              <a:t> </a:t>
            </a:r>
            <a:r>
              <a:rPr lang="en-US" err="1">
                <a:ea typeface="Calibri"/>
                <a:cs typeface="Calibri"/>
              </a:rPr>
              <a:t>completen</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función</a:t>
            </a:r>
            <a:endParaRPr lang="en-US">
              <a:ea typeface="Calibri"/>
              <a:cs typeface="Calibri"/>
            </a:endParaRPr>
          </a:p>
          <a:p>
            <a:r>
              <a:rPr lang="en-US">
                <a:ea typeface="Calibri"/>
                <a:cs typeface="Calibri"/>
              </a:rPr>
              <a:t>Empleo de green energies</a:t>
            </a:r>
          </a:p>
          <a:p>
            <a:r>
              <a:rPr lang="en-US" err="1">
                <a:ea typeface="Calibri"/>
                <a:cs typeface="Calibri"/>
              </a:rPr>
              <a:t>Función</a:t>
            </a:r>
            <a:r>
              <a:rPr lang="en-US">
                <a:ea typeface="Calibri"/>
                <a:cs typeface="Calibri"/>
              </a:rPr>
              <a:t> </a:t>
            </a:r>
            <a:r>
              <a:rPr lang="en-US" err="1">
                <a:ea typeface="Calibri"/>
                <a:cs typeface="Calibri"/>
              </a:rPr>
              <a:t>básica</a:t>
            </a:r>
            <a:r>
              <a:rPr lang="en-US">
                <a:ea typeface="Calibri"/>
                <a:cs typeface="Calibri"/>
              </a:rPr>
              <a:t> </a:t>
            </a:r>
            <a:r>
              <a:rPr lang="en-US" err="1">
                <a:ea typeface="Calibri"/>
                <a:cs typeface="Calibri"/>
              </a:rPr>
              <a:t>garantizada</a:t>
            </a:r>
            <a:r>
              <a:rPr lang="en-US">
                <a:ea typeface="Calibri"/>
                <a:cs typeface="Calibri"/>
              </a:rPr>
              <a:t>/</a:t>
            </a:r>
            <a:r>
              <a:rPr lang="en-US" err="1">
                <a:ea typeface="Calibri"/>
                <a:cs typeface="Calibri"/>
              </a:rPr>
              <a:t>cubierta</a:t>
            </a:r>
            <a:endParaRPr lang="en-US">
              <a:ea typeface="Calibri"/>
              <a:cs typeface="Calibri"/>
            </a:endParaRPr>
          </a:p>
          <a:p>
            <a:endParaRPr lang="en-US">
              <a:ea typeface="Calibri"/>
              <a:cs typeface="Calibri"/>
            </a:endParaRPr>
          </a:p>
          <a:p>
            <a:r>
              <a:rPr lang="en-US">
                <a:ea typeface="Calibri"/>
                <a:cs typeface="Calibri"/>
              </a:rPr>
              <a:t>Una </a:t>
            </a:r>
            <a:r>
              <a:rPr lang="en-US" err="1">
                <a:ea typeface="Calibri"/>
                <a:cs typeface="Calibri"/>
              </a:rPr>
              <a:t>tabla</a:t>
            </a:r>
            <a:r>
              <a:rPr lang="en-US">
                <a:ea typeface="Calibri"/>
                <a:cs typeface="Calibri"/>
              </a:rPr>
              <a:t> a la </a:t>
            </a:r>
            <a:r>
              <a:rPr lang="en-US" err="1">
                <a:ea typeface="Calibri"/>
                <a:cs typeface="Calibri"/>
              </a:rPr>
              <a:t>que</a:t>
            </a:r>
            <a:r>
              <a:rPr lang="en-US">
                <a:ea typeface="Calibri"/>
                <a:cs typeface="Calibri"/>
              </a:rPr>
              <a:t> </a:t>
            </a:r>
            <a:r>
              <a:rPr lang="en-US" err="1">
                <a:ea typeface="Calibri"/>
                <a:cs typeface="Calibri"/>
              </a:rPr>
              <a:t>después</a:t>
            </a:r>
            <a:r>
              <a:rPr lang="en-US">
                <a:ea typeface="Calibri"/>
                <a:cs typeface="Calibri"/>
              </a:rPr>
              <a:t> se le </a:t>
            </a:r>
            <a:r>
              <a:rPr lang="en-US" err="1">
                <a:ea typeface="Calibri"/>
                <a:cs typeface="Calibri"/>
              </a:rPr>
              <a:t>añade</a:t>
            </a:r>
            <a:r>
              <a:rPr lang="en-US">
                <a:ea typeface="Calibri"/>
                <a:cs typeface="Calibri"/>
              </a:rPr>
              <a:t> dos </a:t>
            </a:r>
            <a:r>
              <a:rPr lang="en-US" err="1">
                <a:ea typeface="Calibri"/>
                <a:cs typeface="Calibri"/>
              </a:rPr>
              <a:t>columnas</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verde</a:t>
            </a:r>
            <a:r>
              <a:rPr lang="en-US">
                <a:ea typeface="Calibri"/>
                <a:cs typeface="Calibri"/>
              </a:rPr>
              <a:t> para UBIBUS, a </a:t>
            </a:r>
            <a:r>
              <a:rPr lang="en-US" err="1">
                <a:ea typeface="Calibri"/>
                <a:cs typeface="Calibri"/>
              </a:rPr>
              <a:t>diferencia</a:t>
            </a:r>
            <a:r>
              <a:rPr lang="en-US">
                <a:ea typeface="Calibri"/>
                <a:cs typeface="Calibri"/>
              </a:rPr>
              <a:t> de las </a:t>
            </a:r>
            <a:r>
              <a:rPr lang="en-US" err="1">
                <a:ea typeface="Calibri"/>
                <a:cs typeface="Calibri"/>
              </a:rPr>
              <a:t>demás</a:t>
            </a:r>
            <a:r>
              <a:rPr lang="en-US">
                <a:ea typeface="Calibri"/>
                <a:cs typeface="Calibri"/>
              </a:rPr>
              <a:t>, </a:t>
            </a:r>
            <a:r>
              <a:rPr lang="en-US" err="1">
                <a:ea typeface="Calibri"/>
                <a:cs typeface="Calibri"/>
              </a:rPr>
              <a:t>ubibus</a:t>
            </a:r>
            <a:r>
              <a:rPr lang="en-US">
                <a:ea typeface="Calibri"/>
                <a:cs typeface="Calibri"/>
              </a:rPr>
              <a:t> …....</a:t>
            </a:r>
          </a:p>
        </p:txBody>
      </p:sp>
      <p:sp>
        <p:nvSpPr>
          <p:cNvPr id="4" name="Slide Number Placeholder 3">
            <a:extLst>
              <a:ext uri="{FF2B5EF4-FFF2-40B4-BE49-F238E27FC236}">
                <a16:creationId xmlns:a16="http://schemas.microsoft.com/office/drawing/2014/main" id="{AE3EF1FE-A684-B43A-469A-80C299A9A0F7}"/>
              </a:ext>
            </a:extLst>
          </p:cNvPr>
          <p:cNvSpPr>
            <a:spLocks noGrp="1"/>
          </p:cNvSpPr>
          <p:nvPr>
            <p:ph type="sldNum" sz="quarter" idx="5"/>
          </p:nvPr>
        </p:nvSpPr>
        <p:spPr/>
        <p:txBody>
          <a:bodyPr/>
          <a:lstStyle/>
          <a:p>
            <a:fld id="{1869EA4B-FDF3-4C74-8961-01CAD5D8DB5A}" type="slidenum">
              <a:t>9</a:t>
            </a:fld>
            <a:endParaRPr lang="en-US"/>
          </a:p>
        </p:txBody>
      </p:sp>
    </p:spTree>
    <p:extLst>
      <p:ext uri="{BB962C8B-B14F-4D97-AF65-F5344CB8AC3E}">
        <p14:creationId xmlns:p14="http://schemas.microsoft.com/office/powerpoint/2010/main" val="149663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073CE-8E7A-8CC7-74B3-D0862B83F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45248-B758-F662-1FDB-F04036AD3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95E19-7AFE-1D29-0F6E-76CB709A7152}"/>
              </a:ext>
            </a:extLst>
          </p:cNvPr>
          <p:cNvSpPr>
            <a:spLocks noGrp="1"/>
          </p:cNvSpPr>
          <p:nvPr>
            <p:ph type="body" idx="1"/>
          </p:nvPr>
        </p:nvSpPr>
        <p:spPr/>
        <p:txBody>
          <a:bodyPr/>
          <a:lstStyle/>
          <a:p>
            <a:r>
              <a:rPr lang="en-US"/>
              <a:t>15s </a:t>
            </a:r>
            <a:r>
              <a:rPr lang="en-US" err="1"/>
              <a:t>jajajajjajajaj</a:t>
            </a:r>
            <a:r>
              <a:rPr lang="en-US"/>
              <a:t> </a:t>
            </a:r>
            <a:r>
              <a:rPr lang="en-US" err="1"/>
              <a:t>te</a:t>
            </a:r>
            <a:r>
              <a:rPr lang="en-US"/>
              <a:t> </a:t>
            </a:r>
            <a:r>
              <a:rPr lang="en-US" err="1"/>
              <a:t>estaba</a:t>
            </a:r>
            <a:r>
              <a:rPr lang="en-US"/>
              <a:t> </a:t>
            </a:r>
            <a:r>
              <a:rPr lang="en-US" err="1"/>
              <a:t>saludando</a:t>
            </a:r>
            <a:r>
              <a:rPr lang="en-US"/>
              <a:t> </a:t>
            </a:r>
            <a:r>
              <a:rPr lang="en-US" err="1"/>
              <a:t>tontitoooooooooooooooooooooooooooooo</a:t>
            </a:r>
            <a:r>
              <a:rPr lang="en-US"/>
              <a:t>; </a:t>
            </a:r>
            <a:r>
              <a:rPr lang="en-US" err="1"/>
              <a:t>jsjsjjsjsjs</a:t>
            </a:r>
            <a:r>
              <a:rPr lang="en-US"/>
              <a:t> </a:t>
            </a:r>
            <a:r>
              <a:rPr lang="en-US" err="1"/>
              <a:t>putitaaa</a:t>
            </a:r>
            <a:r>
              <a:rPr lang="en-US"/>
              <a:t>; &lt;3 ♥</a:t>
            </a:r>
            <a:endParaRPr lang="en-US">
              <a:solidFill>
                <a:srgbClr val="444444"/>
              </a:solidFill>
            </a:endParaRPr>
          </a:p>
          <a:p>
            <a:endParaRPr lang="en-US">
              <a:solidFill>
                <a:srgbClr val="444444"/>
              </a:solidFill>
            </a:endParaRPr>
          </a:p>
          <a:p>
            <a:r>
              <a:rPr lang="en-US"/>
              <a:t>The users solve these deficiencies through different apps that use the same method: arrival time information. But, again, users end up disappointed when this time expectations are unmet without explanation.</a:t>
            </a:r>
            <a:endParaRPr lang="en-US">
              <a:ea typeface="Calibri"/>
              <a:cs typeface="Calibri"/>
            </a:endParaRPr>
          </a:p>
          <a:p>
            <a:endParaRPr lang="en-US">
              <a:solidFill>
                <a:srgbClr val="444444"/>
              </a:solidFill>
              <a:ea typeface="Calibri" panose="020F0502020204030204"/>
              <a:cs typeface="Calibri" panose="020F0502020204030204"/>
            </a:endParaRPr>
          </a:p>
          <a:p>
            <a:r>
              <a:rPr lang="en-US"/>
              <a:t>UBIBUS gives you a complete overview of the bus flow, reducing the pain when something fails.</a:t>
            </a:r>
            <a:endParaRPr lang="en-US">
              <a:ea typeface="Calibri"/>
              <a:cs typeface="Calibri"/>
            </a:endParaRPr>
          </a:p>
          <a:p>
            <a:r>
              <a:rPr lang="en-US"/>
              <a:t> </a:t>
            </a:r>
            <a:endParaRPr lang="en-US">
              <a:ea typeface="Calibri" panose="020F0502020204030204"/>
              <a:cs typeface="Calibri" panose="020F0502020204030204"/>
            </a:endParaRPr>
          </a:p>
          <a:p>
            <a:r>
              <a:rPr lang="en-US">
                <a:ea typeface="Calibri" panose="020F0502020204030204"/>
                <a:cs typeface="Calibri" panose="020F0502020204030204"/>
              </a:rPr>
              <a:t>--------------------------------------------------------------------------------------------------------------------------------------------------------------------------------------</a:t>
            </a:r>
          </a:p>
          <a:p>
            <a:r>
              <a:rPr lang="en-US">
                <a:ea typeface="Calibri" panose="020F0502020204030204"/>
                <a:cs typeface="Calibri" panose="020F0502020204030204"/>
              </a:rPr>
              <a:t>El real </a:t>
            </a:r>
            <a:r>
              <a:rPr lang="en-US" err="1">
                <a:ea typeface="Calibri"/>
                <a:cs typeface="Calibri"/>
              </a:rPr>
              <a:t>competidor</a:t>
            </a:r>
            <a:r>
              <a:rPr lang="en-US">
                <a:ea typeface="Calibri"/>
                <a:cs typeface="Calibri"/>
              </a:rPr>
              <a:t> de </a:t>
            </a:r>
            <a:r>
              <a:rPr lang="en-US" err="1">
                <a:ea typeface="Calibri"/>
                <a:cs typeface="Calibri"/>
              </a:rPr>
              <a:t>ubibus</a:t>
            </a:r>
            <a:r>
              <a:rPr lang="en-US">
                <a:ea typeface="Calibri"/>
                <a:cs typeface="Calibri"/>
              </a:rPr>
              <a:t> son </a:t>
            </a:r>
            <a:r>
              <a:rPr lang="en-US" err="1">
                <a:ea typeface="Calibri"/>
                <a:cs typeface="Calibri"/>
              </a:rPr>
              <a:t>los</a:t>
            </a:r>
            <a:r>
              <a:rPr lang="en-US">
                <a:ea typeface="Calibri"/>
                <a:cs typeface="Calibri"/>
              </a:rPr>
              <a:t> </a:t>
            </a:r>
            <a:r>
              <a:rPr lang="en-US" err="1">
                <a:ea typeface="Calibri"/>
                <a:cs typeface="Calibri"/>
              </a:rPr>
              <a:t>paneles</a:t>
            </a:r>
            <a:r>
              <a:rPr lang="en-US">
                <a:ea typeface="Calibri"/>
                <a:cs typeface="Calibri"/>
              </a:rPr>
              <a:t> de </a:t>
            </a:r>
            <a:r>
              <a:rPr lang="en-US" err="1">
                <a:ea typeface="Calibri"/>
                <a:cs typeface="Calibri"/>
              </a:rPr>
              <a:t>tiempo</a:t>
            </a:r>
            <a:r>
              <a:rPr lang="en-US">
                <a:ea typeface="Calibri"/>
                <a:cs typeface="Calibri"/>
              </a:rPr>
              <a:t> de las </a:t>
            </a:r>
            <a:r>
              <a:rPr lang="en-US" err="1">
                <a:ea typeface="Calibri"/>
                <a:cs typeface="Calibri"/>
              </a:rPr>
              <a:t>paradas</a:t>
            </a:r>
            <a:r>
              <a:rPr lang="en-US">
                <a:ea typeface="Calibri"/>
                <a:cs typeface="Calibri"/>
              </a:rPr>
              <a:t> de buses, </a:t>
            </a:r>
            <a:r>
              <a:rPr lang="en-US" err="1">
                <a:ea typeface="Calibri"/>
                <a:cs typeface="Calibri"/>
              </a:rPr>
              <a:t>existen</a:t>
            </a:r>
            <a:r>
              <a:rPr lang="en-US">
                <a:ea typeface="Calibri"/>
                <a:cs typeface="Calibri"/>
              </a:rPr>
              <a:t> </a:t>
            </a:r>
            <a:r>
              <a:rPr lang="en-US" err="1">
                <a:ea typeface="Calibri"/>
                <a:cs typeface="Calibri"/>
              </a:rPr>
              <a:t>otras</a:t>
            </a:r>
            <a:r>
              <a:rPr lang="en-US">
                <a:ea typeface="Calibri"/>
                <a:cs typeface="Calibri"/>
              </a:rPr>
              <a:t> apps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mercado </a:t>
            </a:r>
            <a:r>
              <a:rPr lang="en-US" err="1">
                <a:ea typeface="Calibri"/>
                <a:cs typeface="Calibri"/>
              </a:rPr>
              <a:t>que</a:t>
            </a:r>
            <a:r>
              <a:rPr lang="en-US">
                <a:ea typeface="Calibri"/>
                <a:cs typeface="Calibri"/>
              </a:rPr>
              <a:t> </a:t>
            </a:r>
            <a:r>
              <a:rPr lang="en-US" err="1">
                <a:ea typeface="Calibri"/>
                <a:cs typeface="Calibri"/>
              </a:rPr>
              <a:t>tratan</a:t>
            </a:r>
            <a:r>
              <a:rPr lang="en-US">
                <a:ea typeface="Calibri"/>
                <a:cs typeface="Calibri"/>
              </a:rPr>
              <a:t> de </a:t>
            </a:r>
            <a:r>
              <a:rPr lang="en-US" err="1">
                <a:ea typeface="Calibri"/>
                <a:cs typeface="Calibri"/>
              </a:rPr>
              <a:t>mejorar</a:t>
            </a:r>
            <a:r>
              <a:rPr lang="en-US">
                <a:ea typeface="Calibri"/>
                <a:cs typeface="Calibri"/>
              </a:rPr>
              <a:t> </a:t>
            </a:r>
            <a:r>
              <a:rPr lang="en-US" err="1">
                <a:ea typeface="Calibri"/>
                <a:cs typeface="Calibri"/>
              </a:rPr>
              <a:t>estas</a:t>
            </a:r>
            <a:r>
              <a:rPr lang="en-US">
                <a:ea typeface="Calibri"/>
                <a:cs typeface="Calibri"/>
              </a:rPr>
              <a:t> </a:t>
            </a:r>
            <a:r>
              <a:rPr lang="en-US" err="1">
                <a:ea typeface="Calibri"/>
                <a:cs typeface="Calibri"/>
              </a:rPr>
              <a:t>estimaciones</a:t>
            </a:r>
            <a:r>
              <a:rPr lang="en-US">
                <a:ea typeface="Calibri"/>
                <a:cs typeface="Calibri"/>
              </a:rPr>
              <a:t> </a:t>
            </a:r>
            <a:r>
              <a:rPr lang="en-US" err="1">
                <a:ea typeface="Calibri"/>
                <a:cs typeface="Calibri"/>
              </a:rPr>
              <a:t>pero</a:t>
            </a:r>
            <a:r>
              <a:rPr lang="en-US">
                <a:ea typeface="Calibri"/>
                <a:cs typeface="Calibri"/>
              </a:rPr>
              <a:t> </a:t>
            </a:r>
            <a:r>
              <a:rPr lang="en-US" err="1">
                <a:ea typeface="Calibri"/>
                <a:cs typeface="Calibri"/>
              </a:rPr>
              <a:t>todas</a:t>
            </a:r>
            <a:r>
              <a:rPr lang="en-US">
                <a:ea typeface="Calibri"/>
                <a:cs typeface="Calibri"/>
              </a:rPr>
              <a:t> se </a:t>
            </a:r>
            <a:r>
              <a:rPr lang="en-US" err="1">
                <a:ea typeface="Calibri"/>
                <a:cs typeface="Calibri"/>
              </a:rPr>
              <a:t>enfocan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los</a:t>
            </a:r>
            <a:r>
              <a:rPr lang="en-US">
                <a:ea typeface="Calibri"/>
                <a:cs typeface="Calibri"/>
              </a:rPr>
              <a:t> </a:t>
            </a:r>
            <a:r>
              <a:rPr lang="en-US" err="1">
                <a:ea typeface="Calibri"/>
                <a:cs typeface="Calibri"/>
              </a:rPr>
              <a:t>tiempos</a:t>
            </a:r>
            <a:r>
              <a:rPr lang="en-US">
                <a:ea typeface="Calibri"/>
                <a:cs typeface="Calibri"/>
              </a:rPr>
              <a:t> de </a:t>
            </a:r>
            <a:r>
              <a:rPr lang="en-US" err="1">
                <a:ea typeface="Calibri"/>
                <a:cs typeface="Calibri"/>
              </a:rPr>
              <a:t>llegada</a:t>
            </a:r>
            <a:r>
              <a:rPr lang="en-US">
                <a:ea typeface="Calibri"/>
                <a:cs typeface="Calibri"/>
              </a:rPr>
              <a:t>. Que no es tan </a:t>
            </a:r>
            <a:r>
              <a:rPr lang="en-US" err="1">
                <a:ea typeface="Calibri"/>
                <a:cs typeface="Calibri"/>
              </a:rPr>
              <a:t>satisfactorio</a:t>
            </a:r>
            <a:r>
              <a:rPr lang="en-US">
                <a:ea typeface="Calibri"/>
                <a:cs typeface="Calibri"/>
              </a:rPr>
              <a:t> </a:t>
            </a:r>
            <a:r>
              <a:rPr lang="en-US" err="1">
                <a:ea typeface="Calibri"/>
                <a:cs typeface="Calibri"/>
              </a:rPr>
              <a:t>como</a:t>
            </a:r>
            <a:r>
              <a:rPr lang="en-US">
                <a:ea typeface="Calibri"/>
                <a:cs typeface="Calibri"/>
              </a:rPr>
              <a:t> </a:t>
            </a:r>
            <a:r>
              <a:rPr lang="en-US" err="1">
                <a:ea typeface="Calibri"/>
                <a:cs typeface="Calibri"/>
              </a:rPr>
              <a:t>ver</a:t>
            </a:r>
            <a:r>
              <a:rPr lang="en-US">
                <a:ea typeface="Calibri"/>
                <a:cs typeface="Calibri"/>
              </a:rPr>
              <a:t> la </a:t>
            </a:r>
            <a:r>
              <a:rPr lang="en-US" err="1">
                <a:ea typeface="Calibri"/>
                <a:cs typeface="Calibri"/>
              </a:rPr>
              <a:t>posición</a:t>
            </a:r>
            <a:r>
              <a:rPr lang="en-US">
                <a:ea typeface="Calibri"/>
                <a:cs typeface="Calibri"/>
              </a:rPr>
              <a:t> del bus. (</a:t>
            </a:r>
            <a:r>
              <a:rPr lang="en-US" err="1">
                <a:ea typeface="Calibri"/>
                <a:cs typeface="Calibri"/>
              </a:rPr>
              <a:t>emplean</a:t>
            </a:r>
            <a:r>
              <a:rPr lang="en-US">
                <a:ea typeface="Calibri"/>
                <a:cs typeface="Calibri"/>
              </a:rPr>
              <a:t> la </a:t>
            </a:r>
            <a:r>
              <a:rPr lang="en-US" err="1">
                <a:ea typeface="Calibri"/>
                <a:cs typeface="Calibri"/>
              </a:rPr>
              <a:t>misma</a:t>
            </a:r>
            <a:r>
              <a:rPr lang="en-US">
                <a:ea typeface="Calibri"/>
                <a:cs typeface="Calibri"/>
              </a:rPr>
              <a:t> </a:t>
            </a:r>
            <a:r>
              <a:rPr lang="en-US" err="1">
                <a:ea typeface="Calibri"/>
                <a:cs typeface="Calibri"/>
              </a:rPr>
              <a:t>metodología</a:t>
            </a:r>
            <a:r>
              <a:rPr lang="en-US">
                <a:ea typeface="Calibri"/>
                <a:cs typeface="Calibri"/>
              </a:rPr>
              <a:t>)</a:t>
            </a:r>
          </a:p>
          <a:p>
            <a:r>
              <a:rPr lang="en-US" err="1">
                <a:ea typeface="Calibri"/>
                <a:cs typeface="Calibri"/>
              </a:rPr>
              <a:t>Ubibus</a:t>
            </a:r>
            <a:r>
              <a:rPr lang="en-US">
                <a:ea typeface="Calibri"/>
                <a:cs typeface="Calibri"/>
              </a:rPr>
              <a:t> no es </a:t>
            </a:r>
            <a:r>
              <a:rPr lang="en-US" err="1">
                <a:ea typeface="Calibri"/>
                <a:cs typeface="Calibri"/>
              </a:rPr>
              <a:t>una</a:t>
            </a:r>
            <a:r>
              <a:rPr lang="en-US">
                <a:ea typeface="Calibri"/>
                <a:cs typeface="Calibri"/>
              </a:rPr>
              <a:t> app </a:t>
            </a:r>
            <a:r>
              <a:rPr lang="en-US" err="1">
                <a:ea typeface="Calibri"/>
                <a:cs typeface="Calibri"/>
              </a:rPr>
              <a:t>más</a:t>
            </a:r>
            <a:r>
              <a:rPr lang="en-US">
                <a:ea typeface="Calibri"/>
                <a:cs typeface="Calibri"/>
              </a:rPr>
              <a:t> del mercado </a:t>
            </a:r>
            <a:r>
              <a:rPr lang="en-US" err="1">
                <a:ea typeface="Calibri"/>
                <a:cs typeface="Calibri"/>
              </a:rPr>
              <a:t>ni</a:t>
            </a:r>
            <a:r>
              <a:rPr lang="en-US">
                <a:ea typeface="Calibri"/>
                <a:cs typeface="Calibri"/>
              </a:rPr>
              <a:t> </a:t>
            </a:r>
            <a:r>
              <a:rPr lang="en-US" err="1">
                <a:ea typeface="Calibri"/>
                <a:cs typeface="Calibri"/>
              </a:rPr>
              <a:t>sigue</a:t>
            </a:r>
            <a:r>
              <a:rPr lang="en-US">
                <a:ea typeface="Calibri"/>
                <a:cs typeface="Calibri"/>
              </a:rPr>
              <a:t> </a:t>
            </a:r>
            <a:r>
              <a:rPr lang="en-US" err="1">
                <a:ea typeface="Calibri"/>
                <a:cs typeface="Calibri"/>
              </a:rPr>
              <a:t>este</a:t>
            </a:r>
            <a:r>
              <a:rPr lang="en-US">
                <a:ea typeface="Calibri"/>
                <a:cs typeface="Calibri"/>
              </a:rPr>
              <a:t> </a:t>
            </a:r>
            <a:r>
              <a:rPr lang="en-US" err="1">
                <a:ea typeface="Calibri"/>
                <a:cs typeface="Calibri"/>
              </a:rPr>
              <a:t>enfoque</a:t>
            </a:r>
            <a:r>
              <a:rPr lang="en-US">
                <a:ea typeface="Calibri"/>
                <a:cs typeface="Calibri"/>
              </a:rPr>
              <a:t>.</a:t>
            </a:r>
            <a:endParaRPr lang="en-US"/>
          </a:p>
          <a:p>
            <a:r>
              <a:rPr lang="en-US">
                <a:ea typeface="Calibri"/>
                <a:cs typeface="Calibri"/>
              </a:rPr>
              <a:t>Es un </a:t>
            </a:r>
            <a:r>
              <a:rPr lang="en-US" err="1">
                <a:ea typeface="Calibri"/>
                <a:cs typeface="Calibri"/>
              </a:rPr>
              <a:t>producto</a:t>
            </a:r>
            <a:r>
              <a:rPr lang="en-US">
                <a:ea typeface="Calibri"/>
                <a:cs typeface="Calibri"/>
              </a:rPr>
              <a:t> </a:t>
            </a:r>
            <a:r>
              <a:rPr lang="en-US" err="1">
                <a:ea typeface="Calibri"/>
                <a:cs typeface="Calibri"/>
              </a:rPr>
              <a:t>integrado</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transporte</a:t>
            </a:r>
            <a:r>
              <a:rPr lang="en-US">
                <a:ea typeface="Calibri"/>
                <a:cs typeface="Calibri"/>
              </a:rPr>
              <a:t> </a:t>
            </a:r>
            <a:r>
              <a:rPr lang="en-US" err="1">
                <a:ea typeface="Calibri"/>
                <a:cs typeface="Calibri"/>
              </a:rPr>
              <a:t>público</a:t>
            </a:r>
            <a:r>
              <a:rPr lang="en-US">
                <a:ea typeface="Calibri"/>
                <a:cs typeface="Calibri"/>
              </a:rPr>
              <a:t>. Que </a:t>
            </a:r>
            <a:r>
              <a:rPr lang="en-US" err="1">
                <a:ea typeface="Calibri"/>
                <a:cs typeface="Calibri"/>
              </a:rPr>
              <a:t>elimina</a:t>
            </a:r>
            <a:r>
              <a:rPr lang="en-US">
                <a:ea typeface="Calibri"/>
                <a:cs typeface="Calibri"/>
              </a:rPr>
              <a:t> la </a:t>
            </a:r>
            <a:r>
              <a:rPr lang="en-US" err="1">
                <a:ea typeface="Calibri"/>
                <a:cs typeface="Calibri"/>
              </a:rPr>
              <a:t>brecha</a:t>
            </a:r>
            <a:r>
              <a:rPr lang="en-US">
                <a:ea typeface="Calibri"/>
                <a:cs typeface="Calibri"/>
              </a:rPr>
              <a:t> digital, al no </a:t>
            </a:r>
            <a:r>
              <a:rPr lang="en-US" err="1">
                <a:ea typeface="Calibri"/>
                <a:cs typeface="Calibri"/>
              </a:rPr>
              <a:t>necesitar</a:t>
            </a:r>
            <a:r>
              <a:rPr lang="en-US">
                <a:ea typeface="Calibri"/>
                <a:cs typeface="Calibri"/>
              </a:rPr>
              <a:t> smartphone </a:t>
            </a:r>
            <a:r>
              <a:rPr lang="en-US" err="1">
                <a:ea typeface="Calibri"/>
                <a:cs typeface="Calibri"/>
              </a:rPr>
              <a:t>ni</a:t>
            </a:r>
            <a:r>
              <a:rPr lang="en-US">
                <a:ea typeface="Calibri"/>
                <a:cs typeface="Calibri"/>
              </a:rPr>
              <a:t> </a:t>
            </a:r>
            <a:r>
              <a:rPr lang="en-US" err="1">
                <a:ea typeface="Calibri"/>
                <a:cs typeface="Calibri"/>
              </a:rPr>
              <a:t>conocimientos</a:t>
            </a:r>
            <a:r>
              <a:rPr lang="en-US">
                <a:ea typeface="Calibri"/>
                <a:cs typeface="Calibri"/>
              </a:rPr>
              <a:t> </a:t>
            </a:r>
            <a:r>
              <a:rPr lang="en-US" err="1">
                <a:ea typeface="Calibri"/>
                <a:cs typeface="Calibri"/>
              </a:rPr>
              <a:t>tecnológicos</a:t>
            </a:r>
            <a:r>
              <a:rPr lang="en-US">
                <a:ea typeface="Calibri"/>
                <a:cs typeface="Calibri"/>
              </a:rPr>
              <a:t>. Es </a:t>
            </a:r>
            <a:r>
              <a:rPr lang="en-US" err="1">
                <a:ea typeface="Calibri"/>
                <a:cs typeface="Calibri"/>
              </a:rPr>
              <a:t>además</a:t>
            </a:r>
            <a:r>
              <a:rPr lang="en-US">
                <a:ea typeface="Calibri"/>
                <a:cs typeface="Calibri"/>
              </a:rPr>
              <a:t> </a:t>
            </a:r>
            <a:r>
              <a:rPr lang="en-US" err="1">
                <a:ea typeface="Calibri"/>
                <a:cs typeface="Calibri"/>
              </a:rPr>
              <a:t>inclusiva</a:t>
            </a:r>
            <a:r>
              <a:rPr lang="en-US">
                <a:ea typeface="Calibri"/>
                <a:cs typeface="Calibri"/>
              </a:rPr>
              <a:t>, con </a:t>
            </a:r>
            <a:r>
              <a:rPr lang="en-US" err="1">
                <a:ea typeface="Calibri"/>
                <a:cs typeface="Calibri"/>
              </a:rPr>
              <a:t>su</a:t>
            </a:r>
            <a:r>
              <a:rPr lang="en-US">
                <a:ea typeface="Calibri"/>
                <a:cs typeface="Calibri"/>
              </a:rPr>
              <a:t> voice reading y </a:t>
            </a:r>
            <a:r>
              <a:rPr lang="en-US" err="1">
                <a:ea typeface="Calibri"/>
                <a:cs typeface="Calibri"/>
              </a:rPr>
              <a:t>su</a:t>
            </a:r>
            <a:r>
              <a:rPr lang="en-US">
                <a:ea typeface="Calibri"/>
                <a:cs typeface="Calibri"/>
              </a:rPr>
              <a:t> color blinded friendly interface. </a:t>
            </a:r>
            <a:r>
              <a:rPr lang="en-US" err="1">
                <a:ea typeface="Calibri"/>
                <a:cs typeface="Calibri"/>
              </a:rPr>
              <a:t>Parte</a:t>
            </a:r>
            <a:r>
              <a:rPr lang="en-US">
                <a:ea typeface="Calibri"/>
                <a:cs typeface="Calibri"/>
              </a:rPr>
              <a:t> del cartel actual, </a:t>
            </a:r>
            <a:r>
              <a:rPr lang="en-US" err="1">
                <a:ea typeface="Calibri"/>
                <a:cs typeface="Calibri"/>
              </a:rPr>
              <a:t>por</a:t>
            </a:r>
            <a:r>
              <a:rPr lang="en-US">
                <a:ea typeface="Calibri"/>
                <a:cs typeface="Calibri"/>
              </a:rPr>
              <a:t> lo </a:t>
            </a:r>
            <a:r>
              <a:rPr lang="en-US" err="1">
                <a:ea typeface="Calibri"/>
                <a:cs typeface="Calibri"/>
              </a:rPr>
              <a:t>que</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comprensión</a:t>
            </a:r>
            <a:r>
              <a:rPr lang="en-US">
                <a:ea typeface="Calibri"/>
                <a:cs typeface="Calibri"/>
              </a:rPr>
              <a:t> es </a:t>
            </a:r>
            <a:r>
              <a:rPr lang="en-US" err="1">
                <a:ea typeface="Calibri"/>
                <a:cs typeface="Calibri"/>
              </a:rPr>
              <a:t>inmediata</a:t>
            </a:r>
            <a:r>
              <a:rPr lang="en-US">
                <a:ea typeface="Calibri"/>
                <a:cs typeface="Calibri"/>
              </a:rPr>
              <a:t>. Y a </a:t>
            </a:r>
            <a:r>
              <a:rPr lang="en-US" err="1">
                <a:ea typeface="Calibri"/>
                <a:cs typeface="Calibri"/>
              </a:rPr>
              <a:t>diferencia</a:t>
            </a:r>
            <a:r>
              <a:rPr lang="en-US">
                <a:ea typeface="Calibri"/>
                <a:cs typeface="Calibri"/>
              </a:rPr>
              <a:t> de TODOS LOS DEMÁS, </a:t>
            </a:r>
            <a:r>
              <a:rPr lang="en-US" err="1">
                <a:ea typeface="Calibri"/>
                <a:cs typeface="Calibri"/>
              </a:rPr>
              <a:t>muestra</a:t>
            </a:r>
            <a:r>
              <a:rPr lang="en-US">
                <a:ea typeface="Calibri"/>
                <a:cs typeface="Calibri"/>
              </a:rPr>
              <a:t> la </a:t>
            </a:r>
            <a:r>
              <a:rPr lang="en-US" err="1">
                <a:ea typeface="Calibri"/>
                <a:cs typeface="Calibri"/>
              </a:rPr>
              <a:t>ubicación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tiempo</a:t>
            </a:r>
            <a:r>
              <a:rPr lang="en-US">
                <a:ea typeface="Calibri"/>
                <a:cs typeface="Calibri"/>
              </a:rPr>
              <a:t> real, al </a:t>
            </a:r>
            <a:r>
              <a:rPr lang="en-US" err="1">
                <a:ea typeface="Calibri"/>
                <a:cs typeface="Calibri"/>
              </a:rPr>
              <a:t>conocer</a:t>
            </a:r>
            <a:r>
              <a:rPr lang="en-US">
                <a:ea typeface="Calibri"/>
                <a:cs typeface="Calibri"/>
              </a:rPr>
              <a:t> con </a:t>
            </a:r>
            <a:r>
              <a:rPr lang="en-US" err="1">
                <a:ea typeface="Calibri"/>
                <a:cs typeface="Calibri"/>
              </a:rPr>
              <a:t>exactitud</a:t>
            </a:r>
            <a:r>
              <a:rPr lang="en-US">
                <a:ea typeface="Calibri"/>
                <a:cs typeface="Calibri"/>
              </a:rPr>
              <a:t> </a:t>
            </a:r>
            <a:r>
              <a:rPr lang="en-US" err="1">
                <a:ea typeface="Calibri"/>
                <a:cs typeface="Calibri"/>
              </a:rPr>
              <a:t>cuando</a:t>
            </a:r>
            <a:r>
              <a:rPr lang="en-US">
                <a:ea typeface="Calibri"/>
                <a:cs typeface="Calibri"/>
              </a:rPr>
              <a:t> </a:t>
            </a:r>
            <a:r>
              <a:rPr lang="en-US" err="1">
                <a:ea typeface="Calibri"/>
                <a:cs typeface="Calibri"/>
              </a:rPr>
              <a:t>pasó</a:t>
            </a:r>
            <a:r>
              <a:rPr lang="en-US">
                <a:ea typeface="Calibri"/>
                <a:cs typeface="Calibri"/>
              </a:rPr>
              <a:t> </a:t>
            </a:r>
            <a:r>
              <a:rPr lang="en-US" err="1">
                <a:ea typeface="Calibri"/>
                <a:cs typeface="Calibri"/>
              </a:rPr>
              <a:t>por</a:t>
            </a:r>
            <a:r>
              <a:rPr lang="en-US">
                <a:ea typeface="Calibri"/>
                <a:cs typeface="Calibri"/>
              </a:rPr>
              <a:t> la </a:t>
            </a:r>
            <a:r>
              <a:rPr lang="en-US" err="1">
                <a:ea typeface="Calibri"/>
                <a:cs typeface="Calibri"/>
              </a:rPr>
              <a:t>última</a:t>
            </a:r>
            <a:r>
              <a:rPr lang="en-US">
                <a:ea typeface="Calibri"/>
                <a:cs typeface="Calibri"/>
              </a:rPr>
              <a:t> </a:t>
            </a:r>
            <a:r>
              <a:rPr lang="en-US" err="1">
                <a:ea typeface="Calibri"/>
                <a:cs typeface="Calibri"/>
              </a:rPr>
              <a:t>parada</a:t>
            </a:r>
            <a:r>
              <a:rPr lang="en-US">
                <a:ea typeface="Calibri"/>
                <a:cs typeface="Calibri"/>
              </a:rPr>
              <a:t>. </a:t>
            </a:r>
          </a:p>
          <a:p>
            <a:endParaRPr lang="en-US">
              <a:ea typeface="Calibri"/>
              <a:cs typeface="Calibri"/>
            </a:endParaRPr>
          </a:p>
          <a:p>
            <a:r>
              <a:rPr lang="en-US">
                <a:ea typeface="Calibri"/>
                <a:cs typeface="Calibri"/>
              </a:rPr>
              <a:t>Google maps </a:t>
            </a:r>
            <a:r>
              <a:rPr lang="en-US" err="1">
                <a:ea typeface="Calibri"/>
                <a:cs typeface="Calibri"/>
              </a:rPr>
              <a:t>tiene</a:t>
            </a:r>
            <a:r>
              <a:rPr lang="en-US">
                <a:ea typeface="Calibri"/>
                <a:cs typeface="Calibri"/>
              </a:rPr>
              <a:t> a recent feature </a:t>
            </a:r>
            <a:r>
              <a:rPr lang="en-US" err="1">
                <a:ea typeface="Calibri"/>
                <a:cs typeface="Calibri"/>
              </a:rPr>
              <a:t>que</a:t>
            </a:r>
            <a:r>
              <a:rPr lang="en-US">
                <a:ea typeface="Calibri"/>
                <a:cs typeface="Calibri"/>
              </a:rPr>
              <a:t> </a:t>
            </a:r>
            <a:r>
              <a:rPr lang="en-US" err="1">
                <a:ea typeface="Calibri"/>
                <a:cs typeface="Calibri"/>
              </a:rPr>
              <a:t>muestra</a:t>
            </a:r>
            <a:r>
              <a:rPr lang="en-US">
                <a:ea typeface="Calibri"/>
                <a:cs typeface="Calibri"/>
              </a:rPr>
              <a:t> la </a:t>
            </a:r>
            <a:r>
              <a:rPr lang="en-US" err="1">
                <a:ea typeface="Calibri"/>
                <a:cs typeface="Calibri"/>
              </a:rPr>
              <a:t>posición</a:t>
            </a:r>
            <a:r>
              <a:rPr lang="en-US">
                <a:ea typeface="Calibri"/>
                <a:cs typeface="Calibri"/>
              </a:rPr>
              <a:t> de </a:t>
            </a:r>
            <a:r>
              <a:rPr lang="en-US" err="1">
                <a:ea typeface="Calibri"/>
                <a:cs typeface="Calibri"/>
              </a:rPr>
              <a:t>los</a:t>
            </a:r>
            <a:r>
              <a:rPr lang="en-US">
                <a:ea typeface="Calibri"/>
                <a:cs typeface="Calibri"/>
              </a:rPr>
              <a:t> buses, </a:t>
            </a:r>
            <a:r>
              <a:rPr lang="en-US" err="1">
                <a:ea typeface="Calibri"/>
                <a:cs typeface="Calibri"/>
              </a:rPr>
              <a:t>pero</a:t>
            </a:r>
            <a:r>
              <a:rPr lang="en-US">
                <a:ea typeface="Calibri"/>
                <a:cs typeface="Calibri"/>
              </a:rPr>
              <a:t> a día de hoy, </a:t>
            </a:r>
            <a:r>
              <a:rPr lang="en-US" err="1">
                <a:ea typeface="Calibri"/>
                <a:cs typeface="Calibri"/>
              </a:rPr>
              <a:t>sigue</a:t>
            </a:r>
            <a:r>
              <a:rPr lang="en-US">
                <a:ea typeface="Calibri"/>
                <a:cs typeface="Calibri"/>
              </a:rPr>
              <a:t> sin </a:t>
            </a:r>
            <a:r>
              <a:rPr lang="en-US" err="1">
                <a:ea typeface="Calibri"/>
                <a:cs typeface="Calibri"/>
              </a:rPr>
              <a:t>funcionar</a:t>
            </a:r>
            <a:r>
              <a:rPr lang="en-US">
                <a:ea typeface="Calibri"/>
                <a:cs typeface="Calibri"/>
              </a:rPr>
              <a:t> </a:t>
            </a:r>
            <a:r>
              <a:rPr lang="en-US" err="1">
                <a:ea typeface="Calibri"/>
                <a:cs typeface="Calibri"/>
              </a:rPr>
              <a:t>correctamente</a:t>
            </a:r>
            <a:r>
              <a:rPr lang="en-US">
                <a:ea typeface="Calibri"/>
                <a:cs typeface="Calibri"/>
              </a:rPr>
              <a:t>. A </a:t>
            </a:r>
            <a:r>
              <a:rPr lang="en-US" err="1">
                <a:ea typeface="Calibri"/>
                <a:cs typeface="Calibri"/>
              </a:rPr>
              <a:t>veces</a:t>
            </a:r>
            <a:r>
              <a:rPr lang="en-US">
                <a:ea typeface="Calibri"/>
                <a:cs typeface="Calibri"/>
              </a:rPr>
              <a:t> no </a:t>
            </a:r>
            <a:r>
              <a:rPr lang="en-US" err="1">
                <a:ea typeface="Calibri"/>
                <a:cs typeface="Calibri"/>
              </a:rPr>
              <a:t>aparece</a:t>
            </a:r>
            <a:r>
              <a:rPr lang="en-US">
                <a:ea typeface="Calibri"/>
                <a:cs typeface="Calibri"/>
              </a:rPr>
              <a:t> y </a:t>
            </a:r>
            <a:r>
              <a:rPr lang="en-US" err="1">
                <a:ea typeface="Calibri"/>
                <a:cs typeface="Calibri"/>
              </a:rPr>
              <a:t>los</a:t>
            </a:r>
            <a:r>
              <a:rPr lang="en-US">
                <a:ea typeface="Calibri"/>
                <a:cs typeface="Calibri"/>
              </a:rPr>
              <a:t> buses </a:t>
            </a:r>
            <a:r>
              <a:rPr lang="en-US" err="1">
                <a:ea typeface="Calibri"/>
                <a:cs typeface="Calibri"/>
              </a:rPr>
              <a:t>cambian</a:t>
            </a:r>
            <a:r>
              <a:rPr lang="en-US">
                <a:ea typeface="Calibri"/>
                <a:cs typeface="Calibri"/>
              </a:rPr>
              <a:t> de </a:t>
            </a:r>
            <a:r>
              <a:rPr lang="en-US" err="1">
                <a:ea typeface="Calibri"/>
                <a:cs typeface="Calibri"/>
              </a:rPr>
              <a:t>ubicación</a:t>
            </a:r>
            <a:r>
              <a:rPr lang="en-US">
                <a:ea typeface="Calibri"/>
                <a:cs typeface="Calibri"/>
              </a:rPr>
              <a:t> </a:t>
            </a:r>
            <a:r>
              <a:rPr lang="en-US" err="1">
                <a:ea typeface="Calibri"/>
                <a:cs typeface="Calibri"/>
              </a:rPr>
              <a:t>bruscamente</a:t>
            </a:r>
            <a:r>
              <a:rPr lang="en-US">
                <a:ea typeface="Calibri"/>
                <a:cs typeface="Calibri"/>
              </a:rPr>
              <a:t>.</a:t>
            </a:r>
          </a:p>
          <a:p>
            <a:endParaRPr lang="en-US">
              <a:ea typeface="Calibri"/>
              <a:cs typeface="Calibri"/>
            </a:endParaRPr>
          </a:p>
          <a:p>
            <a:r>
              <a:rPr lang="en-US" err="1">
                <a:ea typeface="Calibri"/>
                <a:cs typeface="Calibri"/>
              </a:rPr>
              <a:t>Mantiene</a:t>
            </a:r>
            <a:r>
              <a:rPr lang="en-US">
                <a:ea typeface="Calibri"/>
                <a:cs typeface="Calibri"/>
              </a:rPr>
              <a:t> la </a:t>
            </a:r>
            <a:r>
              <a:rPr lang="en-US" err="1">
                <a:ea typeface="Calibri"/>
                <a:cs typeface="Calibri"/>
              </a:rPr>
              <a:t>identidad</a:t>
            </a:r>
            <a:r>
              <a:rPr lang="en-US">
                <a:ea typeface="Calibri"/>
                <a:cs typeface="Calibri"/>
              </a:rPr>
              <a:t> </a:t>
            </a:r>
            <a:r>
              <a:rPr lang="en-US" err="1">
                <a:ea typeface="Calibri"/>
                <a:cs typeface="Calibri"/>
              </a:rPr>
              <a:t>corporativa</a:t>
            </a:r>
            <a:r>
              <a:rPr lang="en-US">
                <a:ea typeface="Calibri"/>
                <a:cs typeface="Calibri"/>
              </a:rPr>
              <a:t> de EMT </a:t>
            </a:r>
            <a:endParaRPr lang="en-US"/>
          </a:p>
          <a:p>
            <a:r>
              <a:rPr lang="en-US">
                <a:ea typeface="Calibri"/>
                <a:cs typeface="Calibri"/>
              </a:rPr>
              <a:t>Elimina </a:t>
            </a:r>
            <a:r>
              <a:rPr lang="en-US" err="1">
                <a:ea typeface="Calibri"/>
                <a:cs typeface="Calibri"/>
              </a:rPr>
              <a:t>brecha</a:t>
            </a:r>
            <a:r>
              <a:rPr lang="en-US">
                <a:ea typeface="Calibri"/>
                <a:cs typeface="Calibri"/>
              </a:rPr>
              <a:t> digital, </a:t>
            </a:r>
            <a:r>
              <a:rPr lang="en-US" err="1">
                <a:ea typeface="Calibri"/>
                <a:cs typeface="Calibri"/>
              </a:rPr>
              <a:t>producto</a:t>
            </a:r>
            <a:r>
              <a:rPr lang="en-US">
                <a:ea typeface="Calibri"/>
                <a:cs typeface="Calibri"/>
              </a:rPr>
              <a:t> </a:t>
            </a:r>
            <a:r>
              <a:rPr lang="en-US" err="1">
                <a:ea typeface="Calibri"/>
                <a:cs typeface="Calibri"/>
              </a:rPr>
              <a:t>todo</a:t>
            </a:r>
            <a:r>
              <a:rPr lang="en-US">
                <a:ea typeface="Calibri"/>
                <a:cs typeface="Calibri"/>
              </a:rPr>
              <a:t> </a:t>
            </a:r>
            <a:r>
              <a:rPr lang="en-US" err="1">
                <a:ea typeface="Calibri"/>
                <a:cs typeface="Calibri"/>
              </a:rPr>
              <a:t>en</a:t>
            </a:r>
            <a:r>
              <a:rPr lang="en-US">
                <a:ea typeface="Calibri"/>
                <a:cs typeface="Calibri"/>
              </a:rPr>
              <a:t> 1? - sin </a:t>
            </a:r>
            <a:r>
              <a:rPr lang="en-US" err="1">
                <a:ea typeface="Calibri"/>
                <a:cs typeface="Calibri"/>
              </a:rPr>
              <a:t>necesidad</a:t>
            </a:r>
            <a:r>
              <a:rPr lang="en-US">
                <a:ea typeface="Calibri"/>
                <a:cs typeface="Calibri"/>
              </a:rPr>
              <a:t> de smartphones </a:t>
            </a:r>
            <a:r>
              <a:rPr lang="en-US" err="1">
                <a:ea typeface="Calibri"/>
                <a:cs typeface="Calibri"/>
              </a:rPr>
              <a:t>ni</a:t>
            </a:r>
            <a:r>
              <a:rPr lang="en-US">
                <a:ea typeface="Calibri"/>
                <a:cs typeface="Calibri"/>
              </a:rPr>
              <a:t> </a:t>
            </a:r>
            <a:r>
              <a:rPr lang="en-US" err="1">
                <a:ea typeface="Calibri"/>
                <a:cs typeface="Calibri"/>
              </a:rPr>
              <a:t>complementos</a:t>
            </a:r>
            <a:r>
              <a:rPr lang="en-US">
                <a:ea typeface="Calibri"/>
                <a:cs typeface="Calibri"/>
              </a:rPr>
              <a:t> </a:t>
            </a:r>
            <a:r>
              <a:rPr lang="en-US" err="1">
                <a:ea typeface="Calibri"/>
                <a:cs typeface="Calibri"/>
              </a:rPr>
              <a:t>que</a:t>
            </a:r>
            <a:r>
              <a:rPr lang="en-US">
                <a:ea typeface="Calibri"/>
                <a:cs typeface="Calibri"/>
              </a:rPr>
              <a:t> </a:t>
            </a:r>
            <a:r>
              <a:rPr lang="en-US" err="1">
                <a:ea typeface="Calibri"/>
                <a:cs typeface="Calibri"/>
              </a:rPr>
              <a:t>completen</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función</a:t>
            </a:r>
            <a:endParaRPr lang="en-US">
              <a:ea typeface="Calibri"/>
              <a:cs typeface="Calibri"/>
            </a:endParaRPr>
          </a:p>
          <a:p>
            <a:r>
              <a:rPr lang="en-US">
                <a:ea typeface="Calibri"/>
                <a:cs typeface="Calibri"/>
              </a:rPr>
              <a:t>Empleo de green energies</a:t>
            </a:r>
          </a:p>
          <a:p>
            <a:r>
              <a:rPr lang="en-US" err="1">
                <a:ea typeface="Calibri"/>
                <a:cs typeface="Calibri"/>
              </a:rPr>
              <a:t>Función</a:t>
            </a:r>
            <a:r>
              <a:rPr lang="en-US">
                <a:ea typeface="Calibri"/>
                <a:cs typeface="Calibri"/>
              </a:rPr>
              <a:t> </a:t>
            </a:r>
            <a:r>
              <a:rPr lang="en-US" err="1">
                <a:ea typeface="Calibri"/>
                <a:cs typeface="Calibri"/>
              </a:rPr>
              <a:t>básica</a:t>
            </a:r>
            <a:r>
              <a:rPr lang="en-US">
                <a:ea typeface="Calibri"/>
                <a:cs typeface="Calibri"/>
              </a:rPr>
              <a:t> </a:t>
            </a:r>
            <a:r>
              <a:rPr lang="en-US" err="1">
                <a:ea typeface="Calibri"/>
                <a:cs typeface="Calibri"/>
              </a:rPr>
              <a:t>garantizada</a:t>
            </a:r>
            <a:r>
              <a:rPr lang="en-US">
                <a:ea typeface="Calibri"/>
                <a:cs typeface="Calibri"/>
              </a:rPr>
              <a:t>/</a:t>
            </a:r>
            <a:r>
              <a:rPr lang="en-US" err="1">
                <a:ea typeface="Calibri"/>
                <a:cs typeface="Calibri"/>
              </a:rPr>
              <a:t>cubierta</a:t>
            </a:r>
            <a:endParaRPr lang="en-US">
              <a:ea typeface="Calibri"/>
              <a:cs typeface="Calibri"/>
            </a:endParaRPr>
          </a:p>
        </p:txBody>
      </p:sp>
      <p:sp>
        <p:nvSpPr>
          <p:cNvPr id="4" name="Slide Number Placeholder 3">
            <a:extLst>
              <a:ext uri="{FF2B5EF4-FFF2-40B4-BE49-F238E27FC236}">
                <a16:creationId xmlns:a16="http://schemas.microsoft.com/office/drawing/2014/main" id="{63B63A04-24DB-ABDC-9E0C-1F21AD8D390D}"/>
              </a:ext>
            </a:extLst>
          </p:cNvPr>
          <p:cNvSpPr>
            <a:spLocks noGrp="1"/>
          </p:cNvSpPr>
          <p:nvPr>
            <p:ph type="sldNum" sz="quarter" idx="5"/>
          </p:nvPr>
        </p:nvSpPr>
        <p:spPr/>
        <p:txBody>
          <a:bodyPr/>
          <a:lstStyle/>
          <a:p>
            <a:fld id="{1869EA4B-FDF3-4C74-8961-01CAD5D8DB5A}" type="slidenum">
              <a:t>10</a:t>
            </a:fld>
            <a:endParaRPr lang="en-US"/>
          </a:p>
        </p:txBody>
      </p:sp>
    </p:spTree>
    <p:extLst>
      <p:ext uri="{BB962C8B-B14F-4D97-AF65-F5344CB8AC3E}">
        <p14:creationId xmlns:p14="http://schemas.microsoft.com/office/powerpoint/2010/main" val="889780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14AB0-4351-4473-C1AE-0DC437F89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6B2F8-7BD1-B992-50AA-1789F0191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4CA7C-8F2B-DD68-BCB2-220D3DB3AB40}"/>
              </a:ext>
            </a:extLst>
          </p:cNvPr>
          <p:cNvSpPr>
            <a:spLocks noGrp="1"/>
          </p:cNvSpPr>
          <p:nvPr>
            <p:ph type="body" idx="1"/>
          </p:nvPr>
        </p:nvSpPr>
        <p:spPr/>
        <p:txBody>
          <a:bodyPr/>
          <a:lstStyle/>
          <a:p>
            <a:r>
              <a:rPr lang="en-US">
                <a:ea typeface="Calibri"/>
                <a:cs typeface="Calibri"/>
              </a:rPr>
              <a:t>25s – Then, the Unique Selling Point of UBIBUS is that</a:t>
            </a:r>
          </a:p>
          <a:p>
            <a:r>
              <a:rPr lang="en-US">
                <a:ea typeface="Calibri"/>
                <a:cs typeface="Calibri"/>
              </a:rPr>
              <a:t>Unlike the rest, UBIBUS is integrated into the bus stop and the main product is physical, breaking the digital divide because it doesn't need technological knowledge.</a:t>
            </a:r>
            <a:endParaRPr lang="en-US"/>
          </a:p>
          <a:p>
            <a:r>
              <a:rPr lang="en-US">
                <a:ea typeface="Calibri"/>
                <a:cs typeface="Calibri"/>
              </a:rPr>
              <a:t>It ensures inclusion - and the design is intuitive, easy to understand and resilient since its basic function is always covered thanks to the paper layout.</a:t>
            </a:r>
          </a:p>
          <a:p>
            <a:endParaRPr lang="en-US">
              <a:ea typeface="Calibri"/>
              <a:cs typeface="Calibri"/>
            </a:endParaRPr>
          </a:p>
          <a:p>
            <a:endParaRPr lang="en-US">
              <a:ea typeface="Calibri"/>
              <a:cs typeface="Calibri"/>
            </a:endParaRPr>
          </a:p>
          <a:p>
            <a:r>
              <a:rPr lang="en-US">
                <a:ea typeface="Calibri"/>
                <a:cs typeface="Calibri"/>
              </a:rPr>
              <a:t>--------------------------------------------------------------------------------------------------------------------------------------</a:t>
            </a:r>
          </a:p>
          <a:p>
            <a:r>
              <a:rPr lang="en-US">
                <a:ea typeface="Calibri"/>
                <a:cs typeface="Calibri"/>
              </a:rPr>
              <a:t>El real </a:t>
            </a:r>
            <a:r>
              <a:rPr lang="en-US" err="1">
                <a:ea typeface="Calibri"/>
                <a:cs typeface="Calibri"/>
              </a:rPr>
              <a:t>competidor</a:t>
            </a:r>
            <a:r>
              <a:rPr lang="en-US">
                <a:ea typeface="Calibri"/>
                <a:cs typeface="Calibri"/>
              </a:rPr>
              <a:t> de </a:t>
            </a:r>
            <a:r>
              <a:rPr lang="en-US" err="1">
                <a:ea typeface="Calibri"/>
                <a:cs typeface="Calibri"/>
              </a:rPr>
              <a:t>ubibus</a:t>
            </a:r>
            <a:r>
              <a:rPr lang="en-US">
                <a:ea typeface="Calibri"/>
                <a:cs typeface="Calibri"/>
              </a:rPr>
              <a:t> son </a:t>
            </a:r>
            <a:r>
              <a:rPr lang="en-US" err="1">
                <a:ea typeface="Calibri"/>
                <a:cs typeface="Calibri"/>
              </a:rPr>
              <a:t>los</a:t>
            </a:r>
            <a:r>
              <a:rPr lang="en-US">
                <a:ea typeface="Calibri"/>
                <a:cs typeface="Calibri"/>
              </a:rPr>
              <a:t> </a:t>
            </a:r>
            <a:r>
              <a:rPr lang="en-US" err="1">
                <a:ea typeface="Calibri"/>
                <a:cs typeface="Calibri"/>
              </a:rPr>
              <a:t>paneles</a:t>
            </a:r>
            <a:r>
              <a:rPr lang="en-US">
                <a:ea typeface="Calibri"/>
                <a:cs typeface="Calibri"/>
              </a:rPr>
              <a:t> de </a:t>
            </a:r>
            <a:r>
              <a:rPr lang="en-US" err="1">
                <a:ea typeface="Calibri"/>
                <a:cs typeface="Calibri"/>
              </a:rPr>
              <a:t>tiempo</a:t>
            </a:r>
            <a:r>
              <a:rPr lang="en-US">
                <a:ea typeface="Calibri"/>
                <a:cs typeface="Calibri"/>
              </a:rPr>
              <a:t> de las </a:t>
            </a:r>
            <a:r>
              <a:rPr lang="en-US" err="1">
                <a:ea typeface="Calibri"/>
                <a:cs typeface="Calibri"/>
              </a:rPr>
              <a:t>paradas</a:t>
            </a:r>
            <a:r>
              <a:rPr lang="en-US">
                <a:ea typeface="Calibri"/>
                <a:cs typeface="Calibri"/>
              </a:rPr>
              <a:t> de buses, </a:t>
            </a:r>
            <a:r>
              <a:rPr lang="en-US" err="1">
                <a:ea typeface="Calibri"/>
                <a:cs typeface="Calibri"/>
              </a:rPr>
              <a:t>existen</a:t>
            </a:r>
            <a:r>
              <a:rPr lang="en-US">
                <a:ea typeface="Calibri"/>
                <a:cs typeface="Calibri"/>
              </a:rPr>
              <a:t> </a:t>
            </a:r>
            <a:r>
              <a:rPr lang="en-US" err="1">
                <a:ea typeface="Calibri"/>
                <a:cs typeface="Calibri"/>
              </a:rPr>
              <a:t>otras</a:t>
            </a:r>
            <a:r>
              <a:rPr lang="en-US">
                <a:ea typeface="Calibri"/>
                <a:cs typeface="Calibri"/>
              </a:rPr>
              <a:t> apps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mercado </a:t>
            </a:r>
            <a:r>
              <a:rPr lang="en-US" err="1">
                <a:ea typeface="Calibri"/>
                <a:cs typeface="Calibri"/>
              </a:rPr>
              <a:t>que</a:t>
            </a:r>
            <a:r>
              <a:rPr lang="en-US">
                <a:ea typeface="Calibri"/>
                <a:cs typeface="Calibri"/>
              </a:rPr>
              <a:t> </a:t>
            </a:r>
            <a:r>
              <a:rPr lang="en-US" err="1">
                <a:ea typeface="Calibri"/>
                <a:cs typeface="Calibri"/>
              </a:rPr>
              <a:t>tratan</a:t>
            </a:r>
            <a:r>
              <a:rPr lang="en-US">
                <a:ea typeface="Calibri"/>
                <a:cs typeface="Calibri"/>
              </a:rPr>
              <a:t> de </a:t>
            </a:r>
            <a:r>
              <a:rPr lang="en-US" err="1">
                <a:ea typeface="Calibri"/>
                <a:cs typeface="Calibri"/>
              </a:rPr>
              <a:t>mejorar</a:t>
            </a:r>
            <a:r>
              <a:rPr lang="en-US">
                <a:ea typeface="Calibri"/>
                <a:cs typeface="Calibri"/>
              </a:rPr>
              <a:t> </a:t>
            </a:r>
            <a:r>
              <a:rPr lang="en-US" err="1">
                <a:ea typeface="Calibri"/>
                <a:cs typeface="Calibri"/>
              </a:rPr>
              <a:t>estas</a:t>
            </a:r>
            <a:r>
              <a:rPr lang="en-US">
                <a:ea typeface="Calibri"/>
                <a:cs typeface="Calibri"/>
              </a:rPr>
              <a:t> </a:t>
            </a:r>
            <a:r>
              <a:rPr lang="en-US" err="1">
                <a:ea typeface="Calibri"/>
                <a:cs typeface="Calibri"/>
              </a:rPr>
              <a:t>estimaciones</a:t>
            </a:r>
            <a:r>
              <a:rPr lang="en-US">
                <a:ea typeface="Calibri"/>
                <a:cs typeface="Calibri"/>
              </a:rPr>
              <a:t> </a:t>
            </a:r>
            <a:r>
              <a:rPr lang="en-US" err="1">
                <a:ea typeface="Calibri"/>
                <a:cs typeface="Calibri"/>
              </a:rPr>
              <a:t>pero</a:t>
            </a:r>
            <a:r>
              <a:rPr lang="en-US">
                <a:ea typeface="Calibri"/>
                <a:cs typeface="Calibri"/>
              </a:rPr>
              <a:t> </a:t>
            </a:r>
            <a:r>
              <a:rPr lang="en-US" err="1">
                <a:ea typeface="Calibri"/>
                <a:cs typeface="Calibri"/>
              </a:rPr>
              <a:t>todas</a:t>
            </a:r>
            <a:r>
              <a:rPr lang="en-US">
                <a:ea typeface="Calibri"/>
                <a:cs typeface="Calibri"/>
              </a:rPr>
              <a:t> se </a:t>
            </a:r>
            <a:r>
              <a:rPr lang="en-US" err="1">
                <a:ea typeface="Calibri"/>
                <a:cs typeface="Calibri"/>
              </a:rPr>
              <a:t>enfocan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los</a:t>
            </a:r>
            <a:r>
              <a:rPr lang="en-US">
                <a:ea typeface="Calibri"/>
                <a:cs typeface="Calibri"/>
              </a:rPr>
              <a:t> </a:t>
            </a:r>
            <a:r>
              <a:rPr lang="en-US" err="1">
                <a:ea typeface="Calibri"/>
                <a:cs typeface="Calibri"/>
              </a:rPr>
              <a:t>tiempos</a:t>
            </a:r>
            <a:r>
              <a:rPr lang="en-US">
                <a:ea typeface="Calibri"/>
                <a:cs typeface="Calibri"/>
              </a:rPr>
              <a:t> de </a:t>
            </a:r>
            <a:r>
              <a:rPr lang="en-US" err="1">
                <a:ea typeface="Calibri"/>
                <a:cs typeface="Calibri"/>
              </a:rPr>
              <a:t>llegada</a:t>
            </a:r>
            <a:r>
              <a:rPr lang="en-US">
                <a:ea typeface="Calibri"/>
                <a:cs typeface="Calibri"/>
              </a:rPr>
              <a:t>. Que no es tan </a:t>
            </a:r>
            <a:r>
              <a:rPr lang="en-US" err="1">
                <a:ea typeface="Calibri"/>
                <a:cs typeface="Calibri"/>
              </a:rPr>
              <a:t>satisfactorio</a:t>
            </a:r>
            <a:r>
              <a:rPr lang="en-US">
                <a:ea typeface="Calibri"/>
                <a:cs typeface="Calibri"/>
              </a:rPr>
              <a:t> </a:t>
            </a:r>
            <a:r>
              <a:rPr lang="en-US" err="1">
                <a:ea typeface="Calibri"/>
                <a:cs typeface="Calibri"/>
              </a:rPr>
              <a:t>como</a:t>
            </a:r>
            <a:r>
              <a:rPr lang="en-US">
                <a:ea typeface="Calibri"/>
                <a:cs typeface="Calibri"/>
              </a:rPr>
              <a:t> </a:t>
            </a:r>
            <a:r>
              <a:rPr lang="en-US" err="1">
                <a:ea typeface="Calibri"/>
                <a:cs typeface="Calibri"/>
              </a:rPr>
              <a:t>ver</a:t>
            </a:r>
            <a:r>
              <a:rPr lang="en-US">
                <a:ea typeface="Calibri"/>
                <a:cs typeface="Calibri"/>
              </a:rPr>
              <a:t> la </a:t>
            </a:r>
            <a:r>
              <a:rPr lang="en-US" err="1">
                <a:ea typeface="Calibri"/>
                <a:cs typeface="Calibri"/>
              </a:rPr>
              <a:t>posición</a:t>
            </a:r>
            <a:r>
              <a:rPr lang="en-US">
                <a:ea typeface="Calibri"/>
                <a:cs typeface="Calibri"/>
              </a:rPr>
              <a:t> del bus. (</a:t>
            </a:r>
            <a:r>
              <a:rPr lang="en-US" err="1">
                <a:ea typeface="Calibri"/>
                <a:cs typeface="Calibri"/>
              </a:rPr>
              <a:t>emplean</a:t>
            </a:r>
            <a:r>
              <a:rPr lang="en-US">
                <a:ea typeface="Calibri"/>
                <a:cs typeface="Calibri"/>
              </a:rPr>
              <a:t> la </a:t>
            </a:r>
            <a:r>
              <a:rPr lang="en-US" err="1">
                <a:ea typeface="Calibri"/>
                <a:cs typeface="Calibri"/>
              </a:rPr>
              <a:t>misma</a:t>
            </a:r>
            <a:r>
              <a:rPr lang="en-US">
                <a:ea typeface="Calibri"/>
                <a:cs typeface="Calibri"/>
              </a:rPr>
              <a:t> </a:t>
            </a:r>
            <a:r>
              <a:rPr lang="en-US" err="1">
                <a:ea typeface="Calibri"/>
                <a:cs typeface="Calibri"/>
              </a:rPr>
              <a:t>metodología</a:t>
            </a:r>
            <a:r>
              <a:rPr lang="en-US">
                <a:ea typeface="Calibri"/>
                <a:cs typeface="Calibri"/>
              </a:rPr>
              <a:t>)</a:t>
            </a:r>
          </a:p>
          <a:p>
            <a:r>
              <a:rPr lang="en-US" err="1">
                <a:ea typeface="Calibri"/>
                <a:cs typeface="Calibri"/>
              </a:rPr>
              <a:t>Ubibus</a:t>
            </a:r>
            <a:r>
              <a:rPr lang="en-US">
                <a:ea typeface="Calibri"/>
                <a:cs typeface="Calibri"/>
              </a:rPr>
              <a:t> no es </a:t>
            </a:r>
            <a:r>
              <a:rPr lang="en-US" err="1">
                <a:ea typeface="Calibri"/>
                <a:cs typeface="Calibri"/>
              </a:rPr>
              <a:t>una</a:t>
            </a:r>
            <a:r>
              <a:rPr lang="en-US">
                <a:ea typeface="Calibri"/>
                <a:cs typeface="Calibri"/>
              </a:rPr>
              <a:t> app </a:t>
            </a:r>
            <a:r>
              <a:rPr lang="en-US" err="1">
                <a:ea typeface="Calibri"/>
                <a:cs typeface="Calibri"/>
              </a:rPr>
              <a:t>más</a:t>
            </a:r>
            <a:r>
              <a:rPr lang="en-US">
                <a:ea typeface="Calibri"/>
                <a:cs typeface="Calibri"/>
              </a:rPr>
              <a:t> del mercado </a:t>
            </a:r>
            <a:r>
              <a:rPr lang="en-US" err="1">
                <a:ea typeface="Calibri"/>
                <a:cs typeface="Calibri"/>
              </a:rPr>
              <a:t>ni</a:t>
            </a:r>
            <a:r>
              <a:rPr lang="en-US">
                <a:ea typeface="Calibri"/>
                <a:cs typeface="Calibri"/>
              </a:rPr>
              <a:t> </a:t>
            </a:r>
            <a:r>
              <a:rPr lang="en-US" err="1">
                <a:ea typeface="Calibri"/>
                <a:cs typeface="Calibri"/>
              </a:rPr>
              <a:t>sigue</a:t>
            </a:r>
            <a:r>
              <a:rPr lang="en-US">
                <a:ea typeface="Calibri"/>
                <a:cs typeface="Calibri"/>
              </a:rPr>
              <a:t> </a:t>
            </a:r>
            <a:r>
              <a:rPr lang="en-US" err="1">
                <a:ea typeface="Calibri"/>
                <a:cs typeface="Calibri"/>
              </a:rPr>
              <a:t>este</a:t>
            </a:r>
            <a:r>
              <a:rPr lang="en-US">
                <a:ea typeface="Calibri"/>
                <a:cs typeface="Calibri"/>
              </a:rPr>
              <a:t> </a:t>
            </a:r>
            <a:r>
              <a:rPr lang="en-US" err="1">
                <a:ea typeface="Calibri"/>
                <a:cs typeface="Calibri"/>
              </a:rPr>
              <a:t>enfoque</a:t>
            </a:r>
            <a:r>
              <a:rPr lang="en-US">
                <a:ea typeface="Calibri"/>
                <a:cs typeface="Calibri"/>
              </a:rPr>
              <a:t>.</a:t>
            </a:r>
            <a:endParaRPr lang="en-US"/>
          </a:p>
          <a:p>
            <a:r>
              <a:rPr lang="en-US">
                <a:ea typeface="Calibri"/>
                <a:cs typeface="Calibri"/>
              </a:rPr>
              <a:t>Es un </a:t>
            </a:r>
            <a:r>
              <a:rPr lang="en-US" err="1">
                <a:ea typeface="Calibri"/>
                <a:cs typeface="Calibri"/>
              </a:rPr>
              <a:t>producto</a:t>
            </a:r>
            <a:r>
              <a:rPr lang="en-US">
                <a:ea typeface="Calibri"/>
                <a:cs typeface="Calibri"/>
              </a:rPr>
              <a:t> </a:t>
            </a:r>
            <a:r>
              <a:rPr lang="en-US" err="1">
                <a:ea typeface="Calibri"/>
                <a:cs typeface="Calibri"/>
              </a:rPr>
              <a:t>integrado</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transporte</a:t>
            </a:r>
            <a:r>
              <a:rPr lang="en-US">
                <a:ea typeface="Calibri"/>
                <a:cs typeface="Calibri"/>
              </a:rPr>
              <a:t> </a:t>
            </a:r>
            <a:r>
              <a:rPr lang="en-US" err="1">
                <a:ea typeface="Calibri"/>
                <a:cs typeface="Calibri"/>
              </a:rPr>
              <a:t>público</a:t>
            </a:r>
            <a:r>
              <a:rPr lang="en-US">
                <a:ea typeface="Calibri"/>
                <a:cs typeface="Calibri"/>
              </a:rPr>
              <a:t>. Que </a:t>
            </a:r>
            <a:r>
              <a:rPr lang="en-US" err="1">
                <a:ea typeface="Calibri"/>
                <a:cs typeface="Calibri"/>
              </a:rPr>
              <a:t>elimina</a:t>
            </a:r>
            <a:r>
              <a:rPr lang="en-US">
                <a:ea typeface="Calibri"/>
                <a:cs typeface="Calibri"/>
              </a:rPr>
              <a:t> la </a:t>
            </a:r>
            <a:r>
              <a:rPr lang="en-US" err="1">
                <a:ea typeface="Calibri"/>
                <a:cs typeface="Calibri"/>
              </a:rPr>
              <a:t>brecha</a:t>
            </a:r>
            <a:r>
              <a:rPr lang="en-US">
                <a:ea typeface="Calibri"/>
                <a:cs typeface="Calibri"/>
              </a:rPr>
              <a:t> digital, al no </a:t>
            </a:r>
            <a:r>
              <a:rPr lang="en-US" err="1">
                <a:ea typeface="Calibri"/>
                <a:cs typeface="Calibri"/>
              </a:rPr>
              <a:t>necesitar</a:t>
            </a:r>
            <a:r>
              <a:rPr lang="en-US">
                <a:ea typeface="Calibri"/>
                <a:cs typeface="Calibri"/>
              </a:rPr>
              <a:t> smartphone </a:t>
            </a:r>
            <a:r>
              <a:rPr lang="en-US" err="1">
                <a:ea typeface="Calibri"/>
                <a:cs typeface="Calibri"/>
              </a:rPr>
              <a:t>ni</a:t>
            </a:r>
            <a:r>
              <a:rPr lang="en-US">
                <a:ea typeface="Calibri"/>
                <a:cs typeface="Calibri"/>
              </a:rPr>
              <a:t> </a:t>
            </a:r>
            <a:r>
              <a:rPr lang="en-US" err="1">
                <a:ea typeface="Calibri"/>
                <a:cs typeface="Calibri"/>
              </a:rPr>
              <a:t>conocimientos</a:t>
            </a:r>
            <a:r>
              <a:rPr lang="en-US">
                <a:ea typeface="Calibri"/>
                <a:cs typeface="Calibri"/>
              </a:rPr>
              <a:t> </a:t>
            </a:r>
            <a:r>
              <a:rPr lang="en-US" err="1">
                <a:ea typeface="Calibri"/>
                <a:cs typeface="Calibri"/>
              </a:rPr>
              <a:t>tecnológicos</a:t>
            </a:r>
            <a:r>
              <a:rPr lang="en-US">
                <a:ea typeface="Calibri"/>
                <a:cs typeface="Calibri"/>
              </a:rPr>
              <a:t>. Es </a:t>
            </a:r>
            <a:r>
              <a:rPr lang="en-US" err="1">
                <a:ea typeface="Calibri"/>
                <a:cs typeface="Calibri"/>
              </a:rPr>
              <a:t>además</a:t>
            </a:r>
            <a:r>
              <a:rPr lang="en-US">
                <a:ea typeface="Calibri"/>
                <a:cs typeface="Calibri"/>
              </a:rPr>
              <a:t> </a:t>
            </a:r>
            <a:r>
              <a:rPr lang="en-US" err="1">
                <a:ea typeface="Calibri"/>
                <a:cs typeface="Calibri"/>
              </a:rPr>
              <a:t>inclusiva</a:t>
            </a:r>
            <a:r>
              <a:rPr lang="en-US">
                <a:ea typeface="Calibri"/>
                <a:cs typeface="Calibri"/>
              </a:rPr>
              <a:t>, con </a:t>
            </a:r>
            <a:r>
              <a:rPr lang="en-US" err="1">
                <a:ea typeface="Calibri"/>
                <a:cs typeface="Calibri"/>
              </a:rPr>
              <a:t>su</a:t>
            </a:r>
            <a:r>
              <a:rPr lang="en-US">
                <a:ea typeface="Calibri"/>
                <a:cs typeface="Calibri"/>
              </a:rPr>
              <a:t> voice reading y </a:t>
            </a:r>
            <a:r>
              <a:rPr lang="en-US" err="1">
                <a:ea typeface="Calibri"/>
                <a:cs typeface="Calibri"/>
              </a:rPr>
              <a:t>su</a:t>
            </a:r>
            <a:r>
              <a:rPr lang="en-US">
                <a:ea typeface="Calibri"/>
                <a:cs typeface="Calibri"/>
              </a:rPr>
              <a:t> color blinded friendly interface. </a:t>
            </a:r>
            <a:r>
              <a:rPr lang="en-US" err="1">
                <a:ea typeface="Calibri"/>
                <a:cs typeface="Calibri"/>
              </a:rPr>
              <a:t>Parte</a:t>
            </a:r>
            <a:r>
              <a:rPr lang="en-US">
                <a:ea typeface="Calibri"/>
                <a:cs typeface="Calibri"/>
              </a:rPr>
              <a:t> del cartel actual, </a:t>
            </a:r>
            <a:r>
              <a:rPr lang="en-US" err="1">
                <a:ea typeface="Calibri"/>
                <a:cs typeface="Calibri"/>
              </a:rPr>
              <a:t>por</a:t>
            </a:r>
            <a:r>
              <a:rPr lang="en-US">
                <a:ea typeface="Calibri"/>
                <a:cs typeface="Calibri"/>
              </a:rPr>
              <a:t> lo </a:t>
            </a:r>
            <a:r>
              <a:rPr lang="en-US" err="1">
                <a:ea typeface="Calibri"/>
                <a:cs typeface="Calibri"/>
              </a:rPr>
              <a:t>que</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comprensión</a:t>
            </a:r>
            <a:r>
              <a:rPr lang="en-US">
                <a:ea typeface="Calibri"/>
                <a:cs typeface="Calibri"/>
              </a:rPr>
              <a:t> es </a:t>
            </a:r>
            <a:r>
              <a:rPr lang="en-US" err="1">
                <a:ea typeface="Calibri"/>
                <a:cs typeface="Calibri"/>
              </a:rPr>
              <a:t>inmediata</a:t>
            </a:r>
            <a:r>
              <a:rPr lang="en-US">
                <a:ea typeface="Calibri"/>
                <a:cs typeface="Calibri"/>
              </a:rPr>
              <a:t>. Y a </a:t>
            </a:r>
            <a:r>
              <a:rPr lang="en-US" err="1">
                <a:ea typeface="Calibri"/>
                <a:cs typeface="Calibri"/>
              </a:rPr>
              <a:t>diferencia</a:t>
            </a:r>
            <a:r>
              <a:rPr lang="en-US">
                <a:ea typeface="Calibri"/>
                <a:cs typeface="Calibri"/>
              </a:rPr>
              <a:t> de TODOS LOS DEMÁS, </a:t>
            </a:r>
            <a:r>
              <a:rPr lang="en-US" err="1">
                <a:ea typeface="Calibri"/>
                <a:cs typeface="Calibri"/>
              </a:rPr>
              <a:t>muestra</a:t>
            </a:r>
            <a:r>
              <a:rPr lang="en-US">
                <a:ea typeface="Calibri"/>
                <a:cs typeface="Calibri"/>
              </a:rPr>
              <a:t> la </a:t>
            </a:r>
            <a:r>
              <a:rPr lang="en-US" err="1">
                <a:ea typeface="Calibri"/>
                <a:cs typeface="Calibri"/>
              </a:rPr>
              <a:t>ubicación</a:t>
            </a:r>
            <a:r>
              <a:rPr lang="en-US">
                <a:ea typeface="Calibri"/>
                <a:cs typeface="Calibri"/>
              </a:rPr>
              <a:t> </a:t>
            </a:r>
            <a:r>
              <a:rPr lang="en-US" err="1">
                <a:ea typeface="Calibri"/>
                <a:cs typeface="Calibri"/>
              </a:rPr>
              <a:t>en</a:t>
            </a:r>
            <a:r>
              <a:rPr lang="en-US">
                <a:ea typeface="Calibri"/>
                <a:cs typeface="Calibri"/>
              </a:rPr>
              <a:t> </a:t>
            </a:r>
            <a:r>
              <a:rPr lang="en-US" err="1">
                <a:ea typeface="Calibri"/>
                <a:cs typeface="Calibri"/>
              </a:rPr>
              <a:t>tiempo</a:t>
            </a:r>
            <a:r>
              <a:rPr lang="en-US">
                <a:ea typeface="Calibri"/>
                <a:cs typeface="Calibri"/>
              </a:rPr>
              <a:t> real, al </a:t>
            </a:r>
            <a:r>
              <a:rPr lang="en-US" err="1">
                <a:ea typeface="Calibri"/>
                <a:cs typeface="Calibri"/>
              </a:rPr>
              <a:t>conocer</a:t>
            </a:r>
            <a:r>
              <a:rPr lang="en-US">
                <a:ea typeface="Calibri"/>
                <a:cs typeface="Calibri"/>
              </a:rPr>
              <a:t> con </a:t>
            </a:r>
            <a:r>
              <a:rPr lang="en-US" err="1">
                <a:ea typeface="Calibri"/>
                <a:cs typeface="Calibri"/>
              </a:rPr>
              <a:t>exactitud</a:t>
            </a:r>
            <a:r>
              <a:rPr lang="en-US">
                <a:ea typeface="Calibri"/>
                <a:cs typeface="Calibri"/>
              </a:rPr>
              <a:t> </a:t>
            </a:r>
            <a:r>
              <a:rPr lang="en-US" err="1">
                <a:ea typeface="Calibri"/>
                <a:cs typeface="Calibri"/>
              </a:rPr>
              <a:t>cuando</a:t>
            </a:r>
            <a:r>
              <a:rPr lang="en-US">
                <a:ea typeface="Calibri"/>
                <a:cs typeface="Calibri"/>
              </a:rPr>
              <a:t> </a:t>
            </a:r>
            <a:r>
              <a:rPr lang="en-US" err="1">
                <a:ea typeface="Calibri"/>
                <a:cs typeface="Calibri"/>
              </a:rPr>
              <a:t>pasó</a:t>
            </a:r>
            <a:r>
              <a:rPr lang="en-US">
                <a:ea typeface="Calibri"/>
                <a:cs typeface="Calibri"/>
              </a:rPr>
              <a:t> </a:t>
            </a:r>
            <a:r>
              <a:rPr lang="en-US" err="1">
                <a:ea typeface="Calibri"/>
                <a:cs typeface="Calibri"/>
              </a:rPr>
              <a:t>por</a:t>
            </a:r>
            <a:r>
              <a:rPr lang="en-US">
                <a:ea typeface="Calibri"/>
                <a:cs typeface="Calibri"/>
              </a:rPr>
              <a:t> la </a:t>
            </a:r>
            <a:r>
              <a:rPr lang="en-US" err="1">
                <a:ea typeface="Calibri"/>
                <a:cs typeface="Calibri"/>
              </a:rPr>
              <a:t>última</a:t>
            </a:r>
            <a:r>
              <a:rPr lang="en-US">
                <a:ea typeface="Calibri"/>
                <a:cs typeface="Calibri"/>
              </a:rPr>
              <a:t> </a:t>
            </a:r>
            <a:r>
              <a:rPr lang="en-US" err="1">
                <a:ea typeface="Calibri"/>
                <a:cs typeface="Calibri"/>
              </a:rPr>
              <a:t>parada</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err="1">
                <a:ea typeface="Calibri"/>
                <a:cs typeface="Calibri"/>
              </a:rPr>
              <a:t>Mantiene</a:t>
            </a:r>
            <a:r>
              <a:rPr lang="en-US">
                <a:ea typeface="Calibri"/>
                <a:cs typeface="Calibri"/>
              </a:rPr>
              <a:t> la </a:t>
            </a:r>
            <a:r>
              <a:rPr lang="en-US" err="1">
                <a:ea typeface="Calibri"/>
                <a:cs typeface="Calibri"/>
              </a:rPr>
              <a:t>identidad</a:t>
            </a:r>
            <a:r>
              <a:rPr lang="en-US">
                <a:ea typeface="Calibri"/>
                <a:cs typeface="Calibri"/>
              </a:rPr>
              <a:t> </a:t>
            </a:r>
            <a:r>
              <a:rPr lang="en-US" err="1">
                <a:ea typeface="Calibri"/>
                <a:cs typeface="Calibri"/>
              </a:rPr>
              <a:t>corporativa</a:t>
            </a:r>
            <a:r>
              <a:rPr lang="en-US">
                <a:ea typeface="Calibri"/>
                <a:cs typeface="Calibri"/>
              </a:rPr>
              <a:t> de EMT </a:t>
            </a:r>
            <a:endParaRPr lang="en-US"/>
          </a:p>
          <a:p>
            <a:r>
              <a:rPr lang="en-US">
                <a:ea typeface="Calibri"/>
                <a:cs typeface="Calibri"/>
              </a:rPr>
              <a:t>Elimina </a:t>
            </a:r>
            <a:r>
              <a:rPr lang="en-US" err="1">
                <a:ea typeface="Calibri"/>
                <a:cs typeface="Calibri"/>
              </a:rPr>
              <a:t>brecha</a:t>
            </a:r>
            <a:r>
              <a:rPr lang="en-US">
                <a:ea typeface="Calibri"/>
                <a:cs typeface="Calibri"/>
              </a:rPr>
              <a:t> digital, </a:t>
            </a:r>
            <a:r>
              <a:rPr lang="en-US" err="1">
                <a:ea typeface="Calibri"/>
                <a:cs typeface="Calibri"/>
              </a:rPr>
              <a:t>producto</a:t>
            </a:r>
            <a:r>
              <a:rPr lang="en-US">
                <a:ea typeface="Calibri"/>
                <a:cs typeface="Calibri"/>
              </a:rPr>
              <a:t> </a:t>
            </a:r>
            <a:r>
              <a:rPr lang="en-US" err="1">
                <a:ea typeface="Calibri"/>
                <a:cs typeface="Calibri"/>
              </a:rPr>
              <a:t>todo</a:t>
            </a:r>
            <a:r>
              <a:rPr lang="en-US">
                <a:ea typeface="Calibri"/>
                <a:cs typeface="Calibri"/>
              </a:rPr>
              <a:t> </a:t>
            </a:r>
            <a:r>
              <a:rPr lang="en-US" err="1">
                <a:ea typeface="Calibri"/>
                <a:cs typeface="Calibri"/>
              </a:rPr>
              <a:t>en</a:t>
            </a:r>
            <a:r>
              <a:rPr lang="en-US">
                <a:ea typeface="Calibri"/>
                <a:cs typeface="Calibri"/>
              </a:rPr>
              <a:t> 1? - sin </a:t>
            </a:r>
            <a:r>
              <a:rPr lang="en-US" err="1">
                <a:ea typeface="Calibri"/>
                <a:cs typeface="Calibri"/>
              </a:rPr>
              <a:t>necesidad</a:t>
            </a:r>
            <a:r>
              <a:rPr lang="en-US">
                <a:ea typeface="Calibri"/>
                <a:cs typeface="Calibri"/>
              </a:rPr>
              <a:t> de smartphones </a:t>
            </a:r>
            <a:r>
              <a:rPr lang="en-US" err="1">
                <a:ea typeface="Calibri"/>
                <a:cs typeface="Calibri"/>
              </a:rPr>
              <a:t>ni</a:t>
            </a:r>
            <a:r>
              <a:rPr lang="en-US">
                <a:ea typeface="Calibri"/>
                <a:cs typeface="Calibri"/>
              </a:rPr>
              <a:t> </a:t>
            </a:r>
            <a:r>
              <a:rPr lang="en-US" err="1">
                <a:ea typeface="Calibri"/>
                <a:cs typeface="Calibri"/>
              </a:rPr>
              <a:t>complementos</a:t>
            </a:r>
            <a:r>
              <a:rPr lang="en-US">
                <a:ea typeface="Calibri"/>
                <a:cs typeface="Calibri"/>
              </a:rPr>
              <a:t> </a:t>
            </a:r>
            <a:r>
              <a:rPr lang="en-US" err="1">
                <a:ea typeface="Calibri"/>
                <a:cs typeface="Calibri"/>
              </a:rPr>
              <a:t>que</a:t>
            </a:r>
            <a:r>
              <a:rPr lang="en-US">
                <a:ea typeface="Calibri"/>
                <a:cs typeface="Calibri"/>
              </a:rPr>
              <a:t> </a:t>
            </a:r>
            <a:r>
              <a:rPr lang="en-US" err="1">
                <a:ea typeface="Calibri"/>
                <a:cs typeface="Calibri"/>
              </a:rPr>
              <a:t>completen</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función</a:t>
            </a:r>
            <a:endParaRPr lang="en-US">
              <a:ea typeface="Calibri"/>
              <a:cs typeface="Calibri"/>
            </a:endParaRPr>
          </a:p>
          <a:p>
            <a:r>
              <a:rPr lang="en-US">
                <a:ea typeface="Calibri"/>
                <a:cs typeface="Calibri"/>
              </a:rPr>
              <a:t>Empleo de green energies</a:t>
            </a:r>
          </a:p>
          <a:p>
            <a:r>
              <a:rPr lang="en-US" err="1">
                <a:ea typeface="Calibri"/>
                <a:cs typeface="Calibri"/>
              </a:rPr>
              <a:t>Función</a:t>
            </a:r>
            <a:r>
              <a:rPr lang="en-US">
                <a:ea typeface="Calibri"/>
                <a:cs typeface="Calibri"/>
              </a:rPr>
              <a:t> </a:t>
            </a:r>
            <a:r>
              <a:rPr lang="en-US" err="1">
                <a:ea typeface="Calibri"/>
                <a:cs typeface="Calibri"/>
              </a:rPr>
              <a:t>básica</a:t>
            </a:r>
            <a:r>
              <a:rPr lang="en-US">
                <a:ea typeface="Calibri"/>
                <a:cs typeface="Calibri"/>
              </a:rPr>
              <a:t> </a:t>
            </a:r>
            <a:r>
              <a:rPr lang="en-US" err="1">
                <a:ea typeface="Calibri"/>
                <a:cs typeface="Calibri"/>
              </a:rPr>
              <a:t>garantizada</a:t>
            </a:r>
            <a:r>
              <a:rPr lang="en-US">
                <a:ea typeface="Calibri"/>
                <a:cs typeface="Calibri"/>
              </a:rPr>
              <a:t>/</a:t>
            </a:r>
            <a:r>
              <a:rPr lang="en-US" err="1">
                <a:ea typeface="Calibri"/>
                <a:cs typeface="Calibri"/>
              </a:rPr>
              <a:t>cubierta</a:t>
            </a:r>
            <a:r>
              <a:rPr lang="en-US">
                <a:ea typeface="Calibri"/>
                <a:cs typeface="Calibri"/>
              </a:rPr>
              <a:t> - PRODUCTO RESILIENTE</a:t>
            </a:r>
          </a:p>
          <a:p>
            <a:endParaRPr lang="en-US">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ea typeface="Calibri"/>
                <a:cs typeface="Calibri"/>
              </a:rPr>
              <a:t>Ubibus</a:t>
            </a:r>
            <a:r>
              <a:rPr lang="en-US">
                <a:ea typeface="Calibri"/>
                <a:cs typeface="Calibri"/>
              </a:rPr>
              <a:t> </a:t>
            </a:r>
            <a:r>
              <a:rPr lang="en-US" err="1">
                <a:ea typeface="Calibri"/>
                <a:cs typeface="Calibri"/>
              </a:rPr>
              <a:t>te</a:t>
            </a:r>
            <a:r>
              <a:rPr lang="en-US">
                <a:ea typeface="Calibri"/>
                <a:cs typeface="Calibri"/>
              </a:rPr>
              <a:t> </a:t>
            </a:r>
            <a:r>
              <a:rPr lang="en-US" err="1">
                <a:ea typeface="Calibri"/>
                <a:cs typeface="Calibri"/>
              </a:rPr>
              <a:t>sirve</a:t>
            </a:r>
            <a:r>
              <a:rPr lang="en-US">
                <a:ea typeface="Calibri"/>
                <a:cs typeface="Calibri"/>
              </a:rPr>
              <a:t> para </a:t>
            </a:r>
            <a:r>
              <a:rPr lang="en-US" err="1">
                <a:ea typeface="Calibri"/>
                <a:cs typeface="Calibri"/>
              </a:rPr>
              <a:t>comparar</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avance</a:t>
            </a:r>
            <a:r>
              <a:rPr lang="en-US">
                <a:ea typeface="Calibri"/>
                <a:cs typeface="Calibri"/>
              </a:rPr>
              <a:t> de </a:t>
            </a:r>
            <a:r>
              <a:rPr lang="en-US" err="1">
                <a:ea typeface="Calibri"/>
                <a:cs typeface="Calibri"/>
              </a:rPr>
              <a:t>varios</a:t>
            </a:r>
            <a:r>
              <a:rPr lang="en-US">
                <a:ea typeface="Calibri"/>
                <a:cs typeface="Calibri"/>
              </a:rPr>
              <a:t> buses a la </a:t>
            </a:r>
            <a:r>
              <a:rPr lang="en-US" err="1">
                <a:ea typeface="Calibri"/>
                <a:cs typeface="Calibri"/>
              </a:rPr>
              <a:t>vez</a:t>
            </a:r>
            <a:r>
              <a:rPr lang="en-US">
                <a:ea typeface="Calibri"/>
                <a:cs typeface="Calibri"/>
              </a:rPr>
              <a:t> (maps solo </a:t>
            </a:r>
            <a:r>
              <a:rPr lang="en-US" err="1">
                <a:ea typeface="Calibri"/>
                <a:cs typeface="Calibri"/>
              </a:rPr>
              <a:t>te</a:t>
            </a:r>
            <a:r>
              <a:rPr lang="en-US">
                <a:ea typeface="Calibri"/>
                <a:cs typeface="Calibri"/>
              </a:rPr>
              <a:t> </a:t>
            </a:r>
            <a:r>
              <a:rPr lang="en-US" err="1">
                <a:ea typeface="Calibri"/>
                <a:cs typeface="Calibri"/>
              </a:rPr>
              <a:t>muestra</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tuyo</a:t>
            </a:r>
            <a:r>
              <a:rPr lang="en-US">
                <a:ea typeface="Calibri"/>
                <a:cs typeface="Calibri"/>
              </a:rPr>
              <a:t> </a:t>
            </a:r>
            <a:r>
              <a:rPr lang="en-US" err="1">
                <a:ea typeface="Calibri"/>
                <a:cs typeface="Calibri"/>
              </a:rPr>
              <a:t>cuando</a:t>
            </a:r>
            <a:r>
              <a:rPr lang="en-US">
                <a:ea typeface="Calibri"/>
                <a:cs typeface="Calibri"/>
              </a:rPr>
              <a:t> </a:t>
            </a:r>
            <a:r>
              <a:rPr lang="en-US" err="1">
                <a:ea typeface="Calibri"/>
                <a:cs typeface="Calibri"/>
              </a:rPr>
              <a:t>estás</a:t>
            </a:r>
            <a:r>
              <a:rPr lang="en-US">
                <a:ea typeface="Calibri"/>
                <a:cs typeface="Calibri"/>
              </a:rPr>
              <a:t> </a:t>
            </a:r>
            <a:r>
              <a:rPr lang="en-US" err="1">
                <a:ea typeface="Calibri"/>
                <a:cs typeface="Calibri"/>
              </a:rPr>
              <a:t>ya</a:t>
            </a:r>
            <a:r>
              <a:rPr lang="en-US">
                <a:ea typeface="Calibri"/>
                <a:cs typeface="Calibri"/>
              </a:rPr>
              <a:t> </a:t>
            </a:r>
            <a:r>
              <a:rPr lang="en-US" err="1">
                <a:ea typeface="Calibri"/>
                <a:cs typeface="Calibri"/>
              </a:rPr>
              <a:t>en</a:t>
            </a:r>
            <a:r>
              <a:rPr lang="en-US">
                <a:ea typeface="Calibri"/>
                <a:cs typeface="Calibri"/>
              </a:rPr>
              <a:t> modo </a:t>
            </a:r>
            <a:r>
              <a:rPr lang="en-US" err="1">
                <a:ea typeface="Calibri"/>
                <a:cs typeface="Calibri"/>
              </a:rPr>
              <a:t>navegar</a:t>
            </a:r>
            <a:r>
              <a:rPr lang="en-US">
                <a:ea typeface="Calibri"/>
                <a:cs typeface="Calibri"/>
              </a:rPr>
              <a:t>)</a:t>
            </a:r>
          </a:p>
          <a:p>
            <a:endParaRPr lang="en-US">
              <a:ea typeface="Calibri"/>
              <a:cs typeface="Calibri"/>
            </a:endParaRPr>
          </a:p>
        </p:txBody>
      </p:sp>
      <p:sp>
        <p:nvSpPr>
          <p:cNvPr id="4" name="Slide Number Placeholder 3">
            <a:extLst>
              <a:ext uri="{FF2B5EF4-FFF2-40B4-BE49-F238E27FC236}">
                <a16:creationId xmlns:a16="http://schemas.microsoft.com/office/drawing/2014/main" id="{4B679622-DB92-4292-DA4E-764A6E529CC8}"/>
              </a:ext>
            </a:extLst>
          </p:cNvPr>
          <p:cNvSpPr>
            <a:spLocks noGrp="1"/>
          </p:cNvSpPr>
          <p:nvPr>
            <p:ph type="sldNum" sz="quarter" idx="5"/>
          </p:nvPr>
        </p:nvSpPr>
        <p:spPr/>
        <p:txBody>
          <a:bodyPr/>
          <a:lstStyle/>
          <a:p>
            <a:fld id="{1869EA4B-FDF3-4C74-8961-01CAD5D8DB5A}" type="slidenum">
              <a:t>11</a:t>
            </a:fld>
            <a:endParaRPr lang="en-US"/>
          </a:p>
        </p:txBody>
      </p:sp>
    </p:spTree>
    <p:extLst>
      <p:ext uri="{BB962C8B-B14F-4D97-AF65-F5344CB8AC3E}">
        <p14:creationId xmlns:p14="http://schemas.microsoft.com/office/powerpoint/2010/main" val="3527363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501D9-D94E-482F-5D68-1DB0F7E58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3B648-2AFF-784B-FF31-F077981B0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235FA-1B22-8102-8714-0B06CF6991EE}"/>
              </a:ext>
            </a:extLst>
          </p:cNvPr>
          <p:cNvSpPr>
            <a:spLocks noGrp="1"/>
          </p:cNvSpPr>
          <p:nvPr>
            <p:ph type="body" idx="1"/>
          </p:nvPr>
        </p:nvSpPr>
        <p:spPr/>
        <p:txBody>
          <a:bodyPr/>
          <a:lstStyle/>
          <a:p>
            <a:r>
              <a:rPr lang="en-US">
                <a:ea typeface="Calibri"/>
                <a:cs typeface="Calibri"/>
              </a:rPr>
              <a:t>10s</a:t>
            </a:r>
          </a:p>
          <a:p>
            <a:endParaRPr lang="en-US">
              <a:ea typeface="Calibri"/>
              <a:cs typeface="Calibri"/>
            </a:endParaRPr>
          </a:p>
          <a:p>
            <a:r>
              <a:rPr lang="en-US" err="1">
                <a:ea typeface="Calibri"/>
                <a:cs typeface="Calibri"/>
              </a:rPr>
              <a:t>Ubibus</a:t>
            </a:r>
            <a:r>
              <a:rPr lang="en-US">
                <a:ea typeface="Calibri"/>
                <a:cs typeface="Calibri"/>
              </a:rPr>
              <a:t> values align with sustainable urban solutions. We overcome daily obstacles in an affordable way, encouraging active mobility and reducing congestion.</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Pasar a la </a:t>
            </a:r>
            <a:r>
              <a:rPr lang="en-US" err="1">
                <a:ea typeface="Calibri"/>
                <a:cs typeface="Calibri"/>
              </a:rPr>
              <a:t>izquierda</a:t>
            </a:r>
            <a:r>
              <a:rPr lang="en-US">
                <a:ea typeface="Calibri"/>
                <a:cs typeface="Calibri"/>
              </a:rPr>
              <a:t> y </a:t>
            </a:r>
            <a:r>
              <a:rPr lang="en-US" err="1">
                <a:ea typeface="Calibri"/>
                <a:cs typeface="Calibri"/>
              </a:rPr>
              <a:t>en</a:t>
            </a:r>
            <a:r>
              <a:rPr lang="en-US">
                <a:ea typeface="Calibri"/>
                <a:cs typeface="Calibri"/>
              </a:rPr>
              <a:t> </a:t>
            </a:r>
            <a:r>
              <a:rPr lang="en-US" err="1">
                <a:ea typeface="Calibri"/>
                <a:cs typeface="Calibri"/>
              </a:rPr>
              <a:t>blanco</a:t>
            </a:r>
            <a:r>
              <a:rPr lang="en-US">
                <a:ea typeface="Calibri"/>
                <a:cs typeface="Calibri"/>
              </a:rPr>
              <a:t> y negro. Para </a:t>
            </a:r>
            <a:r>
              <a:rPr lang="en-US" err="1">
                <a:ea typeface="Calibri"/>
                <a:cs typeface="Calibri"/>
              </a:rPr>
              <a:t>hablar</a:t>
            </a:r>
            <a:r>
              <a:rPr lang="en-US">
                <a:ea typeface="Calibri"/>
                <a:cs typeface="Calibri"/>
              </a:rPr>
              <a:t> de UBIBUS</a:t>
            </a:r>
            <a:endParaRPr lang="en-US"/>
          </a:p>
          <a:p>
            <a:r>
              <a:rPr lang="en-US" err="1">
                <a:ea typeface="Calibri"/>
                <a:cs typeface="Calibri"/>
              </a:rPr>
              <a:t>Mantiene</a:t>
            </a:r>
            <a:r>
              <a:rPr lang="en-US">
                <a:ea typeface="Calibri"/>
                <a:cs typeface="Calibri"/>
              </a:rPr>
              <a:t> la </a:t>
            </a:r>
            <a:r>
              <a:rPr lang="en-US" err="1">
                <a:ea typeface="Calibri"/>
                <a:cs typeface="Calibri"/>
              </a:rPr>
              <a:t>identidad</a:t>
            </a:r>
            <a:r>
              <a:rPr lang="en-US">
                <a:ea typeface="Calibri"/>
                <a:cs typeface="Calibri"/>
              </a:rPr>
              <a:t> </a:t>
            </a:r>
            <a:r>
              <a:rPr lang="en-US" err="1">
                <a:ea typeface="Calibri"/>
                <a:cs typeface="Calibri"/>
              </a:rPr>
              <a:t>corporativa</a:t>
            </a:r>
            <a:r>
              <a:rPr lang="en-US">
                <a:ea typeface="Calibri"/>
                <a:cs typeface="Calibri"/>
              </a:rPr>
              <a:t> de EMT </a:t>
            </a:r>
            <a:endParaRPr lang="en-US"/>
          </a:p>
          <a:p>
            <a:r>
              <a:rPr lang="en-US">
                <a:ea typeface="Calibri"/>
                <a:cs typeface="Calibri"/>
              </a:rPr>
              <a:t>Elimina </a:t>
            </a:r>
            <a:r>
              <a:rPr lang="en-US" err="1">
                <a:ea typeface="Calibri"/>
                <a:cs typeface="Calibri"/>
              </a:rPr>
              <a:t>brecha</a:t>
            </a:r>
            <a:r>
              <a:rPr lang="en-US">
                <a:ea typeface="Calibri"/>
                <a:cs typeface="Calibri"/>
              </a:rPr>
              <a:t> digital, </a:t>
            </a:r>
            <a:r>
              <a:rPr lang="en-US" err="1">
                <a:ea typeface="Calibri"/>
                <a:cs typeface="Calibri"/>
              </a:rPr>
              <a:t>producto</a:t>
            </a:r>
            <a:r>
              <a:rPr lang="en-US">
                <a:ea typeface="Calibri"/>
                <a:cs typeface="Calibri"/>
              </a:rPr>
              <a:t> </a:t>
            </a:r>
            <a:r>
              <a:rPr lang="en-US" err="1">
                <a:ea typeface="Calibri"/>
                <a:cs typeface="Calibri"/>
              </a:rPr>
              <a:t>todo</a:t>
            </a:r>
            <a:r>
              <a:rPr lang="en-US">
                <a:ea typeface="Calibri"/>
                <a:cs typeface="Calibri"/>
              </a:rPr>
              <a:t> </a:t>
            </a:r>
            <a:r>
              <a:rPr lang="en-US" err="1">
                <a:ea typeface="Calibri"/>
                <a:cs typeface="Calibri"/>
              </a:rPr>
              <a:t>en</a:t>
            </a:r>
            <a:r>
              <a:rPr lang="en-US">
                <a:ea typeface="Calibri"/>
                <a:cs typeface="Calibri"/>
              </a:rPr>
              <a:t> 1? - sin </a:t>
            </a:r>
            <a:r>
              <a:rPr lang="en-US" err="1">
                <a:ea typeface="Calibri"/>
                <a:cs typeface="Calibri"/>
              </a:rPr>
              <a:t>necesidad</a:t>
            </a:r>
            <a:r>
              <a:rPr lang="en-US">
                <a:ea typeface="Calibri"/>
                <a:cs typeface="Calibri"/>
              </a:rPr>
              <a:t> de smartphones </a:t>
            </a:r>
            <a:r>
              <a:rPr lang="en-US" err="1">
                <a:ea typeface="Calibri"/>
                <a:cs typeface="Calibri"/>
              </a:rPr>
              <a:t>ni</a:t>
            </a:r>
            <a:r>
              <a:rPr lang="en-US">
                <a:ea typeface="Calibri"/>
                <a:cs typeface="Calibri"/>
              </a:rPr>
              <a:t> </a:t>
            </a:r>
            <a:r>
              <a:rPr lang="en-US" err="1">
                <a:ea typeface="Calibri"/>
                <a:cs typeface="Calibri"/>
              </a:rPr>
              <a:t>complementos</a:t>
            </a:r>
            <a:r>
              <a:rPr lang="en-US">
                <a:ea typeface="Calibri"/>
                <a:cs typeface="Calibri"/>
              </a:rPr>
              <a:t> </a:t>
            </a:r>
            <a:r>
              <a:rPr lang="en-US" err="1">
                <a:ea typeface="Calibri"/>
                <a:cs typeface="Calibri"/>
              </a:rPr>
              <a:t>que</a:t>
            </a:r>
            <a:r>
              <a:rPr lang="en-US">
                <a:ea typeface="Calibri"/>
                <a:cs typeface="Calibri"/>
              </a:rPr>
              <a:t> </a:t>
            </a:r>
            <a:r>
              <a:rPr lang="en-US" err="1">
                <a:ea typeface="Calibri"/>
                <a:cs typeface="Calibri"/>
              </a:rPr>
              <a:t>completen</a:t>
            </a:r>
            <a:r>
              <a:rPr lang="en-US">
                <a:ea typeface="Calibri"/>
                <a:cs typeface="Calibri"/>
              </a:rPr>
              <a:t> </a:t>
            </a:r>
            <a:r>
              <a:rPr lang="en-US" err="1">
                <a:ea typeface="Calibri"/>
                <a:cs typeface="Calibri"/>
              </a:rPr>
              <a:t>su</a:t>
            </a:r>
            <a:r>
              <a:rPr lang="en-US">
                <a:ea typeface="Calibri"/>
                <a:cs typeface="Calibri"/>
              </a:rPr>
              <a:t> </a:t>
            </a:r>
            <a:r>
              <a:rPr lang="en-US" err="1">
                <a:ea typeface="Calibri"/>
                <a:cs typeface="Calibri"/>
              </a:rPr>
              <a:t>función</a:t>
            </a:r>
            <a:endParaRPr lang="en-US">
              <a:ea typeface="Calibri"/>
              <a:cs typeface="Calibri"/>
            </a:endParaRPr>
          </a:p>
          <a:p>
            <a:r>
              <a:rPr lang="en-US">
                <a:ea typeface="Calibri"/>
                <a:cs typeface="Calibri"/>
              </a:rPr>
              <a:t>Empleo de green energies</a:t>
            </a:r>
          </a:p>
          <a:p>
            <a:r>
              <a:rPr lang="en-US" err="1">
                <a:ea typeface="Calibri"/>
                <a:cs typeface="Calibri"/>
              </a:rPr>
              <a:t>Función</a:t>
            </a:r>
            <a:r>
              <a:rPr lang="en-US">
                <a:ea typeface="Calibri"/>
                <a:cs typeface="Calibri"/>
              </a:rPr>
              <a:t> </a:t>
            </a:r>
            <a:r>
              <a:rPr lang="en-US" err="1">
                <a:ea typeface="Calibri"/>
                <a:cs typeface="Calibri"/>
              </a:rPr>
              <a:t>básica</a:t>
            </a:r>
            <a:r>
              <a:rPr lang="en-US">
                <a:ea typeface="Calibri"/>
                <a:cs typeface="Calibri"/>
              </a:rPr>
              <a:t> </a:t>
            </a:r>
            <a:r>
              <a:rPr lang="en-US" err="1">
                <a:ea typeface="Calibri"/>
                <a:cs typeface="Calibri"/>
              </a:rPr>
              <a:t>garantizada</a:t>
            </a:r>
            <a:r>
              <a:rPr lang="en-US">
                <a:ea typeface="Calibri"/>
                <a:cs typeface="Calibri"/>
              </a:rPr>
              <a:t>/</a:t>
            </a:r>
            <a:r>
              <a:rPr lang="en-US" err="1">
                <a:ea typeface="Calibri"/>
                <a:cs typeface="Calibri"/>
              </a:rPr>
              <a:t>cubierta</a:t>
            </a:r>
            <a:endParaRPr lang="en-US">
              <a:ea typeface="Calibri"/>
              <a:cs typeface="Calibri"/>
            </a:endParaRPr>
          </a:p>
          <a:p>
            <a:endParaRPr lang="en-US">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ea typeface="Calibri"/>
                <a:cs typeface="Calibri"/>
              </a:rPr>
              <a:t>Ubibus</a:t>
            </a:r>
            <a:r>
              <a:rPr lang="en-US">
                <a:ea typeface="Calibri"/>
                <a:cs typeface="Calibri"/>
              </a:rPr>
              <a:t> </a:t>
            </a:r>
            <a:r>
              <a:rPr lang="en-US" err="1">
                <a:ea typeface="Calibri"/>
                <a:cs typeface="Calibri"/>
              </a:rPr>
              <a:t>te</a:t>
            </a:r>
            <a:r>
              <a:rPr lang="en-US">
                <a:ea typeface="Calibri"/>
                <a:cs typeface="Calibri"/>
              </a:rPr>
              <a:t> </a:t>
            </a:r>
            <a:r>
              <a:rPr lang="en-US" err="1">
                <a:ea typeface="Calibri"/>
                <a:cs typeface="Calibri"/>
              </a:rPr>
              <a:t>sirve</a:t>
            </a:r>
            <a:r>
              <a:rPr lang="en-US">
                <a:ea typeface="Calibri"/>
                <a:cs typeface="Calibri"/>
              </a:rPr>
              <a:t> para </a:t>
            </a:r>
            <a:r>
              <a:rPr lang="en-US" err="1">
                <a:ea typeface="Calibri"/>
                <a:cs typeface="Calibri"/>
              </a:rPr>
              <a:t>comparar</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avance</a:t>
            </a:r>
            <a:r>
              <a:rPr lang="en-US">
                <a:ea typeface="Calibri"/>
                <a:cs typeface="Calibri"/>
              </a:rPr>
              <a:t> de </a:t>
            </a:r>
            <a:r>
              <a:rPr lang="en-US" err="1">
                <a:ea typeface="Calibri"/>
                <a:cs typeface="Calibri"/>
              </a:rPr>
              <a:t>varios</a:t>
            </a:r>
            <a:r>
              <a:rPr lang="en-US">
                <a:ea typeface="Calibri"/>
                <a:cs typeface="Calibri"/>
              </a:rPr>
              <a:t> buses a la </a:t>
            </a:r>
            <a:r>
              <a:rPr lang="en-US" err="1">
                <a:ea typeface="Calibri"/>
                <a:cs typeface="Calibri"/>
              </a:rPr>
              <a:t>vez</a:t>
            </a:r>
            <a:r>
              <a:rPr lang="en-US">
                <a:ea typeface="Calibri"/>
                <a:cs typeface="Calibri"/>
              </a:rPr>
              <a:t> (maps solo </a:t>
            </a:r>
            <a:r>
              <a:rPr lang="en-US" err="1">
                <a:ea typeface="Calibri"/>
                <a:cs typeface="Calibri"/>
              </a:rPr>
              <a:t>te</a:t>
            </a:r>
            <a:r>
              <a:rPr lang="en-US">
                <a:ea typeface="Calibri"/>
                <a:cs typeface="Calibri"/>
              </a:rPr>
              <a:t> </a:t>
            </a:r>
            <a:r>
              <a:rPr lang="en-US" err="1">
                <a:ea typeface="Calibri"/>
                <a:cs typeface="Calibri"/>
              </a:rPr>
              <a:t>muestra</a:t>
            </a:r>
            <a:r>
              <a:rPr lang="en-US">
                <a:ea typeface="Calibri"/>
                <a:cs typeface="Calibri"/>
              </a:rPr>
              <a:t> </a:t>
            </a:r>
            <a:r>
              <a:rPr lang="en-US" err="1">
                <a:ea typeface="Calibri"/>
                <a:cs typeface="Calibri"/>
              </a:rPr>
              <a:t>el</a:t>
            </a:r>
            <a:r>
              <a:rPr lang="en-US">
                <a:ea typeface="Calibri"/>
                <a:cs typeface="Calibri"/>
              </a:rPr>
              <a:t> </a:t>
            </a:r>
            <a:r>
              <a:rPr lang="en-US" err="1">
                <a:ea typeface="Calibri"/>
                <a:cs typeface="Calibri"/>
              </a:rPr>
              <a:t>tuyo</a:t>
            </a:r>
            <a:r>
              <a:rPr lang="en-US">
                <a:ea typeface="Calibri"/>
                <a:cs typeface="Calibri"/>
              </a:rPr>
              <a:t> </a:t>
            </a:r>
            <a:r>
              <a:rPr lang="en-US" err="1">
                <a:ea typeface="Calibri"/>
                <a:cs typeface="Calibri"/>
              </a:rPr>
              <a:t>cuando</a:t>
            </a:r>
            <a:r>
              <a:rPr lang="en-US">
                <a:ea typeface="Calibri"/>
                <a:cs typeface="Calibri"/>
              </a:rPr>
              <a:t> </a:t>
            </a:r>
            <a:r>
              <a:rPr lang="en-US" err="1">
                <a:ea typeface="Calibri"/>
                <a:cs typeface="Calibri"/>
              </a:rPr>
              <a:t>estás</a:t>
            </a:r>
            <a:r>
              <a:rPr lang="en-US">
                <a:ea typeface="Calibri"/>
                <a:cs typeface="Calibri"/>
              </a:rPr>
              <a:t> </a:t>
            </a:r>
            <a:r>
              <a:rPr lang="en-US" err="1">
                <a:ea typeface="Calibri"/>
                <a:cs typeface="Calibri"/>
              </a:rPr>
              <a:t>ya</a:t>
            </a:r>
            <a:r>
              <a:rPr lang="en-US">
                <a:ea typeface="Calibri"/>
                <a:cs typeface="Calibri"/>
              </a:rPr>
              <a:t> </a:t>
            </a:r>
            <a:r>
              <a:rPr lang="en-US" err="1">
                <a:ea typeface="Calibri"/>
                <a:cs typeface="Calibri"/>
              </a:rPr>
              <a:t>en</a:t>
            </a:r>
            <a:r>
              <a:rPr lang="en-US">
                <a:ea typeface="Calibri"/>
                <a:cs typeface="Calibri"/>
              </a:rPr>
              <a:t> modo </a:t>
            </a:r>
            <a:r>
              <a:rPr lang="en-US" err="1">
                <a:ea typeface="Calibri"/>
                <a:cs typeface="Calibri"/>
              </a:rPr>
              <a:t>navegar</a:t>
            </a:r>
            <a:r>
              <a:rPr lang="en-US">
                <a:ea typeface="Calibri"/>
                <a:cs typeface="Calibri"/>
              </a:rPr>
              <a:t>)</a:t>
            </a:r>
          </a:p>
          <a:p>
            <a:endParaRPr lang="en-US">
              <a:ea typeface="Calibri"/>
              <a:cs typeface="Calibri"/>
            </a:endParaRPr>
          </a:p>
        </p:txBody>
      </p:sp>
      <p:sp>
        <p:nvSpPr>
          <p:cNvPr id="4" name="Slide Number Placeholder 3">
            <a:extLst>
              <a:ext uri="{FF2B5EF4-FFF2-40B4-BE49-F238E27FC236}">
                <a16:creationId xmlns:a16="http://schemas.microsoft.com/office/drawing/2014/main" id="{305FF509-3D8B-8ABF-0BBB-17950FE37BD3}"/>
              </a:ext>
            </a:extLst>
          </p:cNvPr>
          <p:cNvSpPr>
            <a:spLocks noGrp="1"/>
          </p:cNvSpPr>
          <p:nvPr>
            <p:ph type="sldNum" sz="quarter" idx="5"/>
          </p:nvPr>
        </p:nvSpPr>
        <p:spPr/>
        <p:txBody>
          <a:bodyPr/>
          <a:lstStyle/>
          <a:p>
            <a:fld id="{1869EA4B-FDF3-4C74-8961-01CAD5D8DB5A}" type="slidenum">
              <a:t>12</a:t>
            </a:fld>
            <a:endParaRPr lang="en-US"/>
          </a:p>
        </p:txBody>
      </p:sp>
    </p:spTree>
    <p:extLst>
      <p:ext uri="{BB962C8B-B14F-4D97-AF65-F5344CB8AC3E}">
        <p14:creationId xmlns:p14="http://schemas.microsoft.com/office/powerpoint/2010/main" val="1466324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F3B8-516A-C402-D71C-41E110F1A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E9981-AB87-BCF3-860C-B01C8086B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68515-0C6B-6F00-A8FF-B0D3EB86FC7A}"/>
              </a:ext>
            </a:extLst>
          </p:cNvPr>
          <p:cNvSpPr>
            <a:spLocks noGrp="1"/>
          </p:cNvSpPr>
          <p:nvPr>
            <p:ph type="body" idx="1"/>
          </p:nvPr>
        </p:nvSpPr>
        <p:spPr/>
        <p:txBody>
          <a:bodyPr/>
          <a:lstStyle/>
          <a:p>
            <a:r>
              <a:rPr lang="en-US">
                <a:ea typeface="Calibri"/>
                <a:cs typeface="Calibri"/>
              </a:rPr>
              <a:t>10s</a:t>
            </a:r>
          </a:p>
          <a:p>
            <a:endParaRPr lang="en-US">
              <a:ea typeface="Calibri"/>
              <a:cs typeface="Calibri"/>
            </a:endParaRPr>
          </a:p>
          <a:p>
            <a:r>
              <a:rPr lang="en-US"/>
              <a:t>We have estimated the costs at 350</a:t>
            </a:r>
            <a:r>
              <a:rPr lang="en-US" sz="1200" b="0">
                <a:solidFill>
                  <a:schemeClr val="bg2">
                    <a:lumMod val="25000"/>
                  </a:schemeClr>
                </a:solidFill>
              </a:rPr>
              <a:t>€</a:t>
            </a:r>
            <a:r>
              <a:rPr lang="en-US" sz="1200" b="1">
                <a:solidFill>
                  <a:schemeClr val="bg2">
                    <a:lumMod val="25000"/>
                  </a:schemeClr>
                </a:solidFill>
              </a:rPr>
              <a:t> </a:t>
            </a:r>
            <a:r>
              <a:rPr lang="en-US"/>
              <a:t>per module. And we have found one route for each financing case, with room for improvement in the first scenario.</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5F26FAAE-8EAD-CD9E-1F2D-7423E3EBC76B}"/>
              </a:ext>
            </a:extLst>
          </p:cNvPr>
          <p:cNvSpPr>
            <a:spLocks noGrp="1"/>
          </p:cNvSpPr>
          <p:nvPr>
            <p:ph type="sldNum" sz="quarter" idx="5"/>
          </p:nvPr>
        </p:nvSpPr>
        <p:spPr/>
        <p:txBody>
          <a:bodyPr/>
          <a:lstStyle/>
          <a:p>
            <a:fld id="{1869EA4B-FDF3-4C74-8961-01CAD5D8DB5A}" type="slidenum">
              <a:t>13</a:t>
            </a:fld>
            <a:endParaRPr lang="en-US"/>
          </a:p>
        </p:txBody>
      </p:sp>
    </p:spTree>
    <p:extLst>
      <p:ext uri="{BB962C8B-B14F-4D97-AF65-F5344CB8AC3E}">
        <p14:creationId xmlns:p14="http://schemas.microsoft.com/office/powerpoint/2010/main" val="2883731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A1786-7805-A494-BEAC-A627EC4FB47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2C8ADB-84D5-7EE6-14F8-A6CDFAA31D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84F3FB-7E6F-575E-53E4-0091C9218E0A}"/>
              </a:ext>
            </a:extLst>
          </p:cNvPr>
          <p:cNvSpPr>
            <a:spLocks noGrp="1"/>
          </p:cNvSpPr>
          <p:nvPr>
            <p:ph type="body" idx="1"/>
          </p:nvPr>
        </p:nvSpPr>
        <p:spPr/>
        <p:txBody>
          <a:bodyPr/>
          <a:lstStyle/>
          <a:p>
            <a:pPr rtl="0"/>
            <a:r>
              <a:rPr lang="es-ES" sz="1200" b="0" i="0" u="none" strike="noStrike" kern="1200">
                <a:solidFill>
                  <a:schemeClr val="tx1"/>
                </a:solidFill>
                <a:effectLst/>
                <a:latin typeface="+mn-lt"/>
                <a:ea typeface="+mn-ea"/>
                <a:cs typeface="+mn-cs"/>
              </a:rPr>
              <a:t>10s</a:t>
            </a:r>
          </a:p>
          <a:p>
            <a:pPr rtl="0"/>
            <a:r>
              <a:rPr lang="es-ES" sz="1200" b="0" i="0" u="none" strike="noStrike" kern="1200">
                <a:solidFill>
                  <a:schemeClr val="tx1"/>
                </a:solidFill>
                <a:effectLst/>
                <a:latin typeface="+mn-lt"/>
                <a:ea typeface="+mn-ea"/>
                <a:cs typeface="+mn-cs"/>
              </a:rPr>
              <a:t>Nuestro </a:t>
            </a:r>
            <a:r>
              <a:rPr lang="es-ES" sz="1200" b="1" i="0" u="none" strike="noStrike" kern="1200">
                <a:solidFill>
                  <a:schemeClr val="tx1"/>
                </a:solidFill>
                <a:effectLst/>
                <a:latin typeface="+mn-lt"/>
                <a:ea typeface="+mn-ea"/>
                <a:cs typeface="+mn-cs"/>
              </a:rPr>
              <a:t>UBIBUS</a:t>
            </a:r>
            <a:endParaRPr lang="es-ES" b="0">
              <a:effectLst/>
            </a:endParaRPr>
          </a:p>
          <a:p>
            <a:pPr rtl="0"/>
            <a:r>
              <a:rPr lang="es-ES" sz="1200" b="0" i="0" u="none" strike="noStrike" kern="1200">
                <a:solidFill>
                  <a:schemeClr val="tx1"/>
                </a:solidFill>
                <a:effectLst/>
                <a:latin typeface="+mn-lt"/>
                <a:ea typeface="+mn-ea"/>
                <a:cs typeface="+mn-cs"/>
              </a:rPr>
              <a:t>ayuda a </a:t>
            </a:r>
            <a:r>
              <a:rPr lang="es-ES" sz="1200" b="1" i="0" u="none" strike="noStrike" kern="1200">
                <a:solidFill>
                  <a:schemeClr val="tx1"/>
                </a:solidFill>
                <a:effectLst/>
                <a:latin typeface="+mn-lt"/>
                <a:ea typeface="+mn-ea"/>
                <a:cs typeface="+mn-cs"/>
              </a:rPr>
              <a:t>cualquier usuario de bus</a:t>
            </a:r>
            <a:endParaRPr lang="es-ES" b="0">
              <a:effectLst/>
            </a:endParaRPr>
          </a:p>
          <a:p>
            <a:pPr rtl="0"/>
            <a:r>
              <a:rPr lang="es-ES" sz="1200" b="0" i="0" u="none" strike="noStrike" kern="1200">
                <a:solidFill>
                  <a:schemeClr val="tx1"/>
                </a:solidFill>
                <a:effectLst/>
                <a:latin typeface="+mn-lt"/>
                <a:ea typeface="+mn-ea"/>
                <a:cs typeface="+mn-cs"/>
              </a:rPr>
              <a:t>que quiera </a:t>
            </a:r>
            <a:r>
              <a:rPr lang="es-ES" sz="1200" b="1" i="0" u="none" strike="noStrike" kern="1200">
                <a:solidFill>
                  <a:schemeClr val="tx1"/>
                </a:solidFill>
                <a:effectLst/>
                <a:latin typeface="+mn-lt"/>
                <a:ea typeface="+mn-ea"/>
                <a:cs typeface="+mn-cs"/>
              </a:rPr>
              <a:t>conocer el estado y la ubicación de su bus en tiempo real</a:t>
            </a:r>
            <a:endParaRPr lang="es-ES" b="0">
              <a:effectLst/>
            </a:endParaRPr>
          </a:p>
          <a:p>
            <a:pPr rtl="0"/>
            <a:r>
              <a:rPr lang="es-ES" sz="1200" b="0" i="0" u="none" strike="noStrike" kern="1200">
                <a:solidFill>
                  <a:schemeClr val="tx1"/>
                </a:solidFill>
                <a:effectLst/>
                <a:latin typeface="+mn-lt"/>
                <a:ea typeface="+mn-ea"/>
                <a:cs typeface="+mn-cs"/>
              </a:rPr>
              <a:t>a través de </a:t>
            </a:r>
            <a:r>
              <a:rPr lang="es-ES" sz="1200" b="1" i="0" u="none" strike="noStrike" kern="1200">
                <a:solidFill>
                  <a:schemeClr val="tx1"/>
                </a:solidFill>
                <a:effectLst/>
                <a:latin typeface="+mn-lt"/>
                <a:ea typeface="+mn-ea"/>
                <a:cs typeface="+mn-cs"/>
              </a:rPr>
              <a:t>posibilitar ver el avance de su bus y sus posibles incidencias y evitar la frustración debida a la escasa información</a:t>
            </a:r>
            <a:endParaRPr lang="es-ES" b="0">
              <a:effectLst/>
            </a:endParaRPr>
          </a:p>
          <a:p>
            <a:r>
              <a:rPr lang="es-ES" sz="1200" b="0" i="0" u="none" strike="noStrike" kern="1200">
                <a:solidFill>
                  <a:schemeClr val="tx1"/>
                </a:solidFill>
                <a:effectLst/>
                <a:latin typeface="+mn-lt"/>
                <a:ea typeface="+mn-ea"/>
                <a:cs typeface="+mn-cs"/>
              </a:rPr>
              <a:t>no como </a:t>
            </a:r>
            <a:r>
              <a:rPr lang="es-ES" sz="1200" b="1" i="0" u="none" strike="noStrike" kern="1200">
                <a:solidFill>
                  <a:schemeClr val="tx1"/>
                </a:solidFill>
                <a:effectLst/>
                <a:latin typeface="+mn-lt"/>
                <a:ea typeface="+mn-ea"/>
                <a:cs typeface="+mn-cs"/>
              </a:rPr>
              <a:t>el sistema actual de pantallas con tiempos de llegada.</a:t>
            </a:r>
            <a:endParaRPr lang="es-ES"/>
          </a:p>
        </p:txBody>
      </p:sp>
      <p:sp>
        <p:nvSpPr>
          <p:cNvPr id="4" name="Marcador de número de diapositiva 3">
            <a:extLst>
              <a:ext uri="{FF2B5EF4-FFF2-40B4-BE49-F238E27FC236}">
                <a16:creationId xmlns:a16="http://schemas.microsoft.com/office/drawing/2014/main" id="{CC09C60D-033D-F9B6-F086-877983BA9EF6}"/>
              </a:ext>
            </a:extLst>
          </p:cNvPr>
          <p:cNvSpPr>
            <a:spLocks noGrp="1"/>
          </p:cNvSpPr>
          <p:nvPr>
            <p:ph type="sldNum" sz="quarter" idx="5"/>
          </p:nvPr>
        </p:nvSpPr>
        <p:spPr/>
        <p:txBody>
          <a:bodyPr/>
          <a:lstStyle/>
          <a:p>
            <a:fld id="{1869EA4B-FDF3-4C74-8961-01CAD5D8DB5A}" type="slidenum">
              <a:rPr lang="es-ES" smtClean="0"/>
              <a:t>14</a:t>
            </a:fld>
            <a:endParaRPr lang="es-ES"/>
          </a:p>
        </p:txBody>
      </p:sp>
    </p:spTree>
    <p:extLst>
      <p:ext uri="{BB962C8B-B14F-4D97-AF65-F5344CB8AC3E}">
        <p14:creationId xmlns:p14="http://schemas.microsoft.com/office/powerpoint/2010/main" val="1123032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FBD46-57FC-428D-A899-147BB4AF10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1FBA77-B452-6F50-5218-8D0874F610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35CA93-A162-8B54-0D82-D401DEF309E3}"/>
              </a:ext>
            </a:extLst>
          </p:cNvPr>
          <p:cNvSpPr>
            <a:spLocks noGrp="1"/>
          </p:cNvSpPr>
          <p:nvPr>
            <p:ph type="body" idx="1"/>
          </p:nvPr>
        </p:nvSpPr>
        <p:spPr/>
        <p:txBody>
          <a:bodyPr/>
          <a:lstStyle/>
          <a:p>
            <a:pPr rtl="0"/>
            <a:endParaRPr lang="es-ES" b="1">
              <a:ea typeface="Calibri"/>
              <a:cs typeface="Calibri"/>
            </a:endParaRPr>
          </a:p>
        </p:txBody>
      </p:sp>
      <p:sp>
        <p:nvSpPr>
          <p:cNvPr id="4" name="Marcador de número de diapositiva 3">
            <a:extLst>
              <a:ext uri="{FF2B5EF4-FFF2-40B4-BE49-F238E27FC236}">
                <a16:creationId xmlns:a16="http://schemas.microsoft.com/office/drawing/2014/main" id="{43222256-FEBE-25FD-6A6C-7C6432B5E850}"/>
              </a:ext>
            </a:extLst>
          </p:cNvPr>
          <p:cNvSpPr>
            <a:spLocks noGrp="1"/>
          </p:cNvSpPr>
          <p:nvPr>
            <p:ph type="sldNum" sz="quarter" idx="5"/>
          </p:nvPr>
        </p:nvSpPr>
        <p:spPr/>
        <p:txBody>
          <a:bodyPr/>
          <a:lstStyle/>
          <a:p>
            <a:fld id="{1869EA4B-FDF3-4C74-8961-01CAD5D8DB5A}" type="slidenum">
              <a:rPr lang="es-ES" smtClean="0"/>
              <a:t>15</a:t>
            </a:fld>
            <a:endParaRPr lang="es-ES"/>
          </a:p>
        </p:txBody>
      </p:sp>
    </p:spTree>
    <p:extLst>
      <p:ext uri="{BB962C8B-B14F-4D97-AF65-F5344CB8AC3E}">
        <p14:creationId xmlns:p14="http://schemas.microsoft.com/office/powerpoint/2010/main" val="4063929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039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19621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44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54281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05778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35000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9129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8299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416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1453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49864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10/6/2025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756897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microsoft.com/office/2007/relationships/hdphoto" Target="../media/hdphoto2.wdp"/><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21.png"/><Relationship Id="rId10" Type="http://schemas.openxmlformats.org/officeDocument/2006/relationships/image" Target="../media/image24.png"/><Relationship Id="rId4" Type="http://schemas.microsoft.com/office/2007/relationships/hdphoto" Target="../media/hdphoto4.wdp"/><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AD"/>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128A667B-D29C-E2BC-657F-405D4633F2BF}"/>
              </a:ext>
            </a:extLst>
          </p:cNvPr>
          <p:cNvSpPr/>
          <p:nvPr/>
        </p:nvSpPr>
        <p:spPr>
          <a:xfrm>
            <a:off x="1748725" y="322881"/>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49001235-92B8-6A79-AADE-089F5214F152}"/>
              </a:ext>
            </a:extLst>
          </p:cNvPr>
          <p:cNvSpPr/>
          <p:nvPr/>
        </p:nvSpPr>
        <p:spPr>
          <a:xfrm>
            <a:off x="1934992" y="1148"/>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3">
            <a:extLst>
              <a:ext uri="{FF2B5EF4-FFF2-40B4-BE49-F238E27FC236}">
                <a16:creationId xmlns:a16="http://schemas.microsoft.com/office/drawing/2014/main" id="{F85A55E4-9504-0FC2-1EF3-D0D332567EE6}"/>
              </a:ext>
            </a:extLst>
          </p:cNvPr>
          <p:cNvSpPr/>
          <p:nvPr/>
        </p:nvSpPr>
        <p:spPr>
          <a:xfrm>
            <a:off x="9554991" y="1147"/>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5216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AD"/>
        </a:solidFill>
        <a:effectLst/>
      </p:bgPr>
    </p:bg>
    <p:spTree>
      <p:nvGrpSpPr>
        <p:cNvPr id="1" name="">
          <a:extLst>
            <a:ext uri="{FF2B5EF4-FFF2-40B4-BE49-F238E27FC236}">
              <a16:creationId xmlns:a16="http://schemas.microsoft.com/office/drawing/2014/main" id="{8AAEDE91-FA99-70E9-0D7A-B322830D5B1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E3C3C2D-4EB6-8608-C8AF-BEB07F46499A}"/>
              </a:ext>
            </a:extLst>
          </p:cNvPr>
          <p:cNvPicPr>
            <a:picLocks noChangeAspect="1"/>
          </p:cNvPicPr>
          <p:nvPr/>
        </p:nvPicPr>
        <p:blipFill>
          <a:blip r:embed="rId3"/>
          <a:stretch>
            <a:fillRect/>
          </a:stretch>
        </p:blipFill>
        <p:spPr>
          <a:xfrm>
            <a:off x="0" y="2760"/>
            <a:ext cx="12192000" cy="4322064"/>
          </a:xfrm>
          <a:prstGeom prst="rect">
            <a:avLst/>
          </a:prstGeom>
        </p:spPr>
      </p:pic>
      <p:pic>
        <p:nvPicPr>
          <p:cNvPr id="2" name="Picture 1" descr="A blue square with white lines&#10;&#10;AI-generated content may be incorrect.">
            <a:extLst>
              <a:ext uri="{FF2B5EF4-FFF2-40B4-BE49-F238E27FC236}">
                <a16:creationId xmlns:a16="http://schemas.microsoft.com/office/drawing/2014/main" id="{3AAA826B-53E9-935D-01E1-869681D72F9B}"/>
              </a:ext>
            </a:extLst>
          </p:cNvPr>
          <p:cNvPicPr>
            <a:picLocks noChangeAspect="1"/>
          </p:cNvPicPr>
          <p:nvPr/>
        </p:nvPicPr>
        <p:blipFill>
          <a:blip r:embed="rId4"/>
          <a:stretch>
            <a:fillRect/>
          </a:stretch>
        </p:blipFill>
        <p:spPr>
          <a:xfrm>
            <a:off x="2085975" y="590550"/>
            <a:ext cx="8020050" cy="5676900"/>
          </a:xfrm>
          <a:prstGeom prst="rect">
            <a:avLst/>
          </a:prstGeom>
        </p:spPr>
      </p:pic>
      <p:sp>
        <p:nvSpPr>
          <p:cNvPr id="3" name="Content Placeholder 2">
            <a:extLst>
              <a:ext uri="{FF2B5EF4-FFF2-40B4-BE49-F238E27FC236}">
                <a16:creationId xmlns:a16="http://schemas.microsoft.com/office/drawing/2014/main" id="{4C1EE7DF-3856-A9D8-73A1-AF321AF2FF34}"/>
              </a:ext>
            </a:extLst>
          </p:cNvPr>
          <p:cNvSpPr>
            <a:spLocks noGrp="1"/>
          </p:cNvSpPr>
          <p:nvPr>
            <p:ph idx="1"/>
          </p:nvPr>
        </p:nvSpPr>
        <p:spPr>
          <a:xfrm>
            <a:off x="4360652" y="4643587"/>
            <a:ext cx="3456318" cy="1303339"/>
          </a:xfrm>
        </p:spPr>
        <p:txBody>
          <a:bodyPr vert="horz" lIns="91440" tIns="45720" rIns="91440" bIns="45720" rtlCol="0" anchor="t">
            <a:normAutofit/>
          </a:bodyPr>
          <a:lstStyle/>
          <a:p>
            <a:pPr marL="0" indent="0" algn="ctr">
              <a:buNone/>
            </a:pPr>
            <a:r>
              <a:rPr lang="en-US" sz="1600">
                <a:solidFill>
                  <a:srgbClr val="FFFFFF"/>
                </a:solidFill>
                <a:latin typeface="Seaford"/>
              </a:rPr>
              <a:t>Pablo Aparicio Martín</a:t>
            </a:r>
          </a:p>
          <a:p>
            <a:pPr marL="0" indent="0" algn="ctr">
              <a:buNone/>
            </a:pPr>
            <a:r>
              <a:rPr lang="en-US" sz="1600">
                <a:solidFill>
                  <a:srgbClr val="FFFFFF"/>
                </a:solidFill>
                <a:latin typeface="Seaford"/>
              </a:rPr>
              <a:t>Lucía Moreno Yance</a:t>
            </a:r>
          </a:p>
          <a:p>
            <a:pPr marL="0" indent="0" algn="ctr">
              <a:buNone/>
            </a:pPr>
            <a:r>
              <a:rPr lang="en-US" sz="1600">
                <a:solidFill>
                  <a:srgbClr val="FFFFFF"/>
                </a:solidFill>
                <a:latin typeface="Seaford"/>
              </a:rPr>
              <a:t>María Fernanda Rojas Bandres</a:t>
            </a:r>
          </a:p>
          <a:p>
            <a:pPr marL="0" indent="0" algn="ctr">
              <a:buNone/>
            </a:pPr>
            <a:endParaRPr lang="en-US" sz="1600">
              <a:solidFill>
                <a:srgbClr val="FFFFFF"/>
              </a:solidFill>
              <a:latin typeface="Seaford"/>
            </a:endParaRPr>
          </a:p>
        </p:txBody>
      </p:sp>
      <p:sp>
        <p:nvSpPr>
          <p:cNvPr id="5" name="Rectángulo 4">
            <a:extLst>
              <a:ext uri="{FF2B5EF4-FFF2-40B4-BE49-F238E27FC236}">
                <a16:creationId xmlns:a16="http://schemas.microsoft.com/office/drawing/2014/main" id="{DF13FABB-3A29-4694-D139-F3EAE357CE18}"/>
              </a:ext>
            </a:extLst>
          </p:cNvPr>
          <p:cNvSpPr/>
          <p:nvPr/>
        </p:nvSpPr>
        <p:spPr>
          <a:xfrm>
            <a:off x="1748725" y="322881"/>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626F434D-87BA-170F-F829-DF81500F1702}"/>
              </a:ext>
            </a:extLst>
          </p:cNvPr>
          <p:cNvSpPr/>
          <p:nvPr/>
        </p:nvSpPr>
        <p:spPr>
          <a:xfrm>
            <a:off x="1934992" y="1148"/>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3">
            <a:extLst>
              <a:ext uri="{FF2B5EF4-FFF2-40B4-BE49-F238E27FC236}">
                <a16:creationId xmlns:a16="http://schemas.microsoft.com/office/drawing/2014/main" id="{480B6E2F-237F-30B0-D551-65D9011BDD2F}"/>
              </a:ext>
            </a:extLst>
          </p:cNvPr>
          <p:cNvSpPr/>
          <p:nvPr/>
        </p:nvSpPr>
        <p:spPr>
          <a:xfrm>
            <a:off x="9554991" y="1147"/>
            <a:ext cx="1115878" cy="6509288"/>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3">
            <a:extLst>
              <a:ext uri="{FF2B5EF4-FFF2-40B4-BE49-F238E27FC236}">
                <a16:creationId xmlns:a16="http://schemas.microsoft.com/office/drawing/2014/main" id="{05E537DA-2910-F915-3E81-587F1E53EFB5}"/>
              </a:ext>
            </a:extLst>
          </p:cNvPr>
          <p:cNvSpPr/>
          <p:nvPr/>
        </p:nvSpPr>
        <p:spPr>
          <a:xfrm rot="5400000">
            <a:off x="5146279" y="-3572996"/>
            <a:ext cx="1599687" cy="9085573"/>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3">
            <a:extLst>
              <a:ext uri="{FF2B5EF4-FFF2-40B4-BE49-F238E27FC236}">
                <a16:creationId xmlns:a16="http://schemas.microsoft.com/office/drawing/2014/main" id="{E0FD5FA0-5A8E-E00F-CD1A-52CD4871DB85}"/>
              </a:ext>
            </a:extLst>
          </p:cNvPr>
          <p:cNvSpPr/>
          <p:nvPr/>
        </p:nvSpPr>
        <p:spPr>
          <a:xfrm rot="5400000">
            <a:off x="5073707" y="2160147"/>
            <a:ext cx="1599687" cy="9085573"/>
          </a:xfrm>
          <a:prstGeom prst="rect">
            <a:avLst/>
          </a:prstGeom>
          <a:solidFill>
            <a:srgbClr val="00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09748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3000"/>
                                  </p:stCondLst>
                                  <p:childTnLst>
                                    <p:set>
                                      <p:cBhvr>
                                        <p:cTn id="6" dur="1" fill="hold">
                                          <p:stCondLst>
                                            <p:cond delay="0"/>
                                          </p:stCondLst>
                                        </p:cTn>
                                        <p:tgtEl>
                                          <p:spTgt spid="2"/>
                                        </p:tgtEl>
                                        <p:attrNameLst>
                                          <p:attrName>style.visibility</p:attrName>
                                        </p:attrNameLst>
                                      </p:cBhvr>
                                      <p:to>
                                        <p:strVal val="hidden"/>
                                      </p:to>
                                    </p:set>
                                  </p:childTnLst>
                                </p:cTn>
                              </p:par>
                              <p:par>
                                <p:cTn id="7" presetID="10" presetClass="entr" presetSubtype="0" fill="hold" grpId="0" nodeType="withEffect">
                                  <p:stCondLst>
                                    <p:cond delay="50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par>
                                <p:cTn id="10" presetID="10" presetClass="entr" presetSubtype="0" fill="hold" grpId="0" nodeType="withEffect">
                                  <p:stCondLst>
                                    <p:cond delay="5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D0FC1-CF7A-5B15-B7F8-8A5C0D8B43A1}"/>
              </a:ext>
            </a:extLst>
          </p:cNvPr>
          <p:cNvSpPr>
            <a:spLocks noGrp="1"/>
          </p:cNvSpPr>
          <p:nvPr>
            <p:ph idx="1"/>
          </p:nvPr>
        </p:nvSpPr>
        <p:spPr>
          <a:xfrm>
            <a:off x="838200" y="1796870"/>
            <a:ext cx="10515600" cy="4351338"/>
          </a:xfrm>
        </p:spPr>
        <p:txBody>
          <a:bodyPr vert="horz" lIns="91440" tIns="45720" rIns="91440" bIns="45720" rtlCol="0" anchor="t">
            <a:noAutofit/>
          </a:bodyPr>
          <a:lstStyle/>
          <a:p>
            <a:pPr marL="457200" indent="-457200">
              <a:lnSpc>
                <a:spcPct val="150000"/>
              </a:lnSpc>
              <a:buAutoNum type="arabicPeriod"/>
            </a:pPr>
            <a:r>
              <a:rPr lang="en-US" sz="2200">
                <a:solidFill>
                  <a:srgbClr val="3A3A3A"/>
                </a:solidFill>
                <a:latin typeface="Aptos Light"/>
                <a:ea typeface="+mj-ea"/>
                <a:cs typeface="Aharoni"/>
              </a:rPr>
              <a:t>PROBLEM</a:t>
            </a:r>
            <a:r>
              <a:rPr lang="en-US" sz="2200">
                <a:solidFill>
                  <a:srgbClr val="3A3A3A"/>
                </a:solidFill>
                <a:latin typeface="Aptos Light"/>
              </a:rPr>
              <a:t> DEFINITION</a:t>
            </a:r>
            <a:endParaRPr lang="en-US">
              <a:latin typeface="Aptos Light"/>
            </a:endParaRPr>
          </a:p>
          <a:p>
            <a:pPr marL="457200" indent="-457200">
              <a:lnSpc>
                <a:spcPct val="150000"/>
              </a:lnSpc>
              <a:buAutoNum type="arabicPeriod"/>
            </a:pPr>
            <a:r>
              <a:rPr lang="en-US" sz="2200">
                <a:solidFill>
                  <a:srgbClr val="3A3A3A"/>
                </a:solidFill>
                <a:latin typeface="Aptos Light"/>
              </a:rPr>
              <a:t>USER PAINT POINTS</a:t>
            </a:r>
          </a:p>
          <a:p>
            <a:pPr marL="457200" indent="-457200">
              <a:lnSpc>
                <a:spcPct val="150000"/>
              </a:lnSpc>
              <a:buAutoNum type="arabicPeriod"/>
            </a:pPr>
            <a:r>
              <a:rPr lang="en-US" sz="2200" err="1">
                <a:solidFill>
                  <a:srgbClr val="3A3A3A"/>
                </a:solidFill>
                <a:latin typeface="Aptos Light"/>
              </a:rPr>
              <a:t>UBIBUS</a:t>
            </a:r>
            <a:r>
              <a:rPr lang="en-US" sz="2200">
                <a:solidFill>
                  <a:srgbClr val="3A3A3A"/>
                </a:solidFill>
                <a:latin typeface="Aptos Light"/>
              </a:rPr>
              <a:t> – PRODUCT DESCRIPTION</a:t>
            </a:r>
          </a:p>
          <a:p>
            <a:pPr marL="457200" indent="-457200">
              <a:lnSpc>
                <a:spcPct val="150000"/>
              </a:lnSpc>
              <a:buAutoNum type="arabicPeriod"/>
            </a:pPr>
            <a:r>
              <a:rPr lang="en-US" sz="2200">
                <a:solidFill>
                  <a:srgbClr val="3A3A3A"/>
                </a:solidFill>
                <a:latin typeface="Aptos Light"/>
              </a:rPr>
              <a:t>BENCHMARKING &amp; USP</a:t>
            </a:r>
          </a:p>
          <a:p>
            <a:pPr marL="457200" indent="-457200">
              <a:lnSpc>
                <a:spcPct val="150000"/>
              </a:lnSpc>
              <a:buAutoNum type="arabicPeriod"/>
            </a:pPr>
            <a:r>
              <a:rPr lang="en-US" sz="2200">
                <a:solidFill>
                  <a:srgbClr val="3A3A3A"/>
                </a:solidFill>
                <a:latin typeface="Aptos Light"/>
              </a:rPr>
              <a:t>UBIBUS VALUES</a:t>
            </a:r>
          </a:p>
          <a:p>
            <a:pPr marL="457200" indent="-457200">
              <a:lnSpc>
                <a:spcPct val="150000"/>
              </a:lnSpc>
              <a:buAutoNum type="arabicPeriod"/>
            </a:pPr>
            <a:r>
              <a:rPr lang="en-US" sz="2200">
                <a:solidFill>
                  <a:srgbClr val="3A3A3A"/>
                </a:solidFill>
                <a:latin typeface="Aptos Light"/>
              </a:rPr>
              <a:t>ESTIMATE</a:t>
            </a:r>
          </a:p>
          <a:p>
            <a:pPr marL="457200" indent="-457200">
              <a:lnSpc>
                <a:spcPct val="150000"/>
              </a:lnSpc>
              <a:buAutoNum type="arabicPeriod"/>
            </a:pPr>
            <a:r>
              <a:rPr lang="en-US" sz="2200">
                <a:solidFill>
                  <a:srgbClr val="3A3A3A"/>
                </a:solidFill>
                <a:latin typeface="Aptos Light"/>
              </a:rPr>
              <a:t>PITCH</a:t>
            </a:r>
          </a:p>
          <a:p>
            <a:pPr marL="0" indent="0">
              <a:buNone/>
            </a:pPr>
            <a:endParaRPr lang="en-US" sz="2200">
              <a:solidFill>
                <a:srgbClr val="3A3A3A"/>
              </a:solidFill>
              <a:latin typeface="Aptos Light"/>
            </a:endParaRPr>
          </a:p>
          <a:p>
            <a:pPr marL="0" indent="0">
              <a:buNone/>
            </a:pPr>
            <a:endParaRPr lang="en-US" sz="2200">
              <a:solidFill>
                <a:srgbClr val="3A3A3A"/>
              </a:solidFill>
              <a:latin typeface="Aptos Light"/>
            </a:endParaRPr>
          </a:p>
        </p:txBody>
      </p:sp>
      <p:sp>
        <p:nvSpPr>
          <p:cNvPr id="7" name="Title 1">
            <a:extLst>
              <a:ext uri="{FF2B5EF4-FFF2-40B4-BE49-F238E27FC236}">
                <a16:creationId xmlns:a16="http://schemas.microsoft.com/office/drawing/2014/main" id="{02BC5E73-BE42-4FA1-37D2-F900B38C0108}"/>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0000AD"/>
                </a:solidFill>
                <a:latin typeface="Aptos ExtraBold"/>
                <a:cs typeface="Aharoni"/>
              </a:rPr>
              <a:t>CONTENTS</a:t>
            </a:r>
          </a:p>
        </p:txBody>
      </p:sp>
      <p:pic>
        <p:nvPicPr>
          <p:cNvPr id="4" name="Picture 3">
            <a:extLst>
              <a:ext uri="{FF2B5EF4-FFF2-40B4-BE49-F238E27FC236}">
                <a16:creationId xmlns:a16="http://schemas.microsoft.com/office/drawing/2014/main" id="{E2129C5D-9277-7972-5111-15AC7713DF49}"/>
              </a:ext>
            </a:extLst>
          </p:cNvPr>
          <p:cNvPicPr>
            <a:picLocks noChangeAspect="1"/>
          </p:cNvPicPr>
          <p:nvPr/>
        </p:nvPicPr>
        <p:blipFill>
          <a:blip r:embed="rId3">
            <a:extLst>
              <a:ext uri="{BEBA8EAE-BF5A-486C-A8C5-ECC9F3942E4B}">
                <a14:imgProps xmlns:a14="http://schemas.microsoft.com/office/drawing/2010/main">
                  <a14:imgLayer r:embed="rId4">
                    <a14:imgEffect>
                      <a14:saturation sat="212000"/>
                    </a14:imgEffect>
                    <a14:imgEffect>
                      <a14:brightnessContrast bright="4000"/>
                    </a14:imgEffect>
                  </a14:imgLayer>
                </a14:imgProps>
              </a:ext>
            </a:extLst>
          </a:blip>
          <a:srcRect t="-1028" r="14851" b="15424"/>
          <a:stretch>
            <a:fillRect/>
          </a:stretch>
        </p:blipFill>
        <p:spPr>
          <a:xfrm>
            <a:off x="7251781" y="2072894"/>
            <a:ext cx="4941556" cy="4785005"/>
          </a:xfrm>
          <a:prstGeom prst="rect">
            <a:avLst/>
          </a:prstGeom>
        </p:spPr>
      </p:pic>
    </p:spTree>
    <p:extLst>
      <p:ext uri="{BB962C8B-B14F-4D97-AF65-F5344CB8AC3E}">
        <p14:creationId xmlns:p14="http://schemas.microsoft.com/office/powerpoint/2010/main" val="2987616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DDBD9-268C-FA54-44CC-061A6A192E72}"/>
            </a:ext>
          </a:extLst>
        </p:cNvPr>
        <p:cNvGrpSpPr/>
        <p:nvPr/>
      </p:nvGrpSpPr>
      <p:grpSpPr>
        <a:xfrm>
          <a:off x="0" y="0"/>
          <a:ext cx="0" cy="0"/>
          <a:chOff x="0" y="0"/>
          <a:chExt cx="0" cy="0"/>
        </a:xfrm>
      </p:grpSpPr>
      <p:pic>
        <p:nvPicPr>
          <p:cNvPr id="5" name="Multimedia1">
            <a:hlinkClick r:id="" action="ppaction://media"/>
            <a:extLst>
              <a:ext uri="{FF2B5EF4-FFF2-40B4-BE49-F238E27FC236}">
                <a16:creationId xmlns:a16="http://schemas.microsoft.com/office/drawing/2014/main" id="{5F4E7CA4-0A22-5204-6CFC-CC8EE47DBFBC}"/>
              </a:ext>
            </a:extLst>
          </p:cNvPr>
          <p:cNvPicPr>
            <a:picLocks noChangeAspect="1"/>
          </p:cNvPicPr>
          <p:nvPr>
            <a:videoFile r:link="rId1"/>
            <p:extLst>
              <p:ext uri="{DAA4B4D4-6D71-4841-9C94-3DE7FCFB9230}">
                <p14:media xmlns:p14="http://schemas.microsoft.com/office/powerpoint/2010/main" r:embed="rId2">
                  <p14:trim st="800"/>
                </p14:media>
              </p:ext>
            </p:extLst>
          </p:nvPr>
        </p:nvPicPr>
        <p:blipFill>
          <a:blip r:embed="rId5"/>
          <a:stretch>
            <a:fillRect/>
          </a:stretch>
        </p:blipFill>
        <p:spPr>
          <a:xfrm>
            <a:off x="-2875" y="-5990"/>
            <a:ext cx="12197750" cy="6869980"/>
          </a:xfrm>
          <a:prstGeom prst="rect">
            <a:avLst/>
          </a:prstGeom>
        </p:spPr>
      </p:pic>
      <p:sp>
        <p:nvSpPr>
          <p:cNvPr id="4" name="Title 1">
            <a:extLst>
              <a:ext uri="{FF2B5EF4-FFF2-40B4-BE49-F238E27FC236}">
                <a16:creationId xmlns:a16="http://schemas.microsoft.com/office/drawing/2014/main" id="{B7CFE47E-CCB4-D1AC-BEEA-931AF593F90F}"/>
              </a:ext>
            </a:extLst>
          </p:cNvPr>
          <p:cNvSpPr txBox="1">
            <a:spLocks/>
          </p:cNvSpPr>
          <p:nvPr/>
        </p:nvSpPr>
        <p:spPr>
          <a:xfrm>
            <a:off x="838201" y="623916"/>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chemeClr val="bg1"/>
                </a:solidFill>
                <a:latin typeface="Aptos ExtraBold"/>
                <a:cs typeface="Aharoni"/>
              </a:rPr>
              <a:t>PROBLEM DEFINITION</a:t>
            </a:r>
          </a:p>
        </p:txBody>
      </p:sp>
      <p:sp>
        <p:nvSpPr>
          <p:cNvPr id="7" name="TextBox 6">
            <a:extLst>
              <a:ext uri="{FF2B5EF4-FFF2-40B4-BE49-F238E27FC236}">
                <a16:creationId xmlns:a16="http://schemas.microsoft.com/office/drawing/2014/main" id="{5F01AF4D-28F2-CA91-9730-F3FDA3BCF5F8}"/>
              </a:ext>
            </a:extLst>
          </p:cNvPr>
          <p:cNvSpPr txBox="1"/>
          <p:nvPr/>
        </p:nvSpPr>
        <p:spPr>
          <a:xfrm>
            <a:off x="-349457" y="1047421"/>
            <a:ext cx="6150634" cy="6607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FFFFFF"/>
                </a:solidFill>
                <a:latin typeface="Seaford"/>
                <a:ea typeface="+mj-ea"/>
                <a:cs typeface="Aharoni"/>
              </a:rPr>
              <a:t>____________________________ </a:t>
            </a:r>
          </a:p>
        </p:txBody>
      </p:sp>
    </p:spTree>
    <p:extLst>
      <p:ext uri="{BB962C8B-B14F-4D97-AF65-F5344CB8AC3E}">
        <p14:creationId xmlns:p14="http://schemas.microsoft.com/office/powerpoint/2010/main" val="2938601944"/>
      </p:ext>
    </p:extLst>
  </p:cSld>
  <p:clrMapOvr>
    <a:masterClrMapping/>
  </p:clrMapOvr>
  <mc:AlternateContent xmlns:mc="http://schemas.openxmlformats.org/markup-compatibility/2006">
    <mc:Choice xmlns:p14="http://schemas.microsoft.com/office/powerpoint/2010/main" Requires="p14">
      <p:transition spd="med" p14:dur="700" advClick="0" advTm="66000">
        <p:fade/>
      </p:transition>
    </mc:Choice>
    <mc:Fallback>
      <p:transition spd="med" advClick="0" advTm="6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248" fill="hold"/>
                                        <p:tgtEl>
                                          <p:spTgt spid="5"/>
                                        </p:tgtEl>
                                      </p:cBhvr>
                                    </p:cmd>
                                  </p:childTnLst>
                                </p:cTn>
                              </p:par>
                              <p:par>
                                <p:cTn id="7" presetID="10" presetClass="exit" presetSubtype="0" fill="hold" grpId="0" nodeType="withEffect">
                                  <p:stCondLst>
                                    <p:cond delay="3500"/>
                                  </p:stCondLst>
                                  <p:childTnLst>
                                    <p:animEffect transition="out" filter="fade">
                                      <p:cBhvr>
                                        <p:cTn id="8" dur="500"/>
                                        <p:tgtEl>
                                          <p:spTgt spid="4"/>
                                        </p:tgtEl>
                                      </p:cBhvr>
                                    </p:animEffect>
                                    <p:set>
                                      <p:cBhvr>
                                        <p:cTn id="9" dur="1" fill="hold">
                                          <p:stCondLst>
                                            <p:cond delay="499"/>
                                          </p:stCondLst>
                                        </p:cTn>
                                        <p:tgtEl>
                                          <p:spTgt spid="4"/>
                                        </p:tgtEl>
                                        <p:attrNameLst>
                                          <p:attrName>style.visibility</p:attrName>
                                        </p:attrNameLst>
                                      </p:cBhvr>
                                      <p:to>
                                        <p:strVal val="hidden"/>
                                      </p:to>
                                    </p:set>
                                  </p:childTnLst>
                                </p:cTn>
                              </p:par>
                              <p:par>
                                <p:cTn id="10" presetID="17" presetClass="entr" presetSubtype="1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strVal val="#ppt_h"/>
                                          </p:val>
                                        </p:tav>
                                        <p:tav tm="100000">
                                          <p:val>
                                            <p:strVal val="#ppt_h"/>
                                          </p:val>
                                        </p:tav>
                                      </p:tavLst>
                                    </p:anim>
                                  </p:childTnLst>
                                </p:cTn>
                              </p:par>
                              <p:par>
                                <p:cTn id="14" presetID="10" presetClass="exit" presetSubtype="0" fill="hold" grpId="1" nodeType="withEffect">
                                  <p:stCondLst>
                                    <p:cond delay="350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with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bldLst>
      <p:bldP spid="4" grpId="0"/>
      <p:bldP spid="7" grpId="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A89A4-3EF8-A756-65CF-AD22F719D7B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A0E8BE5-9940-8219-4A6A-4C790C760BED}"/>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0000AD"/>
                </a:solidFill>
                <a:latin typeface="Aptos ExtraBold"/>
                <a:cs typeface="Aharoni"/>
              </a:rPr>
              <a:t>USER PAIN POINTS</a:t>
            </a:r>
          </a:p>
        </p:txBody>
      </p:sp>
      <p:sp>
        <p:nvSpPr>
          <p:cNvPr id="11" name="TextBox 10">
            <a:extLst>
              <a:ext uri="{FF2B5EF4-FFF2-40B4-BE49-F238E27FC236}">
                <a16:creationId xmlns:a16="http://schemas.microsoft.com/office/drawing/2014/main" id="{B2F9BC13-4536-B564-0E97-7547F6718C7D}"/>
              </a:ext>
            </a:extLst>
          </p:cNvPr>
          <p:cNvSpPr txBox="1"/>
          <p:nvPr/>
        </p:nvSpPr>
        <p:spPr>
          <a:xfrm>
            <a:off x="795068" y="1937589"/>
            <a:ext cx="6146801" cy="39208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spcBef>
                <a:spcPts val="1000"/>
              </a:spcBef>
              <a:buFont typeface="Arial"/>
              <a:buChar char="•"/>
            </a:pPr>
            <a:r>
              <a:rPr lang="en-US" sz="2000">
                <a:solidFill>
                  <a:srgbClr val="3A3A3A"/>
                </a:solidFill>
                <a:latin typeface="Aptos SemiBold"/>
              </a:rPr>
              <a:t>Frustration</a:t>
            </a:r>
            <a:endParaRPr lang="en-US">
              <a:solidFill>
                <a:srgbClr val="3A3A3A"/>
              </a:solidFill>
              <a:latin typeface="Aptos SemiBold"/>
            </a:endParaRPr>
          </a:p>
          <a:p>
            <a:pPr marL="285750" indent="-285750">
              <a:lnSpc>
                <a:spcPct val="150000"/>
              </a:lnSpc>
              <a:spcBef>
                <a:spcPts val="1000"/>
              </a:spcBef>
              <a:buFont typeface="Arial"/>
              <a:buChar char="•"/>
            </a:pPr>
            <a:r>
              <a:rPr lang="en-US" sz="2000">
                <a:solidFill>
                  <a:srgbClr val="3A3A3A"/>
                </a:solidFill>
                <a:latin typeface="Aptos SemiBold"/>
              </a:rPr>
              <a:t>Impossible planification</a:t>
            </a:r>
          </a:p>
          <a:p>
            <a:pPr marL="285750" indent="-285750">
              <a:lnSpc>
                <a:spcPct val="150000"/>
              </a:lnSpc>
              <a:spcBef>
                <a:spcPts val="1000"/>
              </a:spcBef>
              <a:buFont typeface="Arial"/>
              <a:buChar char="•"/>
            </a:pPr>
            <a:r>
              <a:rPr lang="en-US" sz="2000">
                <a:solidFill>
                  <a:srgbClr val="3A3A3A"/>
                </a:solidFill>
                <a:latin typeface="Aptos SemiBold"/>
              </a:rPr>
              <a:t>Unreliability</a:t>
            </a:r>
          </a:p>
          <a:p>
            <a:pPr marL="285750" indent="-285750">
              <a:lnSpc>
                <a:spcPct val="150000"/>
              </a:lnSpc>
              <a:spcBef>
                <a:spcPts val="1000"/>
              </a:spcBef>
              <a:buFont typeface="Arial"/>
              <a:buChar char="•"/>
            </a:pPr>
            <a:r>
              <a:rPr lang="en-US" sz="2000">
                <a:solidFill>
                  <a:srgbClr val="3A3A3A"/>
                </a:solidFill>
                <a:latin typeface="Aptos SemiBold"/>
              </a:rPr>
              <a:t>Inefficient transfers</a:t>
            </a:r>
          </a:p>
          <a:p>
            <a:pPr marL="285750" indent="-285750">
              <a:lnSpc>
                <a:spcPct val="150000"/>
              </a:lnSpc>
              <a:spcBef>
                <a:spcPts val="1000"/>
              </a:spcBef>
              <a:buFont typeface="Arial"/>
              <a:buChar char="•"/>
            </a:pPr>
            <a:r>
              <a:rPr lang="en-US" sz="2000">
                <a:solidFill>
                  <a:srgbClr val="3A3A3A"/>
                </a:solidFill>
                <a:latin typeface="Aptos Light"/>
              </a:rPr>
              <a:t>Strong </a:t>
            </a:r>
            <a:r>
              <a:rPr lang="en-US" sz="2000">
                <a:solidFill>
                  <a:srgbClr val="3A3A3A"/>
                </a:solidFill>
                <a:latin typeface="Aptos SemiBold"/>
              </a:rPr>
              <a:t>disappointment</a:t>
            </a:r>
          </a:p>
          <a:p>
            <a:pPr marL="171450" indent="-171450">
              <a:lnSpc>
                <a:spcPct val="150000"/>
              </a:lnSpc>
              <a:spcBef>
                <a:spcPts val="1000"/>
              </a:spcBef>
              <a:buFont typeface="Arial,Sans-Serif"/>
              <a:buChar char="•"/>
            </a:pPr>
            <a:r>
              <a:rPr lang="en-US" sz="2000">
                <a:solidFill>
                  <a:srgbClr val="3A3A3A"/>
                </a:solidFill>
                <a:latin typeface="Aptos"/>
              </a:rPr>
              <a:t>  </a:t>
            </a:r>
            <a:r>
              <a:rPr lang="en-US" sz="2000" b="1">
                <a:solidFill>
                  <a:srgbClr val="3A3A3A"/>
                </a:solidFill>
                <a:latin typeface="Aptos SemiBold"/>
              </a:rPr>
              <a:t>Negative attitude</a:t>
            </a:r>
            <a:r>
              <a:rPr lang="en-US" sz="2000">
                <a:solidFill>
                  <a:srgbClr val="3A3A3A"/>
                </a:solidFill>
                <a:latin typeface="Aptos"/>
              </a:rPr>
              <a:t> </a:t>
            </a:r>
            <a:r>
              <a:rPr lang="en-US" sz="2000">
                <a:solidFill>
                  <a:srgbClr val="3A3A3A"/>
                </a:solidFill>
                <a:latin typeface="Aptos Light"/>
              </a:rPr>
              <a:t>towards </a:t>
            </a:r>
            <a:br>
              <a:rPr lang="en-US" sz="2000">
                <a:latin typeface="Aptos Light"/>
              </a:rPr>
            </a:br>
            <a:r>
              <a:rPr lang="en-US" sz="2000">
                <a:solidFill>
                  <a:srgbClr val="3A3A3A"/>
                </a:solidFill>
                <a:latin typeface="Aptos Light"/>
              </a:rPr>
              <a:t>  public transport</a:t>
            </a:r>
            <a:endParaRPr lang="en-US">
              <a:solidFill>
                <a:srgbClr val="3A3A3A"/>
              </a:solidFill>
              <a:latin typeface="Aptos Light"/>
            </a:endParaRPr>
          </a:p>
        </p:txBody>
      </p:sp>
      <p:pic>
        <p:nvPicPr>
          <p:cNvPr id="2" name="Picture 1">
            <a:extLst>
              <a:ext uri="{FF2B5EF4-FFF2-40B4-BE49-F238E27FC236}">
                <a16:creationId xmlns:a16="http://schemas.microsoft.com/office/drawing/2014/main" id="{01F473C8-30CE-F4A0-6D99-1778FD3DC337}"/>
              </a:ext>
            </a:extLst>
          </p:cNvPr>
          <p:cNvPicPr>
            <a:picLocks noChangeAspect="1"/>
          </p:cNvPicPr>
          <p:nvPr/>
        </p:nvPicPr>
        <p:blipFill>
          <a:blip r:embed="rId3"/>
          <a:srcRect l="18697" t="-4" r="32144" b="79"/>
          <a:stretch>
            <a:fillRect/>
          </a:stretch>
        </p:blipFill>
        <p:spPr>
          <a:xfrm>
            <a:off x="6218208" y="5453"/>
            <a:ext cx="5978792" cy="6852662"/>
          </a:xfrm>
          <a:prstGeom prst="rect">
            <a:avLst/>
          </a:prstGeom>
        </p:spPr>
      </p:pic>
    </p:spTree>
    <p:extLst>
      <p:ext uri="{BB962C8B-B14F-4D97-AF65-F5344CB8AC3E}">
        <p14:creationId xmlns:p14="http://schemas.microsoft.com/office/powerpoint/2010/main" val="37455419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A8"/>
        </a:solidFill>
        <a:effectLst/>
      </p:bgPr>
    </p:bg>
    <p:spTree>
      <p:nvGrpSpPr>
        <p:cNvPr id="1" name="">
          <a:extLst>
            <a:ext uri="{FF2B5EF4-FFF2-40B4-BE49-F238E27FC236}">
              <a16:creationId xmlns:a16="http://schemas.microsoft.com/office/drawing/2014/main" id="{186DD183-522D-D270-34F3-E2FF41490AC6}"/>
            </a:ext>
          </a:extLst>
        </p:cNvPr>
        <p:cNvGrpSpPr/>
        <p:nvPr/>
      </p:nvGrpSpPr>
      <p:grpSpPr>
        <a:xfrm>
          <a:off x="0" y="0"/>
          <a:ext cx="0" cy="0"/>
          <a:chOff x="0" y="0"/>
          <a:chExt cx="0" cy="0"/>
        </a:xfrm>
      </p:grpSpPr>
      <p:pic>
        <p:nvPicPr>
          <p:cNvPr id="3" name="video">
            <a:hlinkClick r:id="" action="ppaction://media"/>
            <a:extLst>
              <a:ext uri="{FF2B5EF4-FFF2-40B4-BE49-F238E27FC236}">
                <a16:creationId xmlns:a16="http://schemas.microsoft.com/office/drawing/2014/main" id="{DE9E8F45-5599-F719-B4B2-D9EE78EDDD7B}"/>
              </a:ext>
            </a:extLst>
          </p:cNvPr>
          <p:cNvPicPr>
            <a:picLocks noChangeAspect="1"/>
          </p:cNvPicPr>
          <p:nvPr>
            <a:videoFile r:link="rId1"/>
            <p:extLst>
              <p:ext uri="{DAA4B4D4-6D71-4841-9C94-3DE7FCFB9230}">
                <p14:media xmlns:p14="http://schemas.microsoft.com/office/powerpoint/2010/main" r:embed="rId2">
                  <p14:trim st="200" end="2627.3333"/>
                </p14:media>
              </p:ext>
            </p:extLst>
          </p:nvPr>
        </p:nvPicPr>
        <p:blipFill>
          <a:blip r:embed="rId5">
            <a:lum bright="-2000" contrast="26000"/>
          </a:blip>
          <a:srcRect l="22200" r="20169"/>
          <a:stretch>
            <a:fillRect/>
          </a:stretch>
        </p:blipFill>
        <p:spPr>
          <a:xfrm>
            <a:off x="5171237" y="0"/>
            <a:ext cx="7020763" cy="6858000"/>
          </a:xfrm>
          <a:prstGeom prst="rect">
            <a:avLst/>
          </a:prstGeom>
        </p:spPr>
      </p:pic>
      <p:pic>
        <p:nvPicPr>
          <p:cNvPr id="8" name="Picture 7" descr="A blue and black text&#10;&#10;AI-generated content may be incorrect.">
            <a:extLst>
              <a:ext uri="{FF2B5EF4-FFF2-40B4-BE49-F238E27FC236}">
                <a16:creationId xmlns:a16="http://schemas.microsoft.com/office/drawing/2014/main" id="{C72891FF-F64C-A2D4-90FD-307F4718CB8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contrast="100000"/>
                    </a14:imgEffect>
                  </a14:imgLayer>
                </a14:imgProps>
              </a:ext>
            </a:extLst>
          </a:blip>
          <a:srcRect l="23912" r="25460" b="57942"/>
          <a:stretch>
            <a:fillRect/>
          </a:stretch>
        </p:blipFill>
        <p:spPr>
          <a:xfrm>
            <a:off x="924881" y="675801"/>
            <a:ext cx="3856526" cy="1164353"/>
          </a:xfrm>
          <a:prstGeom prst="rect">
            <a:avLst/>
          </a:prstGeom>
        </p:spPr>
      </p:pic>
    </p:spTree>
    <p:extLst>
      <p:ext uri="{BB962C8B-B14F-4D97-AF65-F5344CB8AC3E}">
        <p14:creationId xmlns:p14="http://schemas.microsoft.com/office/powerpoint/2010/main" val="290779824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 presetClass="mediacall" presetSubtype="0" fill="hold" nodeType="withEffect">
                                  <p:stCondLst>
                                    <p:cond delay="0"/>
                                  </p:stCondLst>
                                  <p:childTnLst>
                                    <p:cmd type="call" cmd="playFrom(0.0)">
                                      <p:cBhvr>
                                        <p:cTn id="12" dur="1312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3"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7B223-2ABC-98AA-ED5E-960831E14C2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C1CFB7F-C781-6DC8-5C4B-4C4636D7B7FE}"/>
              </a:ext>
            </a:extLst>
          </p:cNvPr>
          <p:cNvSpPr txBox="1"/>
          <p:nvPr/>
        </p:nvSpPr>
        <p:spPr>
          <a:xfrm>
            <a:off x="921504" y="3018480"/>
            <a:ext cx="5324021" cy="3452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ts val="1000"/>
              </a:spcBef>
              <a:buFont typeface="Arial"/>
              <a:buChar char="•"/>
            </a:pPr>
            <a:r>
              <a:rPr lang="en-US" sz="2000" b="1">
                <a:solidFill>
                  <a:schemeClr val="bg2">
                    <a:lumMod val="25000"/>
                  </a:schemeClr>
                </a:solidFill>
                <a:latin typeface="Aptos"/>
              </a:rPr>
              <a:t>Information </a:t>
            </a:r>
            <a:r>
              <a:rPr lang="en-US" sz="2000" b="1">
                <a:solidFill>
                  <a:schemeClr val="bg2">
                    <a:lumMod val="25000"/>
                  </a:schemeClr>
                </a:solidFill>
              </a:rPr>
              <a:t>poster →</a:t>
            </a:r>
            <a:r>
              <a:rPr lang="en-US" sz="2000">
                <a:solidFill>
                  <a:schemeClr val="bg2">
                    <a:lumMod val="25000"/>
                  </a:schemeClr>
                </a:solidFill>
              </a:rPr>
              <a:t> screen + paper</a:t>
            </a:r>
            <a:endParaRPr lang="en-US">
              <a:solidFill>
                <a:schemeClr val="bg2">
                  <a:lumMod val="25000"/>
                </a:schemeClr>
              </a:solidFill>
            </a:endParaRPr>
          </a:p>
          <a:p>
            <a:pPr marL="285750" indent="-285750">
              <a:spcBef>
                <a:spcPts val="1000"/>
              </a:spcBef>
              <a:buFont typeface="Arial"/>
              <a:buChar char="•"/>
            </a:pPr>
            <a:r>
              <a:rPr lang="en-US" sz="2000" b="1">
                <a:solidFill>
                  <a:schemeClr val="bg2">
                    <a:lumMod val="25000"/>
                  </a:schemeClr>
                </a:solidFill>
              </a:rPr>
              <a:t>Bus icon</a:t>
            </a:r>
            <a:r>
              <a:rPr lang="en-US" sz="2000">
                <a:solidFill>
                  <a:schemeClr val="bg2">
                    <a:lumMod val="25000"/>
                  </a:schemeClr>
                </a:solidFill>
              </a:rPr>
              <a:t> </a:t>
            </a:r>
            <a:r>
              <a:rPr lang="en-US" sz="2000" b="1">
                <a:solidFill>
                  <a:schemeClr val="bg2">
                    <a:lumMod val="25000"/>
                  </a:schemeClr>
                </a:solidFill>
              </a:rPr>
              <a:t>→</a:t>
            </a:r>
            <a:r>
              <a:rPr lang="en-US" sz="2000">
                <a:solidFill>
                  <a:schemeClr val="bg2">
                    <a:lumMod val="25000"/>
                  </a:schemeClr>
                </a:solidFill>
              </a:rPr>
              <a:t> position instead of time</a:t>
            </a:r>
            <a:endParaRPr lang="en-US">
              <a:solidFill>
                <a:schemeClr val="bg2">
                  <a:lumMod val="25000"/>
                </a:schemeClr>
              </a:solidFill>
            </a:endParaRPr>
          </a:p>
          <a:p>
            <a:pPr marL="285750" indent="-285750">
              <a:spcBef>
                <a:spcPts val="1000"/>
              </a:spcBef>
              <a:buFont typeface="Arial"/>
              <a:buChar char="•"/>
            </a:pPr>
            <a:r>
              <a:rPr lang="en-US" sz="2000" b="1">
                <a:solidFill>
                  <a:schemeClr val="bg2">
                    <a:lumMod val="25000"/>
                  </a:schemeClr>
                </a:solidFill>
              </a:rPr>
              <a:t>Colorblind adapted color code</a:t>
            </a:r>
            <a:r>
              <a:rPr lang="en-US" sz="2000">
                <a:solidFill>
                  <a:schemeClr val="bg2">
                    <a:lumMod val="25000"/>
                  </a:schemeClr>
                </a:solidFill>
              </a:rPr>
              <a:t> </a:t>
            </a:r>
            <a:r>
              <a:rPr lang="en-US" sz="2000" b="1">
                <a:solidFill>
                  <a:schemeClr val="bg2">
                    <a:lumMod val="25000"/>
                  </a:schemeClr>
                </a:solidFill>
              </a:rPr>
              <a:t>→ </a:t>
            </a:r>
            <a:r>
              <a:rPr lang="en-US" sz="2000">
                <a:solidFill>
                  <a:schemeClr val="bg2">
                    <a:lumMod val="25000"/>
                  </a:schemeClr>
                </a:solidFill>
              </a:rPr>
              <a:t>bus state</a:t>
            </a:r>
          </a:p>
          <a:p>
            <a:pPr marL="285750" indent="-285750">
              <a:spcBef>
                <a:spcPts val="1000"/>
              </a:spcBef>
              <a:buFont typeface="Arial"/>
              <a:buChar char="•"/>
            </a:pPr>
            <a:r>
              <a:rPr lang="en-US" sz="2000" b="1">
                <a:solidFill>
                  <a:schemeClr val="bg2">
                    <a:lumMod val="25000"/>
                  </a:schemeClr>
                </a:solidFill>
              </a:rPr>
              <a:t>Issue icon</a:t>
            </a:r>
            <a:r>
              <a:rPr lang="en-US" sz="2000">
                <a:solidFill>
                  <a:schemeClr val="bg2">
                    <a:lumMod val="25000"/>
                  </a:schemeClr>
                </a:solidFill>
              </a:rPr>
              <a:t> </a:t>
            </a:r>
            <a:r>
              <a:rPr lang="en-US" sz="2000" b="1">
                <a:solidFill>
                  <a:schemeClr val="bg2">
                    <a:lumMod val="25000"/>
                  </a:schemeClr>
                </a:solidFill>
              </a:rPr>
              <a:t>→</a:t>
            </a:r>
            <a:r>
              <a:rPr lang="en-US" sz="2000">
                <a:solidFill>
                  <a:schemeClr val="bg2">
                    <a:lumMod val="25000"/>
                  </a:schemeClr>
                </a:solidFill>
              </a:rPr>
              <a:t> indicates disruption</a:t>
            </a:r>
          </a:p>
          <a:p>
            <a:pPr marL="285750" indent="-285750">
              <a:spcBef>
                <a:spcPts val="1000"/>
              </a:spcBef>
              <a:buFont typeface="Arial"/>
              <a:buChar char="•"/>
            </a:pPr>
            <a:r>
              <a:rPr lang="en-US" sz="2000">
                <a:solidFill>
                  <a:schemeClr val="bg2">
                    <a:lumMod val="25000"/>
                  </a:schemeClr>
                </a:solidFill>
              </a:rPr>
              <a:t>Additional messages for </a:t>
            </a:r>
            <a:r>
              <a:rPr lang="en-US" sz="2000" b="1">
                <a:solidFill>
                  <a:schemeClr val="bg2">
                    <a:lumMod val="25000"/>
                  </a:schemeClr>
                </a:solidFill>
              </a:rPr>
              <a:t>more info</a:t>
            </a:r>
            <a:endParaRPr lang="en-US" sz="2000">
              <a:solidFill>
                <a:schemeClr val="bg2">
                  <a:lumMod val="25000"/>
                </a:schemeClr>
              </a:solidFill>
            </a:endParaRPr>
          </a:p>
          <a:p>
            <a:pPr marL="285750" indent="-285750">
              <a:spcBef>
                <a:spcPts val="1000"/>
              </a:spcBef>
              <a:buFont typeface="Arial"/>
              <a:buChar char="•"/>
            </a:pPr>
            <a:r>
              <a:rPr lang="en-US" sz="2000">
                <a:solidFill>
                  <a:schemeClr val="bg2">
                    <a:lumMod val="25000"/>
                  </a:schemeClr>
                </a:solidFill>
              </a:rPr>
              <a:t>Powered</a:t>
            </a:r>
            <a:r>
              <a:rPr lang="en-US" sz="2000" b="1">
                <a:solidFill>
                  <a:schemeClr val="bg2">
                    <a:lumMod val="25000"/>
                  </a:schemeClr>
                </a:solidFill>
              </a:rPr>
              <a:t> </a:t>
            </a:r>
            <a:r>
              <a:rPr lang="en-US" sz="2000">
                <a:solidFill>
                  <a:schemeClr val="bg2">
                    <a:lumMod val="25000"/>
                  </a:schemeClr>
                </a:solidFill>
              </a:rPr>
              <a:t>by </a:t>
            </a:r>
            <a:r>
              <a:rPr lang="en-US" sz="2000" b="1">
                <a:solidFill>
                  <a:schemeClr val="bg2">
                    <a:lumMod val="25000"/>
                  </a:schemeClr>
                </a:solidFill>
              </a:rPr>
              <a:t>solar panels</a:t>
            </a:r>
          </a:p>
          <a:p>
            <a:pPr marL="285750" indent="-285750">
              <a:spcBef>
                <a:spcPts val="1000"/>
              </a:spcBef>
              <a:buFont typeface="Arial"/>
              <a:buChar char="•"/>
            </a:pPr>
            <a:r>
              <a:rPr lang="en-US" sz="2000" b="1">
                <a:solidFill>
                  <a:schemeClr val="bg2">
                    <a:lumMod val="25000"/>
                  </a:schemeClr>
                </a:solidFill>
              </a:rPr>
              <a:t>Physical </a:t>
            </a:r>
            <a:r>
              <a:rPr lang="en-US" sz="2000">
                <a:solidFill>
                  <a:schemeClr val="bg2">
                    <a:lumMod val="25000"/>
                  </a:schemeClr>
                </a:solidFill>
              </a:rPr>
              <a:t>and </a:t>
            </a:r>
            <a:r>
              <a:rPr lang="en-US" sz="2000" b="1">
                <a:solidFill>
                  <a:schemeClr val="bg2">
                    <a:lumMod val="25000"/>
                  </a:schemeClr>
                </a:solidFill>
              </a:rPr>
              <a:t>digital</a:t>
            </a:r>
          </a:p>
          <a:p>
            <a:pPr marL="285750" indent="-285750">
              <a:spcBef>
                <a:spcPts val="1000"/>
              </a:spcBef>
              <a:buFont typeface="Arial"/>
              <a:buChar char="•"/>
            </a:pPr>
            <a:endParaRPr lang="en-US" sz="2000" b="1">
              <a:solidFill>
                <a:schemeClr val="bg2">
                  <a:lumMod val="25000"/>
                </a:schemeClr>
              </a:solidFill>
            </a:endParaRPr>
          </a:p>
        </p:txBody>
      </p:sp>
      <p:sp>
        <p:nvSpPr>
          <p:cNvPr id="17" name="TextBox 16">
            <a:extLst>
              <a:ext uri="{FF2B5EF4-FFF2-40B4-BE49-F238E27FC236}">
                <a16:creationId xmlns:a16="http://schemas.microsoft.com/office/drawing/2014/main" id="{4A0A22B0-4996-0CA8-1671-67EB1583E84B}"/>
              </a:ext>
            </a:extLst>
          </p:cNvPr>
          <p:cNvSpPr txBox="1"/>
          <p:nvPr/>
        </p:nvSpPr>
        <p:spPr>
          <a:xfrm>
            <a:off x="921504" y="2102081"/>
            <a:ext cx="2321791" cy="52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spcBef>
                <a:spcPts val="1000"/>
              </a:spcBef>
            </a:pPr>
            <a:r>
              <a:rPr lang="en-US" sz="2000" b="1">
                <a:solidFill>
                  <a:schemeClr val="bg2">
                    <a:lumMod val="25000"/>
                  </a:schemeClr>
                </a:solidFill>
              </a:rPr>
              <a:t>When </a:t>
            </a:r>
            <a:r>
              <a:rPr lang="en-US" sz="2000" i="1">
                <a:solidFill>
                  <a:schemeClr val="bg2">
                    <a:lumMod val="25000"/>
                  </a:schemeClr>
                </a:solidFill>
              </a:rPr>
              <a:t>will it arrive?</a:t>
            </a:r>
            <a:endParaRPr lang="en-US" i="1">
              <a:solidFill>
                <a:schemeClr val="bg2">
                  <a:lumMod val="25000"/>
                </a:schemeClr>
              </a:solidFill>
            </a:endParaRPr>
          </a:p>
        </p:txBody>
      </p:sp>
      <p:sp>
        <p:nvSpPr>
          <p:cNvPr id="18" name="TextBox 17">
            <a:extLst>
              <a:ext uri="{FF2B5EF4-FFF2-40B4-BE49-F238E27FC236}">
                <a16:creationId xmlns:a16="http://schemas.microsoft.com/office/drawing/2014/main" id="{DF25C4B3-FEB6-B590-EE72-063F0643CDB8}"/>
              </a:ext>
            </a:extLst>
          </p:cNvPr>
          <p:cNvSpPr txBox="1"/>
          <p:nvPr/>
        </p:nvSpPr>
        <p:spPr>
          <a:xfrm>
            <a:off x="4597033" y="2102083"/>
            <a:ext cx="2041644" cy="5096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spcBef>
                <a:spcPts val="1000"/>
              </a:spcBef>
            </a:pPr>
            <a:r>
              <a:rPr lang="en-US" sz="2000" b="1" i="1">
                <a:solidFill>
                  <a:srgbClr val="0000AD"/>
                </a:solidFill>
              </a:rPr>
              <a:t>Where</a:t>
            </a:r>
            <a:r>
              <a:rPr lang="en-US" sz="2000" i="1">
                <a:solidFill>
                  <a:schemeClr val="bg2">
                    <a:lumMod val="25000"/>
                  </a:schemeClr>
                </a:solidFill>
              </a:rPr>
              <a:t> is it now?</a:t>
            </a:r>
            <a:endParaRPr lang="en-US" i="1">
              <a:solidFill>
                <a:schemeClr val="bg2">
                  <a:lumMod val="25000"/>
                </a:schemeClr>
              </a:solidFill>
            </a:endParaRPr>
          </a:p>
        </p:txBody>
      </p:sp>
      <p:pic>
        <p:nvPicPr>
          <p:cNvPr id="20" name="Picture 6" descr="30.300+ Tick Verde Fotografías de stock, fotos e imágenes libres de  derechos - iStock | Online, Mano ok, En construccion">
            <a:extLst>
              <a:ext uri="{FF2B5EF4-FFF2-40B4-BE49-F238E27FC236}">
                <a16:creationId xmlns:a16="http://schemas.microsoft.com/office/drawing/2014/main" id="{C9A78D2E-744F-70C1-965B-1C42FB819D3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140" t="15783" r="15003" b="15813"/>
          <a:stretch>
            <a:fillRect/>
          </a:stretch>
        </p:blipFill>
        <p:spPr>
          <a:xfrm>
            <a:off x="6935167" y="2230478"/>
            <a:ext cx="343679" cy="324630"/>
          </a:xfrm>
          <a:prstGeom prst="rect">
            <a:avLst/>
          </a:prstGeom>
        </p:spPr>
      </p:pic>
      <p:pic>
        <p:nvPicPr>
          <p:cNvPr id="3" name="Picture 2" descr="Botón x - Iconos gratis de interfaz">
            <a:extLst>
              <a:ext uri="{FF2B5EF4-FFF2-40B4-BE49-F238E27FC236}">
                <a16:creationId xmlns:a16="http://schemas.microsoft.com/office/drawing/2014/main" id="{CDC8F8E5-8B8F-CE0F-FF96-32E6D2F975F4}"/>
              </a:ext>
            </a:extLst>
          </p:cNvPr>
          <p:cNvPicPr>
            <a:picLocks noChangeAspect="1"/>
          </p:cNvPicPr>
          <p:nvPr/>
        </p:nvPicPr>
        <p:blipFill>
          <a:blip r:embed="rId5"/>
          <a:srcRect l="-12069" t="-1669" r="-13793" b="-1852"/>
          <a:stretch>
            <a:fillRect/>
          </a:stretch>
        </p:blipFill>
        <p:spPr>
          <a:xfrm>
            <a:off x="3418011" y="2230478"/>
            <a:ext cx="425940" cy="327133"/>
          </a:xfrm>
          <a:prstGeom prst="rect">
            <a:avLst/>
          </a:prstGeom>
        </p:spPr>
      </p:pic>
      <p:pic>
        <p:nvPicPr>
          <p:cNvPr id="8" name="Picture 7" descr="A blue and black text&#10;&#10;AI-generated content may be incorrect.">
            <a:extLst>
              <a:ext uri="{FF2B5EF4-FFF2-40B4-BE49-F238E27FC236}">
                <a16:creationId xmlns:a16="http://schemas.microsoft.com/office/drawing/2014/main" id="{AEEA0DCA-1D99-5DAC-ED87-3A5EFC259C86}"/>
              </a:ext>
            </a:extLst>
          </p:cNvPr>
          <p:cNvPicPr>
            <a:picLocks noChangeAspect="1"/>
          </p:cNvPicPr>
          <p:nvPr/>
        </p:nvPicPr>
        <p:blipFill>
          <a:blip r:embed="rId6"/>
          <a:srcRect l="23912" r="25460" b="57942"/>
          <a:stretch>
            <a:fillRect/>
          </a:stretch>
        </p:blipFill>
        <p:spPr>
          <a:xfrm>
            <a:off x="924881" y="675801"/>
            <a:ext cx="3856526" cy="1164353"/>
          </a:xfrm>
          <a:prstGeom prst="rect">
            <a:avLst/>
          </a:prstGeom>
        </p:spPr>
      </p:pic>
      <p:pic>
        <p:nvPicPr>
          <p:cNvPr id="4" name="Imagen 3">
            <a:extLst>
              <a:ext uri="{FF2B5EF4-FFF2-40B4-BE49-F238E27FC236}">
                <a16:creationId xmlns:a16="http://schemas.microsoft.com/office/drawing/2014/main" id="{53E0447D-F4A6-A9E8-A347-565E62B05A60}"/>
              </a:ext>
            </a:extLst>
          </p:cNvPr>
          <p:cNvPicPr>
            <a:picLocks noChangeAspect="1"/>
          </p:cNvPicPr>
          <p:nvPr/>
        </p:nvPicPr>
        <p:blipFill>
          <a:blip r:embed="rId7">
            <a:extLst>
              <a:ext uri="{28A0092B-C50C-407E-A947-70E740481C1C}">
                <a14:useLocalDpi xmlns:a14="http://schemas.microsoft.com/office/drawing/2010/main" val="0"/>
              </a:ext>
            </a:extLst>
          </a:blip>
          <a:srcRect t="-1" b="43896"/>
          <a:stretch>
            <a:fillRect/>
          </a:stretch>
        </p:blipFill>
        <p:spPr>
          <a:xfrm>
            <a:off x="7490981" y="675800"/>
            <a:ext cx="3908944" cy="6182200"/>
          </a:xfrm>
          <a:prstGeom prst="rect">
            <a:avLst/>
          </a:prstGeom>
        </p:spPr>
      </p:pic>
    </p:spTree>
    <p:extLst>
      <p:ext uri="{BB962C8B-B14F-4D97-AF65-F5344CB8AC3E}">
        <p14:creationId xmlns:p14="http://schemas.microsoft.com/office/powerpoint/2010/main" val="24142702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6">
                                            <p:txEl>
                                              <p:pRg st="0" end="0"/>
                                            </p:txEl>
                                          </p:spTgt>
                                        </p:tgtEl>
                                        <p:attrNameLst>
                                          <p:attrName>style.visibility</p:attrName>
                                        </p:attrNameLst>
                                      </p:cBhvr>
                                      <p:to>
                                        <p:strVal val="visible"/>
                                      </p:to>
                                    </p:set>
                                    <p:animEffect transition="in" filter="fade">
                                      <p:cBhvr>
                                        <p:cTn id="20" dur="500"/>
                                        <p:tgtEl>
                                          <p:spTgt spid="16">
                                            <p:txEl>
                                              <p:pRg st="0" end="0"/>
                                            </p:txEl>
                                          </p:spTgt>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6">
                                            <p:txEl>
                                              <p:pRg st="1" end="1"/>
                                            </p:txEl>
                                          </p:spTgt>
                                        </p:tgtEl>
                                        <p:attrNameLst>
                                          <p:attrName>style.visibility</p:attrName>
                                        </p:attrNameLst>
                                      </p:cBhvr>
                                      <p:to>
                                        <p:strVal val="visible"/>
                                      </p:to>
                                    </p:set>
                                    <p:animEffect transition="in" filter="fade">
                                      <p:cBhvr>
                                        <p:cTn id="24" dur="500"/>
                                        <p:tgtEl>
                                          <p:spTgt spid="16">
                                            <p:txEl>
                                              <p:pRg st="1" end="1"/>
                                            </p:txEl>
                                          </p:spTgt>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16">
                                            <p:txEl>
                                              <p:pRg st="2" end="2"/>
                                            </p:txEl>
                                          </p:spTgt>
                                        </p:tgtEl>
                                        <p:attrNameLst>
                                          <p:attrName>style.visibility</p:attrName>
                                        </p:attrNameLst>
                                      </p:cBhvr>
                                      <p:to>
                                        <p:strVal val="visible"/>
                                      </p:to>
                                    </p:set>
                                    <p:animEffect transition="in" filter="fade">
                                      <p:cBhvr>
                                        <p:cTn id="28" dur="500"/>
                                        <p:tgtEl>
                                          <p:spTgt spid="16">
                                            <p:txEl>
                                              <p:pRg st="2" end="2"/>
                                            </p:txEl>
                                          </p:spTgt>
                                        </p:tgtEl>
                                      </p:cBhvr>
                                    </p:animEffect>
                                  </p:childTnLst>
                                </p:cTn>
                              </p:par>
                            </p:childTnLst>
                          </p:cTn>
                        </p:par>
                        <p:par>
                          <p:cTn id="29" fill="hold">
                            <p:stCondLst>
                              <p:cond delay="3000"/>
                            </p:stCondLst>
                            <p:childTnLst>
                              <p:par>
                                <p:cTn id="30" presetID="10" presetClass="entr" presetSubtype="0" fill="hold" grpId="0" nodeType="afterEffect">
                                  <p:stCondLst>
                                    <p:cond delay="0"/>
                                  </p:stCondLst>
                                  <p:childTnLst>
                                    <p:set>
                                      <p:cBhvr>
                                        <p:cTn id="31" dur="1" fill="hold">
                                          <p:stCondLst>
                                            <p:cond delay="0"/>
                                          </p:stCondLst>
                                        </p:cTn>
                                        <p:tgtEl>
                                          <p:spTgt spid="16">
                                            <p:txEl>
                                              <p:pRg st="3" end="3"/>
                                            </p:txEl>
                                          </p:spTgt>
                                        </p:tgtEl>
                                        <p:attrNameLst>
                                          <p:attrName>style.visibility</p:attrName>
                                        </p:attrNameLst>
                                      </p:cBhvr>
                                      <p:to>
                                        <p:strVal val="visible"/>
                                      </p:to>
                                    </p:set>
                                    <p:animEffect transition="in" filter="fade">
                                      <p:cBhvr>
                                        <p:cTn id="32" dur="500"/>
                                        <p:tgtEl>
                                          <p:spTgt spid="16">
                                            <p:txEl>
                                              <p:pRg st="3" end="3"/>
                                            </p:txEl>
                                          </p:spTgt>
                                        </p:tgtEl>
                                      </p:cBhvr>
                                    </p:animEffect>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16">
                                            <p:txEl>
                                              <p:pRg st="4" end="4"/>
                                            </p:txEl>
                                          </p:spTgt>
                                        </p:tgtEl>
                                        <p:attrNameLst>
                                          <p:attrName>style.visibility</p:attrName>
                                        </p:attrNameLst>
                                      </p:cBhvr>
                                      <p:to>
                                        <p:strVal val="visible"/>
                                      </p:to>
                                    </p:set>
                                    <p:animEffect transition="in" filter="fade">
                                      <p:cBhvr>
                                        <p:cTn id="36" dur="500"/>
                                        <p:tgtEl>
                                          <p:spTgt spid="16">
                                            <p:txEl>
                                              <p:pRg st="4" end="4"/>
                                            </p:txEl>
                                          </p:spTgt>
                                        </p:tgtEl>
                                      </p:cBhvr>
                                    </p:animEffect>
                                  </p:childTnLst>
                                </p:cTn>
                              </p:par>
                            </p:childTnLst>
                          </p:cTn>
                        </p:par>
                        <p:par>
                          <p:cTn id="37" fill="hold">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16">
                                            <p:txEl>
                                              <p:pRg st="5" end="5"/>
                                            </p:txEl>
                                          </p:spTgt>
                                        </p:tgtEl>
                                        <p:attrNameLst>
                                          <p:attrName>style.visibility</p:attrName>
                                        </p:attrNameLst>
                                      </p:cBhvr>
                                      <p:to>
                                        <p:strVal val="visible"/>
                                      </p:to>
                                    </p:set>
                                    <p:animEffect transition="in" filter="fade">
                                      <p:cBhvr>
                                        <p:cTn id="40" dur="500"/>
                                        <p:tgtEl>
                                          <p:spTgt spid="16">
                                            <p:txEl>
                                              <p:pRg st="5" end="5"/>
                                            </p:txEl>
                                          </p:spTgt>
                                        </p:tgtEl>
                                      </p:cBhvr>
                                    </p:animEffect>
                                  </p:childTnLst>
                                </p:cTn>
                              </p:par>
                            </p:childTnLst>
                          </p:cTn>
                        </p:par>
                        <p:par>
                          <p:cTn id="41" fill="hold">
                            <p:stCondLst>
                              <p:cond delay="4500"/>
                            </p:stCondLst>
                            <p:childTnLst>
                              <p:par>
                                <p:cTn id="42" presetID="10" presetClass="entr" presetSubtype="0" fill="hold" grpId="0" nodeType="afterEffect">
                                  <p:stCondLst>
                                    <p:cond delay="0"/>
                                  </p:stCondLst>
                                  <p:childTnLst>
                                    <p:set>
                                      <p:cBhvr>
                                        <p:cTn id="43" dur="1" fill="hold">
                                          <p:stCondLst>
                                            <p:cond delay="0"/>
                                          </p:stCondLst>
                                        </p:cTn>
                                        <p:tgtEl>
                                          <p:spTgt spid="16">
                                            <p:txEl>
                                              <p:pRg st="6" end="6"/>
                                            </p:txEl>
                                          </p:spTgt>
                                        </p:tgtEl>
                                        <p:attrNameLst>
                                          <p:attrName>style.visibility</p:attrName>
                                        </p:attrNameLst>
                                      </p:cBhvr>
                                      <p:to>
                                        <p:strVal val="visible"/>
                                      </p:to>
                                    </p:set>
                                    <p:animEffect transition="in" filter="fade">
                                      <p:cBhvr>
                                        <p:cTn id="44" dur="500"/>
                                        <p:tgtEl>
                                          <p:spTgt spid="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a:extLst>
            <a:ext uri="{FF2B5EF4-FFF2-40B4-BE49-F238E27FC236}">
              <a16:creationId xmlns:a16="http://schemas.microsoft.com/office/drawing/2014/main" id="{22BDE55A-CAEF-D2B2-9DD2-FB0ECD5954BF}"/>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1D8C040F-BCC8-7B7D-AE1F-80B07955E4F5}"/>
              </a:ext>
            </a:extLst>
          </p:cNvPr>
          <p:cNvPicPr>
            <a:picLocks noChangeAspect="1"/>
          </p:cNvPicPr>
          <p:nvPr/>
        </p:nvPicPr>
        <p:blipFill>
          <a:blip r:embed="rId3">
            <a:extLst>
              <a:ext uri="{28A0092B-C50C-407E-A947-70E740481C1C}">
                <a14:useLocalDpi xmlns:a14="http://schemas.microsoft.com/office/drawing/2010/main" val="0"/>
              </a:ext>
            </a:extLst>
          </a:blip>
          <a:srcRect l="1686" r="1742"/>
          <a:stretch>
            <a:fillRect/>
          </a:stretch>
        </p:blipFill>
        <p:spPr>
          <a:xfrm>
            <a:off x="0" y="0"/>
            <a:ext cx="12192000" cy="6861822"/>
          </a:xfrm>
          <a:prstGeom prst="rect">
            <a:avLst/>
          </a:prstGeom>
        </p:spPr>
      </p:pic>
      <p:sp>
        <p:nvSpPr>
          <p:cNvPr id="5" name="Title 1">
            <a:extLst>
              <a:ext uri="{FF2B5EF4-FFF2-40B4-BE49-F238E27FC236}">
                <a16:creationId xmlns:a16="http://schemas.microsoft.com/office/drawing/2014/main" id="{0BBDBFC8-BA52-2DA6-D01D-D0D4F1B89AE1}"/>
              </a:ext>
            </a:extLst>
          </p:cNvPr>
          <p:cNvSpPr>
            <a:spLocks noGrp="1"/>
          </p:cNvSpPr>
          <p:nvPr>
            <p:ph type="title"/>
          </p:nvPr>
        </p:nvSpPr>
        <p:spPr>
          <a:xfrm>
            <a:off x="197121" y="5697611"/>
            <a:ext cx="7150768" cy="903412"/>
          </a:xfrm>
        </p:spPr>
        <p:txBody>
          <a:bodyPr vert="horz" lIns="91440" tIns="45720" rIns="91440" bIns="45720" rtlCol="0" anchor="ctr">
            <a:noAutofit/>
          </a:bodyPr>
          <a:lstStyle/>
          <a:p>
            <a:br>
              <a:rPr lang="en-US" b="1">
                <a:latin typeface="Aptos SemiBold"/>
                <a:ea typeface="Open Sans" panose="020B0606030504020204" pitchFamily="34" charset="0"/>
                <a:cs typeface="Open Sans" panose="020B0606030504020204" pitchFamily="34" charset="0"/>
              </a:rPr>
            </a:br>
            <a:r>
              <a:rPr lang="en-US" sz="2800" b="1">
                <a:solidFill>
                  <a:srgbClr val="FFFFFF"/>
                </a:solidFill>
                <a:latin typeface="Aptos SemiBold"/>
                <a:ea typeface="Open Sans"/>
                <a:cs typeface="Open Sans"/>
              </a:rPr>
              <a:t>Real-time bus location signage</a:t>
            </a:r>
          </a:p>
        </p:txBody>
      </p:sp>
      <p:pic>
        <p:nvPicPr>
          <p:cNvPr id="6" name="Picture 5" descr="A blue and black text&#10;&#10;AI-generated content may be incorrect.">
            <a:extLst>
              <a:ext uri="{FF2B5EF4-FFF2-40B4-BE49-F238E27FC236}">
                <a16:creationId xmlns:a16="http://schemas.microsoft.com/office/drawing/2014/main" id="{962D856A-E473-7874-B4E4-B2844CC6E44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100000"/>
                    </a14:imgEffect>
                  </a14:imgLayer>
                </a14:imgProps>
              </a:ext>
            </a:extLst>
          </a:blip>
          <a:srcRect l="23912" r="25460" b="57942"/>
          <a:stretch>
            <a:fillRect/>
          </a:stretch>
        </p:blipFill>
        <p:spPr>
          <a:xfrm>
            <a:off x="249588" y="5521289"/>
            <a:ext cx="2073735" cy="618015"/>
          </a:xfrm>
          <a:prstGeom prst="rect">
            <a:avLst/>
          </a:prstGeom>
        </p:spPr>
      </p:pic>
    </p:spTree>
    <p:extLst>
      <p:ext uri="{BB962C8B-B14F-4D97-AF65-F5344CB8AC3E}">
        <p14:creationId xmlns:p14="http://schemas.microsoft.com/office/powerpoint/2010/main" val="42910090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F0FC4-590F-2FAC-CDF6-757CE3AE38B8}"/>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0D9C0293-BBED-8A3C-FB43-FF5E9EFBC7AC}"/>
              </a:ext>
            </a:extLst>
          </p:cNvPr>
          <p:cNvPicPr>
            <a:picLocks noChangeAspect="1"/>
          </p:cNvPicPr>
          <p:nvPr/>
        </p:nvPicPr>
        <p:blipFill>
          <a:blip r:embed="rId3"/>
          <a:srcRect t="28962" r="25286"/>
          <a:stretch>
            <a:fillRect/>
          </a:stretch>
        </p:blipFill>
        <p:spPr>
          <a:xfrm>
            <a:off x="0" y="-1"/>
            <a:ext cx="12192000" cy="6873619"/>
          </a:xfrm>
          <a:prstGeom prst="rect">
            <a:avLst/>
          </a:prstGeom>
        </p:spPr>
      </p:pic>
      <p:sp>
        <p:nvSpPr>
          <p:cNvPr id="2" name="Title 1">
            <a:extLst>
              <a:ext uri="{FF2B5EF4-FFF2-40B4-BE49-F238E27FC236}">
                <a16:creationId xmlns:a16="http://schemas.microsoft.com/office/drawing/2014/main" id="{0F3ECB3F-BE7A-8589-EA08-C034350502F3}"/>
              </a:ext>
            </a:extLst>
          </p:cNvPr>
          <p:cNvSpPr>
            <a:spLocks noGrp="1"/>
          </p:cNvSpPr>
          <p:nvPr>
            <p:ph type="title"/>
          </p:nvPr>
        </p:nvSpPr>
        <p:spPr>
          <a:xfrm>
            <a:off x="838201" y="623917"/>
            <a:ext cx="9581072" cy="1167413"/>
          </a:xfrm>
        </p:spPr>
        <p:txBody>
          <a:bodyPr>
            <a:normAutofit/>
          </a:bodyPr>
          <a:lstStyle/>
          <a:p>
            <a:r>
              <a:rPr lang="en-US" sz="3600">
                <a:solidFill>
                  <a:schemeClr val="bg1"/>
                </a:solidFill>
                <a:latin typeface="Aptos ExtraBold"/>
                <a:cs typeface="Aharoni"/>
              </a:rPr>
              <a:t>BENCHMARKING</a:t>
            </a:r>
          </a:p>
        </p:txBody>
      </p:sp>
      <p:sp>
        <p:nvSpPr>
          <p:cNvPr id="8" name="Rectangle 7">
            <a:extLst>
              <a:ext uri="{FF2B5EF4-FFF2-40B4-BE49-F238E27FC236}">
                <a16:creationId xmlns:a16="http://schemas.microsoft.com/office/drawing/2014/main" id="{70F6BD63-AB72-FEF5-F345-A0B820EF3530}"/>
              </a:ext>
            </a:extLst>
          </p:cNvPr>
          <p:cNvSpPr/>
          <p:nvPr/>
        </p:nvSpPr>
        <p:spPr>
          <a:xfrm>
            <a:off x="3946358" y="-1"/>
            <a:ext cx="8245642" cy="6873620"/>
          </a:xfrm>
          <a:prstGeom prst="rect">
            <a:avLst/>
          </a:prstGeom>
          <a:gradFill flip="none" rotWithShape="1">
            <a:gsLst>
              <a:gs pos="57000">
                <a:srgbClr val="F9F9F9">
                  <a:alpha val="85000"/>
                </a:srgbClr>
              </a:gs>
              <a:gs pos="0">
                <a:srgbClr val="F9F9F9">
                  <a:alpha val="0"/>
                </a:srgbClr>
              </a:gs>
              <a:gs pos="33000">
                <a:srgbClr val="F9F9F9">
                  <a:alpha val="43000"/>
                </a:srgbClr>
              </a:gs>
              <a:gs pos="100000">
                <a:srgbClr val="F9F9F9">
                  <a:shade val="100000"/>
                  <a:satMod val="115000"/>
                  <a:lumMod val="95000"/>
                  <a:lumOff val="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2F81D5-0B0E-A82D-7150-6C3ACD10AE47}"/>
              </a:ext>
            </a:extLst>
          </p:cNvPr>
          <p:cNvSpPr txBox="1"/>
          <p:nvPr/>
        </p:nvSpPr>
        <p:spPr>
          <a:xfrm>
            <a:off x="838201" y="1580264"/>
            <a:ext cx="4910349"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2">
                    <a:lumMod val="25000"/>
                  </a:schemeClr>
                </a:solidFill>
              </a:rPr>
              <a:t>Main competitor</a:t>
            </a:r>
          </a:p>
          <a:p>
            <a:r>
              <a:rPr lang="en-US" sz="2000">
                <a:solidFill>
                  <a:schemeClr val="bg2">
                    <a:lumMod val="25000"/>
                  </a:schemeClr>
                </a:solidFill>
                <a:latin typeface="Aptos"/>
              </a:rPr>
              <a:t>Time panels</a:t>
            </a:r>
          </a:p>
          <a:p>
            <a:endParaRPr lang="en-US">
              <a:solidFill>
                <a:schemeClr val="bg2">
                  <a:lumMod val="25000"/>
                </a:schemeClr>
              </a:solidFill>
            </a:endParaRPr>
          </a:p>
        </p:txBody>
      </p:sp>
      <p:pic>
        <p:nvPicPr>
          <p:cNvPr id="14" name="Picture 18" descr="A blue background with white lines and words&#10;&#10;AI-generated content may be incorrect.">
            <a:extLst>
              <a:ext uri="{FF2B5EF4-FFF2-40B4-BE49-F238E27FC236}">
                <a16:creationId xmlns:a16="http://schemas.microsoft.com/office/drawing/2014/main" id="{008BE07C-F01B-AE85-FC2B-84B26E16C947}"/>
              </a:ext>
            </a:extLst>
          </p:cNvPr>
          <p:cNvPicPr>
            <a:picLocks noChangeAspect="1"/>
          </p:cNvPicPr>
          <p:nvPr/>
        </p:nvPicPr>
        <p:blipFill rotWithShape="1">
          <a:blip r:embed="rId4"/>
          <a:srcRect l="22222" t="7244" r="22997" b="14964"/>
          <a:stretch>
            <a:fillRect/>
          </a:stretch>
        </p:blipFill>
        <p:spPr>
          <a:xfrm>
            <a:off x="7389962" y="1803765"/>
            <a:ext cx="3623095" cy="3623095"/>
          </a:xfrm>
          <a:prstGeom prst="ellipse">
            <a:avLst/>
          </a:prstGeom>
        </p:spPr>
      </p:pic>
    </p:spTree>
    <p:extLst>
      <p:ext uri="{BB962C8B-B14F-4D97-AF65-F5344CB8AC3E}">
        <p14:creationId xmlns:p14="http://schemas.microsoft.com/office/powerpoint/2010/main" val="1526459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140F1-4D22-17C5-9537-4E542962F8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6D5F05E-D6AF-258A-2C5E-B112D2C73391}"/>
              </a:ext>
            </a:extLst>
          </p:cNvPr>
          <p:cNvPicPr>
            <a:picLocks noChangeAspect="1"/>
          </p:cNvPicPr>
          <p:nvPr/>
        </p:nvPicPr>
        <p:blipFill>
          <a:blip r:embed="rId3"/>
          <a:srcRect l="10790" t="10672" r="10474" b="20439"/>
          <a:stretch>
            <a:fillRect/>
          </a:stretch>
        </p:blipFill>
        <p:spPr>
          <a:xfrm>
            <a:off x="976413" y="2934555"/>
            <a:ext cx="1669352" cy="1621299"/>
          </a:xfrm>
          <a:prstGeom prst="rect">
            <a:avLst/>
          </a:prstGeom>
        </p:spPr>
      </p:pic>
      <p:pic>
        <p:nvPicPr>
          <p:cNvPr id="10" name="Picture 9" descr="Archivo:Moovit-app-logo.png - Wikipedia, la enciclopedia libre">
            <a:extLst>
              <a:ext uri="{FF2B5EF4-FFF2-40B4-BE49-F238E27FC236}">
                <a16:creationId xmlns:a16="http://schemas.microsoft.com/office/drawing/2014/main" id="{18F144AF-5354-B1AE-99C5-A31974CC0EDE}"/>
              </a:ext>
            </a:extLst>
          </p:cNvPr>
          <p:cNvPicPr>
            <a:picLocks noChangeAspect="1"/>
          </p:cNvPicPr>
          <p:nvPr/>
        </p:nvPicPr>
        <p:blipFill>
          <a:blip r:embed="rId4"/>
          <a:stretch>
            <a:fillRect/>
          </a:stretch>
        </p:blipFill>
        <p:spPr>
          <a:xfrm>
            <a:off x="3026624" y="2938821"/>
            <a:ext cx="1666508" cy="1624561"/>
          </a:xfrm>
          <a:prstGeom prst="rect">
            <a:avLst/>
          </a:prstGeom>
        </p:spPr>
      </p:pic>
      <p:pic>
        <p:nvPicPr>
          <p:cNvPr id="4" name="Picture 3" descr="Archivo:Google Maps Logo 2020.svg - Wikipedia, la enciclopedia libre">
            <a:extLst>
              <a:ext uri="{FF2B5EF4-FFF2-40B4-BE49-F238E27FC236}">
                <a16:creationId xmlns:a16="http://schemas.microsoft.com/office/drawing/2014/main" id="{EC7F8437-1C5F-0FAF-8A77-2F41C0BE5F1F}"/>
              </a:ext>
            </a:extLst>
          </p:cNvPr>
          <p:cNvPicPr>
            <a:picLocks noChangeAspect="1"/>
          </p:cNvPicPr>
          <p:nvPr/>
        </p:nvPicPr>
        <p:blipFill>
          <a:blip r:embed="rId5"/>
          <a:srcRect l="17872" t="-3113" r="15343" b="27397"/>
          <a:stretch>
            <a:fillRect/>
          </a:stretch>
        </p:blipFill>
        <p:spPr>
          <a:xfrm>
            <a:off x="4920802" y="2935078"/>
            <a:ext cx="1653589" cy="1624263"/>
          </a:xfrm>
          <a:prstGeom prst="rect">
            <a:avLst/>
          </a:prstGeom>
        </p:spPr>
      </p:pic>
      <p:sp>
        <p:nvSpPr>
          <p:cNvPr id="15" name="Title 1">
            <a:extLst>
              <a:ext uri="{FF2B5EF4-FFF2-40B4-BE49-F238E27FC236}">
                <a16:creationId xmlns:a16="http://schemas.microsoft.com/office/drawing/2014/main" id="{E5D1A088-ED90-56E2-0EB8-AF811FB3C3DF}"/>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0000AD"/>
                </a:solidFill>
                <a:latin typeface="Aptos ExtraBold"/>
                <a:cs typeface="Aharoni"/>
              </a:rPr>
              <a:t>BENCHMARKING</a:t>
            </a:r>
          </a:p>
        </p:txBody>
      </p:sp>
      <p:pic>
        <p:nvPicPr>
          <p:cNvPr id="19" name="Picture 18" descr="A blue background with white lines and words&#10;&#10;AI-generated content may be incorrect.">
            <a:extLst>
              <a:ext uri="{FF2B5EF4-FFF2-40B4-BE49-F238E27FC236}">
                <a16:creationId xmlns:a16="http://schemas.microsoft.com/office/drawing/2014/main" id="{48A14131-C76B-D6AF-0067-604031A82EF1}"/>
              </a:ext>
            </a:extLst>
          </p:cNvPr>
          <p:cNvPicPr>
            <a:picLocks noChangeAspect="1"/>
          </p:cNvPicPr>
          <p:nvPr/>
        </p:nvPicPr>
        <p:blipFill rotWithShape="1">
          <a:blip r:embed="rId6"/>
          <a:srcRect l="22222" t="7244" r="22997" b="14964"/>
          <a:stretch>
            <a:fillRect/>
          </a:stretch>
        </p:blipFill>
        <p:spPr>
          <a:xfrm>
            <a:off x="7389962" y="1803765"/>
            <a:ext cx="3623095" cy="3623095"/>
          </a:xfrm>
          <a:prstGeom prst="ellipse">
            <a:avLst/>
          </a:prstGeom>
        </p:spPr>
      </p:pic>
      <p:sp>
        <p:nvSpPr>
          <p:cNvPr id="21" name="TextBox 20">
            <a:extLst>
              <a:ext uri="{FF2B5EF4-FFF2-40B4-BE49-F238E27FC236}">
                <a16:creationId xmlns:a16="http://schemas.microsoft.com/office/drawing/2014/main" id="{7357B7B5-1762-4759-9E32-3841F5230C18}"/>
              </a:ext>
            </a:extLst>
          </p:cNvPr>
          <p:cNvSpPr txBox="1"/>
          <p:nvPr/>
        </p:nvSpPr>
        <p:spPr>
          <a:xfrm>
            <a:off x="838200" y="4899324"/>
            <a:ext cx="491034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3A3A3A"/>
                </a:solidFill>
              </a:rPr>
              <a:t>Apps </a:t>
            </a:r>
            <a:r>
              <a:rPr lang="en-US" sz="2000">
                <a:solidFill>
                  <a:srgbClr val="3A3A3A"/>
                </a:solidFill>
              </a:rPr>
              <a:t>that complement the time panel but keep having the same deficiencies</a:t>
            </a:r>
          </a:p>
          <a:p>
            <a:pPr marL="285750" indent="-285750">
              <a:buFont typeface="Arial"/>
              <a:buChar char="•"/>
            </a:pPr>
            <a:endParaRPr lang="en-US" sz="2000">
              <a:solidFill>
                <a:srgbClr val="3A3A3A"/>
              </a:solidFill>
            </a:endParaRPr>
          </a:p>
        </p:txBody>
      </p:sp>
    </p:spTree>
    <p:extLst>
      <p:ext uri="{BB962C8B-B14F-4D97-AF65-F5344CB8AC3E}">
        <p14:creationId xmlns:p14="http://schemas.microsoft.com/office/powerpoint/2010/main" val="15715646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1D052-A191-FA6C-40CD-D75E3248D1E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466EAA6-7C80-1FED-E61B-1307FBE469FE}"/>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solidFill>
                  <a:srgbClr val="0000AD"/>
                </a:solidFill>
                <a:latin typeface="Aptos ExtraBold"/>
                <a:cs typeface="Aharoni"/>
              </a:rPr>
              <a:t>USP</a:t>
            </a:r>
            <a:endParaRPr lang="en-US">
              <a:latin typeface="Aptos ExtraBold"/>
            </a:endParaRPr>
          </a:p>
        </p:txBody>
      </p:sp>
      <p:grpSp>
        <p:nvGrpSpPr>
          <p:cNvPr id="4" name="Grupo 3">
            <a:extLst>
              <a:ext uri="{FF2B5EF4-FFF2-40B4-BE49-F238E27FC236}">
                <a16:creationId xmlns:a16="http://schemas.microsoft.com/office/drawing/2014/main" id="{C3B8139F-3784-8E7F-AE0D-4D1CBC370B83}"/>
              </a:ext>
            </a:extLst>
          </p:cNvPr>
          <p:cNvGrpSpPr/>
          <p:nvPr/>
        </p:nvGrpSpPr>
        <p:grpSpPr>
          <a:xfrm>
            <a:off x="965503" y="2201428"/>
            <a:ext cx="5090427" cy="3785652"/>
            <a:chOff x="945670" y="1966343"/>
            <a:chExt cx="5090427" cy="3785652"/>
          </a:xfrm>
        </p:grpSpPr>
        <p:sp>
          <p:nvSpPr>
            <p:cNvPr id="17" name="TextBox 16">
              <a:extLst>
                <a:ext uri="{FF2B5EF4-FFF2-40B4-BE49-F238E27FC236}">
                  <a16:creationId xmlns:a16="http://schemas.microsoft.com/office/drawing/2014/main" id="{C7740546-0A5C-3C3A-1D18-1728BBAADFFC}"/>
                </a:ext>
              </a:extLst>
            </p:cNvPr>
            <p:cNvSpPr txBox="1"/>
            <p:nvPr/>
          </p:nvSpPr>
          <p:spPr>
            <a:xfrm>
              <a:off x="1255143" y="1966343"/>
              <a:ext cx="478095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3A3A3A"/>
                  </a:solidFill>
                  <a:latin typeface="Aptos SemiBold"/>
                </a:rPr>
                <a:t>Erases digital divide</a:t>
              </a:r>
              <a:r>
                <a:rPr lang="en-US" sz="2000">
                  <a:solidFill>
                    <a:srgbClr val="3A3A3A"/>
                  </a:solidFill>
                </a:rPr>
                <a:t> </a:t>
              </a:r>
              <a:r>
                <a:rPr lang="en-US" sz="2000">
                  <a:solidFill>
                    <a:srgbClr val="3A3A3A"/>
                  </a:solidFill>
                  <a:latin typeface="Aptos Light"/>
                </a:rPr>
                <a:t>– No need of smartphones that complete its function</a:t>
              </a:r>
              <a:endParaRPr lang="en-US">
                <a:latin typeface="Aptos Light"/>
              </a:endParaRPr>
            </a:p>
            <a:p>
              <a:endParaRPr lang="en-US" sz="2000">
                <a:solidFill>
                  <a:srgbClr val="3A3A3A"/>
                </a:solidFill>
              </a:endParaRPr>
            </a:p>
            <a:p>
              <a:r>
                <a:rPr lang="en-US" sz="2000">
                  <a:solidFill>
                    <a:srgbClr val="3A3A3A"/>
                  </a:solidFill>
                  <a:latin typeface="Aptos Light"/>
                </a:rPr>
                <a:t>Shows </a:t>
              </a:r>
              <a:r>
                <a:rPr lang="en-US" sz="2000" b="1">
                  <a:solidFill>
                    <a:srgbClr val="3A3A3A"/>
                  </a:solidFill>
                  <a:latin typeface="Aptos SemiBold"/>
                </a:rPr>
                <a:t>bus real time location</a:t>
              </a:r>
            </a:p>
            <a:p>
              <a:endParaRPr lang="en-US" sz="2000" b="1">
                <a:solidFill>
                  <a:srgbClr val="3A3A3A"/>
                </a:solidFill>
              </a:endParaRPr>
            </a:p>
            <a:p>
              <a:r>
                <a:rPr lang="en-US" sz="2000">
                  <a:solidFill>
                    <a:srgbClr val="3A3A3A"/>
                  </a:solidFill>
                  <a:latin typeface="Aptos Light"/>
                </a:rPr>
                <a:t>Allows you to take </a:t>
              </a:r>
              <a:r>
                <a:rPr lang="en-US" sz="2000" b="1">
                  <a:solidFill>
                    <a:srgbClr val="3A3A3A"/>
                  </a:solidFill>
                  <a:latin typeface="Aptos SemiBold"/>
                </a:rPr>
                <a:t>informed decisions</a:t>
              </a:r>
            </a:p>
            <a:p>
              <a:pPr marL="285750" indent="-285750">
                <a:buFont typeface="Arial"/>
                <a:buChar char="•"/>
              </a:pPr>
              <a:endParaRPr lang="en-US" sz="2000">
                <a:solidFill>
                  <a:srgbClr val="3A3A3A"/>
                </a:solidFill>
              </a:endParaRPr>
            </a:p>
            <a:p>
              <a:r>
                <a:rPr lang="en-US" sz="2000" b="1">
                  <a:solidFill>
                    <a:srgbClr val="3A3A3A"/>
                  </a:solidFill>
                  <a:latin typeface="Aptos SemiBold"/>
                </a:rPr>
                <a:t>Empowers people with disabilities</a:t>
              </a:r>
              <a:r>
                <a:rPr lang="en-US" sz="2000">
                  <a:solidFill>
                    <a:srgbClr val="3A3A3A"/>
                  </a:solidFill>
                </a:rPr>
                <a:t> </a:t>
              </a:r>
              <a:r>
                <a:rPr lang="en-US" sz="2000">
                  <a:solidFill>
                    <a:srgbClr val="3A3A3A"/>
                  </a:solidFill>
                  <a:latin typeface="Aptos Light"/>
                </a:rPr>
                <a:t>– </a:t>
              </a:r>
              <a:br>
                <a:rPr lang="en-US">
                  <a:latin typeface="Aptos Light"/>
                </a:rPr>
              </a:br>
              <a:r>
                <a:rPr lang="en-US" sz="2000">
                  <a:solidFill>
                    <a:srgbClr val="3A3A3A"/>
                  </a:solidFill>
                  <a:latin typeface="Aptos Light"/>
                </a:rPr>
                <a:t>through voice reading and color blinded friendly interface</a:t>
              </a:r>
            </a:p>
            <a:p>
              <a:endParaRPr lang="en-US" sz="2000">
                <a:solidFill>
                  <a:srgbClr val="3A3A3A"/>
                </a:solidFill>
              </a:endParaRPr>
            </a:p>
            <a:p>
              <a:r>
                <a:rPr lang="en-US" sz="2000" b="1">
                  <a:solidFill>
                    <a:srgbClr val="3A3A3A"/>
                  </a:solidFill>
                  <a:latin typeface="Aptos SemiBold"/>
                </a:rPr>
                <a:t>Basic function</a:t>
              </a:r>
              <a:r>
                <a:rPr lang="en-US" sz="2000">
                  <a:solidFill>
                    <a:srgbClr val="3A3A3A"/>
                  </a:solidFill>
                </a:rPr>
                <a:t> </a:t>
              </a:r>
              <a:r>
                <a:rPr lang="en-US" sz="2000">
                  <a:solidFill>
                    <a:srgbClr val="3A3A3A"/>
                  </a:solidFill>
                  <a:latin typeface="Aptos Light"/>
                </a:rPr>
                <a:t>always </a:t>
              </a:r>
              <a:r>
                <a:rPr lang="en-US" sz="2000" b="1">
                  <a:solidFill>
                    <a:srgbClr val="3A3A3A"/>
                  </a:solidFill>
                  <a:latin typeface="Aptos SemiBold"/>
                </a:rPr>
                <a:t>covered</a:t>
              </a:r>
            </a:p>
          </p:txBody>
        </p:sp>
        <p:pic>
          <p:nvPicPr>
            <p:cNvPr id="6" name="Picture 5">
              <a:extLst>
                <a:ext uri="{FF2B5EF4-FFF2-40B4-BE49-F238E27FC236}">
                  <a16:creationId xmlns:a16="http://schemas.microsoft.com/office/drawing/2014/main" id="{EE3328B4-FF91-7C3F-E563-DA9595E062FA}"/>
                </a:ext>
              </a:extLst>
            </p:cNvPr>
            <p:cNvPicPr>
              <a:picLocks noChangeAspect="1"/>
            </p:cNvPicPr>
            <p:nvPr/>
          </p:nvPicPr>
          <p:blipFill>
            <a:blip r:embed="rId3"/>
            <a:stretch>
              <a:fillRect/>
            </a:stretch>
          </p:blipFill>
          <p:spPr>
            <a:xfrm>
              <a:off x="945671" y="2066925"/>
              <a:ext cx="250886" cy="179358"/>
            </a:xfrm>
            <a:prstGeom prst="rect">
              <a:avLst/>
            </a:prstGeom>
          </p:spPr>
        </p:pic>
        <p:pic>
          <p:nvPicPr>
            <p:cNvPr id="13" name="Picture 12">
              <a:extLst>
                <a:ext uri="{FF2B5EF4-FFF2-40B4-BE49-F238E27FC236}">
                  <a16:creationId xmlns:a16="http://schemas.microsoft.com/office/drawing/2014/main" id="{4ADC0865-4121-4103-3ABB-A73B890AA860}"/>
                </a:ext>
              </a:extLst>
            </p:cNvPr>
            <p:cNvPicPr>
              <a:picLocks noChangeAspect="1"/>
            </p:cNvPicPr>
            <p:nvPr/>
          </p:nvPicPr>
          <p:blipFill>
            <a:blip r:embed="rId3"/>
            <a:stretch>
              <a:fillRect/>
            </a:stretch>
          </p:blipFill>
          <p:spPr>
            <a:xfrm>
              <a:off x="945670" y="2987075"/>
              <a:ext cx="250886" cy="179358"/>
            </a:xfrm>
            <a:prstGeom prst="rect">
              <a:avLst/>
            </a:prstGeom>
          </p:spPr>
        </p:pic>
        <p:pic>
          <p:nvPicPr>
            <p:cNvPr id="14" name="Picture 13">
              <a:extLst>
                <a:ext uri="{FF2B5EF4-FFF2-40B4-BE49-F238E27FC236}">
                  <a16:creationId xmlns:a16="http://schemas.microsoft.com/office/drawing/2014/main" id="{28A97163-DA8F-3DC3-64E1-7EAE2411321F}"/>
                </a:ext>
              </a:extLst>
            </p:cNvPr>
            <p:cNvPicPr>
              <a:picLocks noChangeAspect="1"/>
            </p:cNvPicPr>
            <p:nvPr/>
          </p:nvPicPr>
          <p:blipFill>
            <a:blip r:embed="rId3"/>
            <a:stretch>
              <a:fillRect/>
            </a:stretch>
          </p:blipFill>
          <p:spPr>
            <a:xfrm>
              <a:off x="945671" y="3619679"/>
              <a:ext cx="250886" cy="179358"/>
            </a:xfrm>
            <a:prstGeom prst="rect">
              <a:avLst/>
            </a:prstGeom>
          </p:spPr>
        </p:pic>
        <p:pic>
          <p:nvPicPr>
            <p:cNvPr id="15" name="Picture 14">
              <a:extLst>
                <a:ext uri="{FF2B5EF4-FFF2-40B4-BE49-F238E27FC236}">
                  <a16:creationId xmlns:a16="http://schemas.microsoft.com/office/drawing/2014/main" id="{DD04C75C-A0F6-6891-2935-B67B0A9C7325}"/>
                </a:ext>
              </a:extLst>
            </p:cNvPr>
            <p:cNvPicPr>
              <a:picLocks noChangeAspect="1"/>
            </p:cNvPicPr>
            <p:nvPr/>
          </p:nvPicPr>
          <p:blipFill>
            <a:blip r:embed="rId3"/>
            <a:stretch>
              <a:fillRect/>
            </a:stretch>
          </p:blipFill>
          <p:spPr>
            <a:xfrm>
              <a:off x="945670" y="4237906"/>
              <a:ext cx="250886" cy="179358"/>
            </a:xfrm>
            <a:prstGeom prst="rect">
              <a:avLst/>
            </a:prstGeom>
          </p:spPr>
        </p:pic>
        <p:pic>
          <p:nvPicPr>
            <p:cNvPr id="18" name="Picture 17">
              <a:extLst>
                <a:ext uri="{FF2B5EF4-FFF2-40B4-BE49-F238E27FC236}">
                  <a16:creationId xmlns:a16="http://schemas.microsoft.com/office/drawing/2014/main" id="{EA103E7A-06E1-6766-47EB-D66197A66D83}"/>
                </a:ext>
              </a:extLst>
            </p:cNvPr>
            <p:cNvPicPr>
              <a:picLocks noChangeAspect="1"/>
            </p:cNvPicPr>
            <p:nvPr/>
          </p:nvPicPr>
          <p:blipFill>
            <a:blip r:embed="rId3"/>
            <a:stretch>
              <a:fillRect/>
            </a:stretch>
          </p:blipFill>
          <p:spPr>
            <a:xfrm>
              <a:off x="945671" y="5445604"/>
              <a:ext cx="250886" cy="179358"/>
            </a:xfrm>
            <a:prstGeom prst="rect">
              <a:avLst/>
            </a:prstGeom>
          </p:spPr>
        </p:pic>
      </p:grpSp>
      <p:pic>
        <p:nvPicPr>
          <p:cNvPr id="25" name="Imagen 24">
            <a:extLst>
              <a:ext uri="{FF2B5EF4-FFF2-40B4-BE49-F238E27FC236}">
                <a16:creationId xmlns:a16="http://schemas.microsoft.com/office/drawing/2014/main" id="{61796CFC-3624-F19D-6BF7-1DED97F69317}"/>
              </a:ext>
            </a:extLst>
          </p:cNvPr>
          <p:cNvPicPr>
            <a:picLocks noChangeAspect="1"/>
          </p:cNvPicPr>
          <p:nvPr/>
        </p:nvPicPr>
        <p:blipFill>
          <a:blip r:embed="rId4">
            <a:extLst>
              <a:ext uri="{28A0092B-C50C-407E-A947-70E740481C1C}">
                <a14:useLocalDpi xmlns:a14="http://schemas.microsoft.com/office/drawing/2010/main" val="0"/>
              </a:ext>
            </a:extLst>
          </a:blip>
          <a:srcRect l="4722" r="46705"/>
          <a:stretch>
            <a:fillRect/>
          </a:stretch>
        </p:blipFill>
        <p:spPr>
          <a:xfrm>
            <a:off x="7195278" y="0"/>
            <a:ext cx="4996721" cy="6858000"/>
          </a:xfrm>
          <a:prstGeom prst="rect">
            <a:avLst/>
          </a:prstGeom>
        </p:spPr>
      </p:pic>
      <p:sp>
        <p:nvSpPr>
          <p:cNvPr id="3" name="Oval 5">
            <a:extLst>
              <a:ext uri="{FF2B5EF4-FFF2-40B4-BE49-F238E27FC236}">
                <a16:creationId xmlns:a16="http://schemas.microsoft.com/office/drawing/2014/main" id="{288DB4B2-B4D2-C4E3-773F-56B4D268C419}"/>
              </a:ext>
            </a:extLst>
          </p:cNvPr>
          <p:cNvSpPr/>
          <p:nvPr/>
        </p:nvSpPr>
        <p:spPr>
          <a:xfrm>
            <a:off x="5770109" y="2422660"/>
            <a:ext cx="2707048" cy="2651424"/>
          </a:xfrm>
          <a:prstGeom prst="ellipse">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ue background with white lines and words&#10;&#10;AI-generated content may be incorrect.">
            <a:extLst>
              <a:ext uri="{FF2B5EF4-FFF2-40B4-BE49-F238E27FC236}">
                <a16:creationId xmlns:a16="http://schemas.microsoft.com/office/drawing/2014/main" id="{8DE87A16-D4A8-7852-D827-13AAB8DB322E}"/>
              </a:ext>
            </a:extLst>
          </p:cNvPr>
          <p:cNvPicPr>
            <a:picLocks noChangeAspect="1"/>
          </p:cNvPicPr>
          <p:nvPr/>
        </p:nvPicPr>
        <p:blipFill rotWithShape="1">
          <a:blip r:embed="rId5"/>
          <a:srcRect l="22222" t="7244" r="22997" b="14964"/>
          <a:stretch>
            <a:fillRect/>
          </a:stretch>
        </p:blipFill>
        <p:spPr>
          <a:xfrm>
            <a:off x="6000768" y="2595527"/>
            <a:ext cx="2303782" cy="2303781"/>
          </a:xfrm>
          <a:prstGeom prst="ellipse">
            <a:avLst/>
          </a:prstGeom>
        </p:spPr>
      </p:pic>
      <p:sp>
        <p:nvSpPr>
          <p:cNvPr id="2" name="TextBox 6">
            <a:extLst>
              <a:ext uri="{FF2B5EF4-FFF2-40B4-BE49-F238E27FC236}">
                <a16:creationId xmlns:a16="http://schemas.microsoft.com/office/drawing/2014/main" id="{57657DF9-D24D-52FF-BDE4-8B2B82A47F69}"/>
              </a:ext>
            </a:extLst>
          </p:cNvPr>
          <p:cNvSpPr txBox="1"/>
          <p:nvPr/>
        </p:nvSpPr>
        <p:spPr>
          <a:xfrm>
            <a:off x="859760" y="1450627"/>
            <a:ext cx="491034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2">
                    <a:lumMod val="25000"/>
                  </a:schemeClr>
                </a:solidFill>
                <a:latin typeface="Aptos"/>
              </a:rPr>
              <a:t>Unique Selling Point</a:t>
            </a:r>
            <a:endParaRPr lang="en-US" b="1">
              <a:solidFill>
                <a:schemeClr val="bg2">
                  <a:lumMod val="25000"/>
                </a:schemeClr>
              </a:solidFill>
              <a:latin typeface="Aptos"/>
            </a:endParaRPr>
          </a:p>
        </p:txBody>
      </p:sp>
    </p:spTree>
    <p:extLst>
      <p:ext uri="{BB962C8B-B14F-4D97-AF65-F5344CB8AC3E}">
        <p14:creationId xmlns:p14="http://schemas.microsoft.com/office/powerpoint/2010/main" val="3068536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BE11-87B7-22E9-642F-DA76B8937158}"/>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4BDEC007-EE7D-643B-1A31-8132D010239D}"/>
              </a:ext>
            </a:extLst>
          </p:cNvPr>
          <p:cNvSpPr txBox="1"/>
          <p:nvPr/>
        </p:nvSpPr>
        <p:spPr>
          <a:xfrm>
            <a:off x="984296" y="4712544"/>
            <a:ext cx="2126965"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3A3A3A"/>
                </a:solidFill>
                <a:latin typeface="Aptos Light"/>
              </a:rPr>
              <a:t>Overcoming </a:t>
            </a:r>
            <a:r>
              <a:rPr lang="en-US" sz="2000" b="1">
                <a:solidFill>
                  <a:srgbClr val="0000AD"/>
                </a:solidFill>
              </a:rPr>
              <a:t>daily</a:t>
            </a:r>
            <a:r>
              <a:rPr lang="en-US" sz="2000" b="1">
                <a:solidFill>
                  <a:srgbClr val="3A3A3A"/>
                </a:solidFill>
              </a:rPr>
              <a:t> </a:t>
            </a:r>
            <a:r>
              <a:rPr lang="en-US" sz="2000" b="1">
                <a:solidFill>
                  <a:srgbClr val="0000AD"/>
                </a:solidFill>
              </a:rPr>
              <a:t>obstacles</a:t>
            </a:r>
          </a:p>
          <a:p>
            <a:pPr marL="285750" indent="-285750">
              <a:buFont typeface="Arial"/>
              <a:buChar char="•"/>
            </a:pPr>
            <a:endParaRPr lang="en-US">
              <a:solidFill>
                <a:srgbClr val="3A3A3A"/>
              </a:solidFill>
            </a:endParaRPr>
          </a:p>
        </p:txBody>
      </p:sp>
      <p:sp>
        <p:nvSpPr>
          <p:cNvPr id="2" name="Title 1">
            <a:extLst>
              <a:ext uri="{FF2B5EF4-FFF2-40B4-BE49-F238E27FC236}">
                <a16:creationId xmlns:a16="http://schemas.microsoft.com/office/drawing/2014/main" id="{1C635EDA-7632-4EF5-BCE9-83E38C13D5EF}"/>
              </a:ext>
            </a:extLst>
          </p:cNvPr>
          <p:cNvSpPr txBox="1">
            <a:spLocks/>
          </p:cNvSpPr>
          <p:nvPr/>
        </p:nvSpPr>
        <p:spPr>
          <a:xfrm>
            <a:off x="871818" y="1440091"/>
            <a:ext cx="9547455" cy="6105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a:solidFill>
                  <a:schemeClr val="bg2">
                    <a:lumMod val="25000"/>
                  </a:schemeClr>
                </a:solidFill>
                <a:ea typeface="+mj-lt"/>
                <a:cs typeface="+mj-lt"/>
              </a:rPr>
              <a:t>Sustainable Urban Solutions for Future Cities</a:t>
            </a:r>
            <a:endParaRPr lang="en-US" sz="2000">
              <a:solidFill>
                <a:schemeClr val="bg2">
                  <a:lumMod val="25000"/>
                </a:schemeClr>
              </a:solidFill>
            </a:endParaRPr>
          </a:p>
        </p:txBody>
      </p:sp>
      <p:pic>
        <p:nvPicPr>
          <p:cNvPr id="4" name="Picture 3">
            <a:extLst>
              <a:ext uri="{FF2B5EF4-FFF2-40B4-BE49-F238E27FC236}">
                <a16:creationId xmlns:a16="http://schemas.microsoft.com/office/drawing/2014/main" id="{67FB6459-2E86-850C-0BD6-2FFC3E9B1FC6}"/>
              </a:ext>
            </a:extLst>
          </p:cNvPr>
          <p:cNvPicPr>
            <a:picLocks noChangeAspect="1"/>
          </p:cNvPicPr>
          <p:nvPr/>
        </p:nvPicPr>
        <p:blipFill>
          <a:blip r:embed="rId3">
            <a:alphaModFix amt="80000"/>
            <a:extLst>
              <a:ext uri="{BEBA8EAE-BF5A-486C-A8C5-ECC9F3942E4B}">
                <a14:imgProps xmlns:a14="http://schemas.microsoft.com/office/drawing/2010/main">
                  <a14:imgLayer r:embed="rId4">
                    <a14:imgEffect>
                      <a14:backgroundRemoval t="10000" b="90000" l="10000" r="90000">
                        <a14:foregroundMark x1="47059" y1="28936" x2="42017" y2="53617"/>
                        <a14:foregroundMark x1="42017" y1="53617" x2="42857" y2="55745"/>
                        <a14:foregroundMark x1="67227" y1="47660" x2="59664" y2="53617"/>
                        <a14:foregroundMark x1="32645" y1="34413" x2="23109" y2="35745"/>
                        <a14:foregroundMark x1="25719" y1="36306" x2="24790" y2="36596"/>
                        <a14:foregroundMark x1="39496" y1="38723" x2="26891" y2="39149"/>
                        <a14:foregroundMark x1="45378" y1="26809" x2="37395" y2="37021"/>
                        <a14:foregroundMark x1="39916" y1="31915" x2="32773" y2="40426"/>
                        <a14:foregroundMark x1="39916" y1="30213" x2="32353" y2="40426"/>
                      </a14:backgroundRemoval>
                    </a14:imgEffect>
                    <a14:imgEffect>
                      <a14:colorTemperature colorTemp="11200"/>
                    </a14:imgEffect>
                    <a14:imgEffect>
                      <a14:saturation sat="400000"/>
                    </a14:imgEffect>
                    <a14:imgEffect>
                      <a14:brightnessContrast bright="40000" contrast="-40000"/>
                    </a14:imgEffect>
                  </a14:imgLayer>
                </a14:imgProps>
              </a:ext>
            </a:extLst>
          </a:blip>
          <a:stretch>
            <a:fillRect/>
          </a:stretch>
        </p:blipFill>
        <p:spPr>
          <a:xfrm>
            <a:off x="3745459" y="2550512"/>
            <a:ext cx="1839911" cy="1793222"/>
          </a:xfrm>
          <a:prstGeom prst="rect">
            <a:avLst/>
          </a:prstGeom>
          <a:effectLst/>
        </p:spPr>
      </p:pic>
      <p:pic>
        <p:nvPicPr>
          <p:cNvPr id="6" name="Picture 5">
            <a:extLst>
              <a:ext uri="{FF2B5EF4-FFF2-40B4-BE49-F238E27FC236}">
                <a16:creationId xmlns:a16="http://schemas.microsoft.com/office/drawing/2014/main" id="{E8DA163D-4BD9-B1FF-DE30-EA2CEEE158E6}"/>
              </a:ext>
            </a:extLst>
          </p:cNvPr>
          <p:cNvPicPr>
            <a:picLocks noChangeAspect="1"/>
          </p:cNvPicPr>
          <p:nvPr/>
        </p:nvPicPr>
        <p:blipFill>
          <a:blip r:embed="rId5">
            <a:alphaModFix amt="80000"/>
            <a:extLst>
              <a:ext uri="{BEBA8EAE-BF5A-486C-A8C5-ECC9F3942E4B}">
                <a14:imgProps xmlns:a14="http://schemas.microsoft.com/office/drawing/2010/main">
                  <a14:imgLayer r:embed="rId6">
                    <a14:imgEffect>
                      <a14:backgroundRemoval t="10000" b="90000" l="10000" r="90000">
                        <a14:foregroundMark x1="61878" y1="9623" x2="41436" y2="9623"/>
                        <a14:foregroundMark x1="48619" y1="20921" x2="38122" y2="25105"/>
                        <a14:foregroundMark x1="53591" y1="83682" x2="46961" y2="84937"/>
                      </a14:backgroundRemoval>
                    </a14:imgEffect>
                  </a14:imgLayer>
                </a14:imgProps>
              </a:ext>
            </a:extLst>
          </a:blip>
          <a:stretch>
            <a:fillRect/>
          </a:stretch>
        </p:blipFill>
        <p:spPr>
          <a:xfrm>
            <a:off x="1383159" y="2550513"/>
            <a:ext cx="1344222" cy="1773790"/>
          </a:xfrm>
          <a:prstGeom prst="rect">
            <a:avLst/>
          </a:prstGeom>
        </p:spPr>
      </p:pic>
      <p:pic>
        <p:nvPicPr>
          <p:cNvPr id="7" name="Picture 6">
            <a:extLst>
              <a:ext uri="{FF2B5EF4-FFF2-40B4-BE49-F238E27FC236}">
                <a16:creationId xmlns:a16="http://schemas.microsoft.com/office/drawing/2014/main" id="{BA8B1CB1-DECB-E68E-FE2C-20FB39A93035}"/>
              </a:ext>
            </a:extLst>
          </p:cNvPr>
          <p:cNvPicPr>
            <a:picLocks noChangeAspect="1"/>
          </p:cNvPicPr>
          <p:nvPr/>
        </p:nvPicPr>
        <p:blipFill>
          <a:blip r:embed="rId7">
            <a:alphaModFix amt="80000"/>
            <a:extLst>
              <a:ext uri="{BEBA8EAE-BF5A-486C-A8C5-ECC9F3942E4B}">
                <a14:imgProps xmlns:a14="http://schemas.microsoft.com/office/drawing/2010/main">
                  <a14:imgLayer r:embed="rId8">
                    <a14:imgEffect>
                      <a14:backgroundRemoval t="9402" b="93590" l="9268" r="89268">
                        <a14:foregroundMark x1="58537" y1="86752" x2="54146" y2="90171"/>
                        <a14:foregroundMark x1="57561" y1="91453" x2="52683" y2="93590"/>
                        <a14:foregroundMark x1="49756" y1="90171" x2="49756" y2="90171"/>
                        <a14:foregroundMark x1="56098" y1="89744" x2="45854" y2="86325"/>
                        <a14:foregroundMark x1="56585" y1="85897" x2="62439" y2="75641"/>
                        <a14:foregroundMark x1="71220" y1="30342" x2="79024" y2="23932"/>
                      </a14:backgroundRemoval>
                    </a14:imgEffect>
                  </a14:imgLayer>
                </a14:imgProps>
              </a:ext>
            </a:extLst>
          </a:blip>
          <a:stretch>
            <a:fillRect/>
          </a:stretch>
        </p:blipFill>
        <p:spPr>
          <a:xfrm>
            <a:off x="9504548" y="2552091"/>
            <a:ext cx="1518413" cy="1793222"/>
          </a:xfrm>
          <a:prstGeom prst="rect">
            <a:avLst/>
          </a:prstGeom>
        </p:spPr>
      </p:pic>
      <p:sp>
        <p:nvSpPr>
          <p:cNvPr id="8" name="TextBox 7">
            <a:extLst>
              <a:ext uri="{FF2B5EF4-FFF2-40B4-BE49-F238E27FC236}">
                <a16:creationId xmlns:a16="http://schemas.microsoft.com/office/drawing/2014/main" id="{463F9C5E-6FCB-A6FA-86E3-AD3F511371D8}"/>
              </a:ext>
            </a:extLst>
          </p:cNvPr>
          <p:cNvSpPr txBox="1"/>
          <p:nvPr/>
        </p:nvSpPr>
        <p:spPr>
          <a:xfrm>
            <a:off x="3559834" y="4710023"/>
            <a:ext cx="229750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3A3A3A"/>
                </a:solidFill>
                <a:latin typeface="Aptos"/>
              </a:rPr>
              <a:t> </a:t>
            </a:r>
            <a:r>
              <a:rPr lang="en-US" sz="2000">
                <a:solidFill>
                  <a:srgbClr val="3A3A3A"/>
                </a:solidFill>
                <a:latin typeface="Aptos Light"/>
              </a:rPr>
              <a:t>More </a:t>
            </a:r>
            <a:r>
              <a:rPr lang="en-US" sz="2000" b="1">
                <a:solidFill>
                  <a:srgbClr val="0000AD"/>
                </a:solidFill>
                <a:latin typeface="Aptos"/>
              </a:rPr>
              <a:t>affordable</a:t>
            </a:r>
            <a:r>
              <a:rPr lang="en-US" sz="2000" b="1">
                <a:solidFill>
                  <a:srgbClr val="3A3A3A"/>
                </a:solidFill>
                <a:latin typeface="Aptos"/>
              </a:rPr>
              <a:t> </a:t>
            </a:r>
            <a:r>
              <a:rPr lang="en-US" sz="2000" b="1">
                <a:solidFill>
                  <a:srgbClr val="0000AD"/>
                </a:solidFill>
                <a:latin typeface="Aptos"/>
              </a:rPr>
              <a:t>mobility</a:t>
            </a:r>
            <a:r>
              <a:rPr lang="en-US" sz="2000" b="1">
                <a:solidFill>
                  <a:srgbClr val="3A3A3A"/>
                </a:solidFill>
                <a:latin typeface="Aptos"/>
              </a:rPr>
              <a:t> </a:t>
            </a:r>
            <a:r>
              <a:rPr lang="en-US" sz="2000" b="1">
                <a:solidFill>
                  <a:srgbClr val="0000AD"/>
                </a:solidFill>
                <a:latin typeface="Aptos"/>
              </a:rPr>
              <a:t>solutions</a:t>
            </a:r>
          </a:p>
        </p:txBody>
      </p:sp>
      <p:sp>
        <p:nvSpPr>
          <p:cNvPr id="11" name="TextBox 10">
            <a:extLst>
              <a:ext uri="{FF2B5EF4-FFF2-40B4-BE49-F238E27FC236}">
                <a16:creationId xmlns:a16="http://schemas.microsoft.com/office/drawing/2014/main" id="{1A1202EA-EE6F-5BCD-6E6E-8F8630CA5336}"/>
              </a:ext>
            </a:extLst>
          </p:cNvPr>
          <p:cNvSpPr txBox="1"/>
          <p:nvPr/>
        </p:nvSpPr>
        <p:spPr>
          <a:xfrm>
            <a:off x="9187406" y="4710023"/>
            <a:ext cx="22543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3A3A3A"/>
                </a:solidFill>
                <a:latin typeface="Aptos Light"/>
              </a:rPr>
              <a:t>Reduce</a:t>
            </a:r>
            <a:r>
              <a:rPr lang="en-US" sz="2000">
                <a:solidFill>
                  <a:srgbClr val="0000AD"/>
                </a:solidFill>
                <a:latin typeface="Aptos Light"/>
              </a:rPr>
              <a:t> </a:t>
            </a:r>
            <a:r>
              <a:rPr lang="en-US" sz="2000" b="1">
                <a:solidFill>
                  <a:srgbClr val="0000AD"/>
                </a:solidFill>
                <a:latin typeface="Aptos"/>
              </a:rPr>
              <a:t>traffic</a:t>
            </a:r>
          </a:p>
        </p:txBody>
      </p:sp>
      <p:pic>
        <p:nvPicPr>
          <p:cNvPr id="14" name="Picture 13" descr="Anciano caminando - Iconos gratis de médico">
            <a:extLst>
              <a:ext uri="{FF2B5EF4-FFF2-40B4-BE49-F238E27FC236}">
                <a16:creationId xmlns:a16="http://schemas.microsoft.com/office/drawing/2014/main" id="{16CAC1A8-F2A4-C14F-AA0B-250E620BE799}"/>
              </a:ext>
            </a:extLst>
          </p:cNvPr>
          <p:cNvPicPr>
            <a:picLocks noChangeAspect="1"/>
          </p:cNvPicPr>
          <p:nvPr/>
        </p:nvPicPr>
        <p:blipFill>
          <a:blip r:embed="rId9">
            <a:alphaModFix amt="80000"/>
          </a:blip>
          <a:stretch>
            <a:fillRect/>
          </a:stretch>
        </p:blipFill>
        <p:spPr>
          <a:xfrm>
            <a:off x="6724651" y="2665176"/>
            <a:ext cx="1526249" cy="1529165"/>
          </a:xfrm>
          <a:prstGeom prst="rect">
            <a:avLst/>
          </a:prstGeom>
        </p:spPr>
      </p:pic>
      <p:sp>
        <p:nvSpPr>
          <p:cNvPr id="15" name="TextBox 14">
            <a:extLst>
              <a:ext uri="{FF2B5EF4-FFF2-40B4-BE49-F238E27FC236}">
                <a16:creationId xmlns:a16="http://schemas.microsoft.com/office/drawing/2014/main" id="{27BC5FAF-1664-CC28-EC52-39D96F1622C4}"/>
              </a:ext>
            </a:extLst>
          </p:cNvPr>
          <p:cNvSpPr txBox="1"/>
          <p:nvPr/>
        </p:nvSpPr>
        <p:spPr>
          <a:xfrm>
            <a:off x="6305909" y="4710023"/>
            <a:ext cx="252753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3A3A3A"/>
                </a:solidFill>
                <a:latin typeface="Aptos Light"/>
              </a:rPr>
              <a:t>Encourage </a:t>
            </a:r>
            <a:r>
              <a:rPr lang="en-US" sz="2000" b="1">
                <a:solidFill>
                  <a:srgbClr val="0000AD"/>
                </a:solidFill>
                <a:latin typeface="Aptos"/>
              </a:rPr>
              <a:t>active</a:t>
            </a:r>
            <a:r>
              <a:rPr lang="en-US" sz="2000" b="1">
                <a:solidFill>
                  <a:srgbClr val="3A3A3A"/>
                </a:solidFill>
                <a:latin typeface="Aptos"/>
              </a:rPr>
              <a:t> </a:t>
            </a:r>
            <a:r>
              <a:rPr lang="en-US" sz="2000" b="1">
                <a:solidFill>
                  <a:srgbClr val="0000AD"/>
                </a:solidFill>
                <a:latin typeface="Aptos"/>
              </a:rPr>
              <a:t>mobility</a:t>
            </a:r>
          </a:p>
        </p:txBody>
      </p:sp>
      <p:pic>
        <p:nvPicPr>
          <p:cNvPr id="19" name="Imagen 18" descr="Logotipo&#10;&#10;El contenido generado por IA puede ser incorrecto.">
            <a:extLst>
              <a:ext uri="{FF2B5EF4-FFF2-40B4-BE49-F238E27FC236}">
                <a16:creationId xmlns:a16="http://schemas.microsoft.com/office/drawing/2014/main" id="{1F5A910B-E763-9AD9-342F-17529066552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929481" y="5825081"/>
            <a:ext cx="2333252" cy="524812"/>
          </a:xfrm>
          <a:prstGeom prst="rect">
            <a:avLst/>
          </a:prstGeom>
        </p:spPr>
      </p:pic>
      <p:sp>
        <p:nvSpPr>
          <p:cNvPr id="5" name="Title 1">
            <a:extLst>
              <a:ext uri="{FF2B5EF4-FFF2-40B4-BE49-F238E27FC236}">
                <a16:creationId xmlns:a16="http://schemas.microsoft.com/office/drawing/2014/main" id="{41644139-661F-1606-A138-051309353D1E}"/>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solidFill>
                  <a:srgbClr val="0000AD"/>
                </a:solidFill>
                <a:latin typeface="Aptos ExtraBold"/>
                <a:cs typeface="Aharoni"/>
              </a:rPr>
              <a:t>UBIBUS</a:t>
            </a:r>
            <a:r>
              <a:rPr lang="en-US" sz="3600" b="1">
                <a:solidFill>
                  <a:srgbClr val="0000AD"/>
                </a:solidFill>
                <a:latin typeface="Aptos ExtraBold"/>
                <a:ea typeface="+mj-lt"/>
                <a:cs typeface="+mj-lt"/>
              </a:rPr>
              <a:t> </a:t>
            </a:r>
            <a:r>
              <a:rPr lang="en-US" sz="3600" b="1">
                <a:solidFill>
                  <a:srgbClr val="0000AD"/>
                </a:solidFill>
                <a:latin typeface="Aptos ExtraBold"/>
                <a:cs typeface="Aharoni"/>
              </a:rPr>
              <a:t>VALUES</a:t>
            </a:r>
            <a:r>
              <a:rPr lang="en-US" sz="3600" b="1">
                <a:solidFill>
                  <a:srgbClr val="0000AD"/>
                </a:solidFill>
                <a:latin typeface="Aptos ExtraBold"/>
                <a:ea typeface="+mj-lt"/>
                <a:cs typeface="+mj-lt"/>
              </a:rPr>
              <a:t> </a:t>
            </a:r>
            <a:endParaRPr lang="en-US">
              <a:latin typeface="Aptos ExtraBold"/>
            </a:endParaRPr>
          </a:p>
        </p:txBody>
      </p:sp>
    </p:spTree>
    <p:extLst>
      <p:ext uri="{BB962C8B-B14F-4D97-AF65-F5344CB8AC3E}">
        <p14:creationId xmlns:p14="http://schemas.microsoft.com/office/powerpoint/2010/main" val="40762673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B56F-B3C6-50A3-21F0-11DDA730B8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0368E-37E3-037B-44D2-172F0DC213DB}"/>
              </a:ext>
            </a:extLst>
          </p:cNvPr>
          <p:cNvSpPr>
            <a:spLocks noGrp="1"/>
          </p:cNvSpPr>
          <p:nvPr>
            <p:ph idx="1"/>
          </p:nvPr>
        </p:nvSpPr>
        <p:spPr>
          <a:xfrm>
            <a:off x="866955" y="2722089"/>
            <a:ext cx="6127066" cy="1603375"/>
          </a:xfrm>
        </p:spPr>
        <p:txBody>
          <a:bodyPr vert="horz" lIns="91440" tIns="45720" rIns="91440" bIns="45720" rtlCol="0" anchor="t">
            <a:normAutofit lnSpcReduction="10000"/>
          </a:bodyPr>
          <a:lstStyle/>
          <a:p>
            <a:pPr marL="0" indent="0">
              <a:buNone/>
            </a:pPr>
            <a:r>
              <a:rPr lang="en-US" sz="2000" b="1">
                <a:solidFill>
                  <a:schemeClr val="tx1">
                    <a:lumMod val="85000"/>
                    <a:lumOff val="15000"/>
                  </a:schemeClr>
                </a:solidFill>
              </a:rPr>
              <a:t>12.500 €</a:t>
            </a:r>
          </a:p>
          <a:p>
            <a:pPr lvl="1"/>
            <a:r>
              <a:rPr lang="en-US" sz="2000">
                <a:solidFill>
                  <a:schemeClr val="bg2">
                    <a:lumMod val="25000"/>
                  </a:schemeClr>
                </a:solidFill>
                <a:latin typeface="Aptos Light"/>
              </a:rPr>
              <a:t>1 bus line of ~ 22 stops  (Line 135)</a:t>
            </a:r>
          </a:p>
          <a:p>
            <a:pPr lvl="1"/>
            <a:r>
              <a:rPr lang="en-US" sz="2000">
                <a:solidFill>
                  <a:schemeClr val="bg2">
                    <a:lumMod val="25000"/>
                  </a:schemeClr>
                </a:solidFill>
                <a:latin typeface="Aptos Light"/>
              </a:rPr>
              <a:t>Bus-stop sensors</a:t>
            </a:r>
          </a:p>
          <a:p>
            <a:pPr lvl="1"/>
            <a:r>
              <a:rPr lang="en-US" sz="2000">
                <a:solidFill>
                  <a:schemeClr val="bg2">
                    <a:lumMod val="25000"/>
                  </a:schemeClr>
                </a:solidFill>
                <a:latin typeface="Aptos Light"/>
              </a:rPr>
              <a:t>More exact estimated times</a:t>
            </a:r>
          </a:p>
          <a:p>
            <a:pPr lvl="1"/>
            <a:r>
              <a:rPr lang="en-US" sz="2000">
                <a:solidFill>
                  <a:schemeClr val="bg2">
                    <a:lumMod val="25000"/>
                  </a:schemeClr>
                </a:solidFill>
                <a:latin typeface="Aptos Light"/>
              </a:rPr>
              <a:t>Complete App</a:t>
            </a:r>
          </a:p>
        </p:txBody>
      </p:sp>
      <p:sp>
        <p:nvSpPr>
          <p:cNvPr id="8" name="Title 1">
            <a:extLst>
              <a:ext uri="{FF2B5EF4-FFF2-40B4-BE49-F238E27FC236}">
                <a16:creationId xmlns:a16="http://schemas.microsoft.com/office/drawing/2014/main" id="{5F8B241E-2294-0787-A43C-A03A2EE1765F}"/>
              </a:ext>
            </a:extLst>
          </p:cNvPr>
          <p:cNvSpPr txBox="1">
            <a:spLocks/>
          </p:cNvSpPr>
          <p:nvPr/>
        </p:nvSpPr>
        <p:spPr>
          <a:xfrm>
            <a:off x="838201" y="623917"/>
            <a:ext cx="9581072" cy="1167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0000AD"/>
                </a:solidFill>
                <a:latin typeface="Aptos ExtraBold"/>
                <a:cs typeface="Aharoni"/>
              </a:rPr>
              <a:t>ESTIMATE</a:t>
            </a:r>
          </a:p>
        </p:txBody>
      </p:sp>
      <p:sp>
        <p:nvSpPr>
          <p:cNvPr id="4" name="CuadroTexto 3">
            <a:extLst>
              <a:ext uri="{FF2B5EF4-FFF2-40B4-BE49-F238E27FC236}">
                <a16:creationId xmlns:a16="http://schemas.microsoft.com/office/drawing/2014/main" id="{2070272E-A45A-E79B-1C00-6B15A060A7C4}"/>
              </a:ext>
            </a:extLst>
          </p:cNvPr>
          <p:cNvSpPr txBox="1"/>
          <p:nvPr/>
        </p:nvSpPr>
        <p:spPr>
          <a:xfrm>
            <a:off x="838201" y="1549319"/>
            <a:ext cx="4132881" cy="523220"/>
          </a:xfrm>
          <a:prstGeom prst="rect">
            <a:avLst/>
          </a:prstGeom>
          <a:noFill/>
        </p:spPr>
        <p:txBody>
          <a:bodyPr wrap="square">
            <a:spAutoFit/>
          </a:bodyPr>
          <a:lstStyle/>
          <a:p>
            <a:pPr marL="0" indent="0">
              <a:buNone/>
            </a:pPr>
            <a:r>
              <a:rPr lang="en-US" sz="2800">
                <a:solidFill>
                  <a:schemeClr val="bg2">
                    <a:lumMod val="25000"/>
                  </a:schemeClr>
                </a:solidFill>
              </a:rPr>
              <a:t>One module: </a:t>
            </a:r>
            <a:r>
              <a:rPr lang="en-US" sz="2800" b="1">
                <a:solidFill>
                  <a:srgbClr val="0000AD"/>
                </a:solidFill>
              </a:rPr>
              <a:t>350 €</a:t>
            </a:r>
          </a:p>
        </p:txBody>
      </p:sp>
      <p:sp>
        <p:nvSpPr>
          <p:cNvPr id="6" name="Content Placeholder 2">
            <a:extLst>
              <a:ext uri="{FF2B5EF4-FFF2-40B4-BE49-F238E27FC236}">
                <a16:creationId xmlns:a16="http://schemas.microsoft.com/office/drawing/2014/main" id="{A96F8EF3-9F9C-791C-DFF2-F48FD464695D}"/>
              </a:ext>
            </a:extLst>
          </p:cNvPr>
          <p:cNvSpPr txBox="1">
            <a:spLocks/>
          </p:cNvSpPr>
          <p:nvPr/>
        </p:nvSpPr>
        <p:spPr>
          <a:xfrm>
            <a:off x="866955" y="4513758"/>
            <a:ext cx="6127066" cy="116741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solidFill>
                  <a:schemeClr val="tx1">
                    <a:lumMod val="85000"/>
                    <a:lumOff val="15000"/>
                  </a:schemeClr>
                </a:solidFill>
              </a:rPr>
              <a:t>5.000 €</a:t>
            </a:r>
          </a:p>
          <a:p>
            <a:pPr lvl="1"/>
            <a:r>
              <a:rPr lang="en-US" sz="2000">
                <a:solidFill>
                  <a:schemeClr val="bg2">
                    <a:lumMod val="25000"/>
                  </a:schemeClr>
                </a:solidFill>
                <a:latin typeface="Aptos Light"/>
              </a:rPr>
              <a:t>1 bus line of ~ 12 stops (Line 200)</a:t>
            </a:r>
          </a:p>
          <a:p>
            <a:pPr lvl="1"/>
            <a:r>
              <a:rPr lang="en-US" sz="2000">
                <a:solidFill>
                  <a:schemeClr val="bg2">
                    <a:lumMod val="25000"/>
                  </a:schemeClr>
                </a:solidFill>
                <a:latin typeface="Aptos Light"/>
              </a:rPr>
              <a:t>App prototyping</a:t>
            </a:r>
          </a:p>
        </p:txBody>
      </p:sp>
      <p:grpSp>
        <p:nvGrpSpPr>
          <p:cNvPr id="18" name="Grupo 17">
            <a:extLst>
              <a:ext uri="{FF2B5EF4-FFF2-40B4-BE49-F238E27FC236}">
                <a16:creationId xmlns:a16="http://schemas.microsoft.com/office/drawing/2014/main" id="{27118901-832E-1CB1-7617-850C8A3FFCC8}"/>
              </a:ext>
            </a:extLst>
          </p:cNvPr>
          <p:cNvGrpSpPr/>
          <p:nvPr/>
        </p:nvGrpSpPr>
        <p:grpSpPr>
          <a:xfrm>
            <a:off x="6521349" y="1872938"/>
            <a:ext cx="2330490" cy="3801337"/>
            <a:chOff x="5930800" y="1282558"/>
            <a:chExt cx="3034980" cy="4951525"/>
          </a:xfrm>
        </p:grpSpPr>
        <p:pic>
          <p:nvPicPr>
            <p:cNvPr id="5" name="Imagen 4" descr="Escala de tiempo&#10;&#10;El contenido generado por IA puede ser incorrecto.">
              <a:extLst>
                <a:ext uri="{FF2B5EF4-FFF2-40B4-BE49-F238E27FC236}">
                  <a16:creationId xmlns:a16="http://schemas.microsoft.com/office/drawing/2014/main" id="{ADB3CAA0-BFF6-6353-B40F-30808F95A728}"/>
                </a:ext>
              </a:extLst>
            </p:cNvPr>
            <p:cNvPicPr>
              <a:picLocks noChangeAspect="1"/>
            </p:cNvPicPr>
            <p:nvPr/>
          </p:nvPicPr>
          <p:blipFill>
            <a:blip r:embed="rId3">
              <a:extLst>
                <a:ext uri="{28A0092B-C50C-407E-A947-70E740481C1C}">
                  <a14:useLocalDpi xmlns:a14="http://schemas.microsoft.com/office/drawing/2010/main" val="0"/>
                </a:ext>
              </a:extLst>
            </a:blip>
            <a:srcRect t="556" b="92999"/>
            <a:stretch>
              <a:fillRect/>
            </a:stretch>
          </p:blipFill>
          <p:spPr>
            <a:xfrm>
              <a:off x="5930800" y="1282558"/>
              <a:ext cx="3030887" cy="508770"/>
            </a:xfrm>
            <a:prstGeom prst="rect">
              <a:avLst/>
            </a:prstGeom>
          </p:spPr>
        </p:pic>
        <p:pic>
          <p:nvPicPr>
            <p:cNvPr id="15" name="Imagen 14" descr="Mapa&#10;&#10;El contenido generado por IA puede ser incorrecto.">
              <a:extLst>
                <a:ext uri="{FF2B5EF4-FFF2-40B4-BE49-F238E27FC236}">
                  <a16:creationId xmlns:a16="http://schemas.microsoft.com/office/drawing/2014/main" id="{AEEE0A1E-5A1C-6013-011B-D10B8A19C43A}"/>
                </a:ext>
              </a:extLst>
            </p:cNvPr>
            <p:cNvPicPr>
              <a:picLocks noChangeAspect="1"/>
            </p:cNvPicPr>
            <p:nvPr/>
          </p:nvPicPr>
          <p:blipFill>
            <a:blip r:embed="rId4">
              <a:extLst>
                <a:ext uri="{28A0092B-C50C-407E-A947-70E740481C1C}">
                  <a14:useLocalDpi xmlns:a14="http://schemas.microsoft.com/office/drawing/2010/main" val="0"/>
                </a:ext>
              </a:extLst>
            </a:blip>
            <a:srcRect l="26219" t="7796" r="22847" b="16262"/>
            <a:stretch>
              <a:fillRect/>
            </a:stretch>
          </p:blipFill>
          <p:spPr>
            <a:xfrm>
              <a:off x="5930800" y="1791328"/>
              <a:ext cx="3034980" cy="4442755"/>
            </a:xfrm>
            <a:prstGeom prst="rect">
              <a:avLst/>
            </a:prstGeom>
          </p:spPr>
        </p:pic>
      </p:grpSp>
      <p:grpSp>
        <p:nvGrpSpPr>
          <p:cNvPr id="19" name="Grupo 18">
            <a:extLst>
              <a:ext uri="{FF2B5EF4-FFF2-40B4-BE49-F238E27FC236}">
                <a16:creationId xmlns:a16="http://schemas.microsoft.com/office/drawing/2014/main" id="{34C61B00-94DC-E217-4484-836FAD249AC8}"/>
              </a:ext>
            </a:extLst>
          </p:cNvPr>
          <p:cNvGrpSpPr/>
          <p:nvPr/>
        </p:nvGrpSpPr>
        <p:grpSpPr>
          <a:xfrm>
            <a:off x="9307403" y="1888335"/>
            <a:ext cx="2218500" cy="3798035"/>
            <a:chOff x="9312144" y="1285856"/>
            <a:chExt cx="2879858" cy="4948227"/>
          </a:xfrm>
        </p:grpSpPr>
        <p:pic>
          <p:nvPicPr>
            <p:cNvPr id="7" name="Imagen 6" descr="Calendario&#10;&#10;El contenido generado por IA puede ser incorrecto.">
              <a:extLst>
                <a:ext uri="{FF2B5EF4-FFF2-40B4-BE49-F238E27FC236}">
                  <a16:creationId xmlns:a16="http://schemas.microsoft.com/office/drawing/2014/main" id="{1B11C4A2-3EA7-CBF1-282A-632AD6179D5D}"/>
                </a:ext>
              </a:extLst>
            </p:cNvPr>
            <p:cNvPicPr>
              <a:picLocks noChangeAspect="1"/>
            </p:cNvPicPr>
            <p:nvPr/>
          </p:nvPicPr>
          <p:blipFill>
            <a:blip r:embed="rId5">
              <a:extLst>
                <a:ext uri="{BEBA8EAE-BF5A-486C-A8C5-ECC9F3942E4B}">
                  <a14:imgProps xmlns:a14="http://schemas.microsoft.com/office/drawing/2010/main">
                    <a14:imgLayer r:embed="rId6">
                      <a14:imgEffect>
                        <a14:saturation/>
                      </a14:imgEffect>
                      <a14:imgEffect>
                        <a14:brightnessContrast/>
                      </a14:imgEffect>
                    </a14:imgLayer>
                  </a14:imgProps>
                </a:ext>
                <a:ext uri="{28A0092B-C50C-407E-A947-70E740481C1C}">
                  <a14:useLocalDpi xmlns:a14="http://schemas.microsoft.com/office/drawing/2010/main" val="0"/>
                </a:ext>
              </a:extLst>
            </a:blip>
            <a:srcRect b="93355"/>
            <a:stretch>
              <a:fillRect/>
            </a:stretch>
          </p:blipFill>
          <p:spPr>
            <a:xfrm>
              <a:off x="9318170" y="1285856"/>
              <a:ext cx="2873829" cy="505474"/>
            </a:xfrm>
            <a:prstGeom prst="rect">
              <a:avLst/>
            </a:prstGeom>
          </p:spPr>
        </p:pic>
        <p:pic>
          <p:nvPicPr>
            <p:cNvPr id="17" name="Imagen 16" descr="Mapa&#10;&#10;El contenido generado por IA puede ser incorrecto.">
              <a:extLst>
                <a:ext uri="{FF2B5EF4-FFF2-40B4-BE49-F238E27FC236}">
                  <a16:creationId xmlns:a16="http://schemas.microsoft.com/office/drawing/2014/main" id="{16ED45A8-906D-272C-DCCC-5106A3ECBD03}"/>
                </a:ext>
              </a:extLst>
            </p:cNvPr>
            <p:cNvPicPr>
              <a:picLocks noChangeAspect="1"/>
            </p:cNvPicPr>
            <p:nvPr/>
          </p:nvPicPr>
          <p:blipFill>
            <a:blip r:embed="rId7">
              <a:extLst>
                <a:ext uri="{28A0092B-C50C-407E-A947-70E740481C1C}">
                  <a14:useLocalDpi xmlns:a14="http://schemas.microsoft.com/office/drawing/2010/main" val="0"/>
                </a:ext>
              </a:extLst>
            </a:blip>
            <a:srcRect l="12968" t="20370" r="8121" b="27531"/>
            <a:stretch>
              <a:fillRect/>
            </a:stretch>
          </p:blipFill>
          <p:spPr>
            <a:xfrm rot="16200000">
              <a:off x="8530696" y="2572777"/>
              <a:ext cx="4442754" cy="2879858"/>
            </a:xfrm>
            <a:prstGeom prst="rect">
              <a:avLst/>
            </a:prstGeom>
          </p:spPr>
        </p:pic>
      </p:grpSp>
    </p:spTree>
    <p:extLst>
      <p:ext uri="{BB962C8B-B14F-4D97-AF65-F5344CB8AC3E}">
        <p14:creationId xmlns:p14="http://schemas.microsoft.com/office/powerpoint/2010/main" val="8448972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7F714-AE90-B9D2-BC2A-9084C8189AAA}"/>
            </a:ext>
          </a:extLst>
        </p:cNvPr>
        <p:cNvGrpSpPr/>
        <p:nvPr/>
      </p:nvGrpSpPr>
      <p:grpSpPr>
        <a:xfrm>
          <a:off x="0" y="0"/>
          <a:ext cx="0" cy="0"/>
          <a:chOff x="0" y="0"/>
          <a:chExt cx="0" cy="0"/>
        </a:xfrm>
      </p:grpSpPr>
      <p:pic>
        <p:nvPicPr>
          <p:cNvPr id="8" name="Picture 6" descr="A blue background with white lines and words&#10;&#10;AI-generated content may be incorrect.">
            <a:extLst>
              <a:ext uri="{FF2B5EF4-FFF2-40B4-BE49-F238E27FC236}">
                <a16:creationId xmlns:a16="http://schemas.microsoft.com/office/drawing/2014/main" id="{A996B329-1A15-819A-6F33-1FCDB386B0EB}"/>
              </a:ext>
            </a:extLst>
          </p:cNvPr>
          <p:cNvPicPr>
            <a:picLocks noChangeAspect="1"/>
          </p:cNvPicPr>
          <p:nvPr/>
        </p:nvPicPr>
        <p:blipFill>
          <a:blip r:embed="rId3"/>
          <a:srcRect t="12584" r="118" b="7382"/>
          <a:stretch>
            <a:fillRect/>
          </a:stretch>
        </p:blipFill>
        <p:spPr>
          <a:xfrm>
            <a:off x="1" y="6455825"/>
            <a:ext cx="12198943" cy="6860749"/>
          </a:xfrm>
          <a:prstGeom prst="rect">
            <a:avLst/>
          </a:prstGeom>
        </p:spPr>
      </p:pic>
      <p:pic>
        <p:nvPicPr>
          <p:cNvPr id="9" name="Picture 8" descr="A blue and black text&#10;&#10;AI-generated content may be incorrect.">
            <a:extLst>
              <a:ext uri="{FF2B5EF4-FFF2-40B4-BE49-F238E27FC236}">
                <a16:creationId xmlns:a16="http://schemas.microsoft.com/office/drawing/2014/main" id="{D5628EC4-7DC4-C612-8CEA-D9F99ACD377B}"/>
              </a:ext>
            </a:extLst>
          </p:cNvPr>
          <p:cNvPicPr>
            <a:picLocks noChangeAspect="1"/>
          </p:cNvPicPr>
          <p:nvPr/>
        </p:nvPicPr>
        <p:blipFill>
          <a:blip r:embed="rId4"/>
          <a:srcRect l="23912" r="25460" b="57942"/>
          <a:stretch>
            <a:fillRect/>
          </a:stretch>
        </p:blipFill>
        <p:spPr>
          <a:xfrm>
            <a:off x="1192554" y="1355252"/>
            <a:ext cx="3234895" cy="983881"/>
          </a:xfrm>
          <a:prstGeom prst="rect">
            <a:avLst/>
          </a:prstGeom>
        </p:spPr>
      </p:pic>
      <p:sp>
        <p:nvSpPr>
          <p:cNvPr id="10" name="Content Placeholder 2">
            <a:extLst>
              <a:ext uri="{FF2B5EF4-FFF2-40B4-BE49-F238E27FC236}">
                <a16:creationId xmlns:a16="http://schemas.microsoft.com/office/drawing/2014/main" id="{82FB2E24-B178-A108-6379-92701628C032}"/>
              </a:ext>
            </a:extLst>
          </p:cNvPr>
          <p:cNvSpPr>
            <a:spLocks noGrp="1"/>
          </p:cNvSpPr>
          <p:nvPr>
            <p:ph idx="1"/>
          </p:nvPr>
        </p:nvSpPr>
        <p:spPr>
          <a:xfrm>
            <a:off x="1194014" y="2620836"/>
            <a:ext cx="10105571" cy="3442885"/>
          </a:xfrm>
        </p:spPr>
        <p:txBody>
          <a:bodyPr vert="horz" lIns="91440" tIns="45720" rIns="91440" bIns="45720" rtlCol="0" anchor="t">
            <a:normAutofit/>
          </a:bodyPr>
          <a:lstStyle/>
          <a:p>
            <a:pPr marL="0" indent="0">
              <a:buNone/>
            </a:pPr>
            <a:endParaRPr lang="en-US" sz="2000">
              <a:solidFill>
                <a:schemeClr val="bg2">
                  <a:lumMod val="25000"/>
                </a:schemeClr>
              </a:solidFill>
            </a:endParaRPr>
          </a:p>
          <a:p>
            <a:pPr marL="0" indent="0">
              <a:buNone/>
            </a:pPr>
            <a:r>
              <a:rPr lang="en-US" sz="2000" b="1">
                <a:solidFill>
                  <a:schemeClr val="bg1"/>
                </a:solidFill>
                <a:highlight>
                  <a:srgbClr val="0000AD"/>
                </a:highlight>
              </a:rPr>
              <a:t>helps</a:t>
            </a:r>
            <a:r>
              <a:rPr lang="en-US" sz="2000">
                <a:solidFill>
                  <a:schemeClr val="bg2">
                    <a:lumMod val="25000"/>
                  </a:schemeClr>
                </a:solidFill>
              </a:rPr>
              <a:t> </a:t>
            </a:r>
            <a:r>
              <a:rPr lang="en-US" sz="2000">
                <a:solidFill>
                  <a:schemeClr val="bg2">
                    <a:lumMod val="49000"/>
                  </a:schemeClr>
                </a:solidFill>
              </a:rPr>
              <a:t>every</a:t>
            </a:r>
            <a:endParaRPr lang="en-US" sz="2000" b="1">
              <a:solidFill>
                <a:srgbClr val="0000AD"/>
              </a:solidFill>
            </a:endParaRPr>
          </a:p>
          <a:p>
            <a:pPr marL="0" indent="0">
              <a:buNone/>
            </a:pPr>
            <a:r>
              <a:rPr lang="en-US" sz="2000">
                <a:solidFill>
                  <a:schemeClr val="bg2">
                    <a:lumMod val="49000"/>
                  </a:schemeClr>
                </a:solidFill>
              </a:rPr>
              <a:t>who</a:t>
            </a:r>
            <a:r>
              <a:rPr lang="en-US" sz="2000">
                <a:solidFill>
                  <a:schemeClr val="bg2">
                    <a:lumMod val="25000"/>
                  </a:schemeClr>
                </a:solidFill>
              </a:rPr>
              <a:t>  </a:t>
            </a:r>
            <a:r>
              <a:rPr lang="en-US" sz="2000" b="1">
                <a:solidFill>
                  <a:schemeClr val="bg1"/>
                </a:solidFill>
                <a:highlight>
                  <a:srgbClr val="0000AD"/>
                </a:highlight>
              </a:rPr>
              <a:t>wants</a:t>
            </a:r>
            <a:r>
              <a:rPr lang="en-US" sz="2000">
                <a:solidFill>
                  <a:srgbClr val="E8E8E8">
                    <a:lumMod val="49000"/>
                  </a:srgbClr>
                </a:solidFill>
              </a:rPr>
              <a:t> to be</a:t>
            </a:r>
            <a:r>
              <a:rPr lang="en-US" sz="2000" b="1">
                <a:solidFill>
                  <a:schemeClr val="bg1"/>
                </a:solidFill>
              </a:rPr>
              <a:t> </a:t>
            </a:r>
            <a:endParaRPr lang="en-US" sz="2000" b="1">
              <a:solidFill>
                <a:srgbClr val="0000AD"/>
              </a:solidFill>
            </a:endParaRPr>
          </a:p>
          <a:p>
            <a:pPr marL="0" indent="0">
              <a:buNone/>
            </a:pPr>
            <a:r>
              <a:rPr lang="en-US" sz="2000">
                <a:solidFill>
                  <a:schemeClr val="bg2">
                    <a:lumMod val="49000"/>
                  </a:schemeClr>
                </a:solidFill>
              </a:rPr>
              <a:t>by</a:t>
            </a:r>
            <a:r>
              <a:rPr lang="en-US" sz="2000">
                <a:solidFill>
                  <a:schemeClr val="bg2">
                    <a:lumMod val="25000"/>
                  </a:schemeClr>
                </a:solidFill>
              </a:rPr>
              <a:t> </a:t>
            </a:r>
            <a:r>
              <a:rPr lang="en-US" sz="2000" b="1">
                <a:solidFill>
                  <a:schemeClr val="bg1"/>
                </a:solidFill>
                <a:highlight>
                  <a:srgbClr val="0000AD"/>
                </a:highlight>
              </a:rPr>
              <a:t>providing</a:t>
            </a:r>
            <a:r>
              <a:rPr lang="en-US" sz="2000">
                <a:solidFill>
                  <a:schemeClr val="bg2">
                    <a:lumMod val="25000"/>
                  </a:schemeClr>
                </a:solidFill>
              </a:rPr>
              <a:t> </a:t>
            </a:r>
            <a:endParaRPr lang="en-US" sz="2000" b="1">
              <a:solidFill>
                <a:srgbClr val="0000AD"/>
              </a:solidFill>
            </a:endParaRPr>
          </a:p>
          <a:p>
            <a:pPr marL="0" indent="0">
              <a:buNone/>
            </a:pPr>
            <a:r>
              <a:rPr lang="en-US" sz="2000" b="1">
                <a:solidFill>
                  <a:schemeClr val="bg1"/>
                </a:solidFill>
                <a:highlight>
                  <a:srgbClr val="0000AD"/>
                </a:highlight>
              </a:rPr>
              <a:t>avoiding frustration</a:t>
            </a:r>
            <a:r>
              <a:rPr lang="en-US" sz="2000" b="1">
                <a:solidFill>
                  <a:schemeClr val="bg2">
                    <a:lumMod val="10000"/>
                  </a:schemeClr>
                </a:solidFill>
              </a:rPr>
              <a:t> </a:t>
            </a:r>
            <a:r>
              <a:rPr lang="en-US" sz="2000">
                <a:solidFill>
                  <a:schemeClr val="bg2">
                    <a:lumMod val="49000"/>
                  </a:schemeClr>
                </a:solidFill>
              </a:rPr>
              <a:t>caused by the</a:t>
            </a:r>
            <a:r>
              <a:rPr lang="en-US" sz="2000">
                <a:solidFill>
                  <a:schemeClr val="bg2">
                    <a:lumMod val="25000"/>
                  </a:schemeClr>
                </a:solidFill>
              </a:rPr>
              <a:t> </a:t>
            </a:r>
            <a:endParaRPr lang="en-US" sz="2000" b="1">
              <a:solidFill>
                <a:srgbClr val="0000AD"/>
              </a:solidFill>
            </a:endParaRPr>
          </a:p>
          <a:p>
            <a:pPr marL="0" indent="0">
              <a:buNone/>
            </a:pPr>
            <a:r>
              <a:rPr lang="en-US" sz="2000" b="1">
                <a:solidFill>
                  <a:schemeClr val="bg1"/>
                </a:solidFill>
                <a:highlight>
                  <a:srgbClr val="0000AD"/>
                </a:highlight>
              </a:rPr>
              <a:t>unlike</a:t>
            </a:r>
            <a:r>
              <a:rPr lang="en-US" sz="2000" b="1">
                <a:solidFill>
                  <a:srgbClr val="002060"/>
                </a:solidFill>
              </a:rPr>
              <a:t> </a:t>
            </a:r>
            <a:r>
              <a:rPr lang="en-US" sz="2000">
                <a:solidFill>
                  <a:schemeClr val="bg2">
                    <a:lumMod val="49000"/>
                  </a:schemeClr>
                </a:solidFill>
              </a:rPr>
              <a:t>the nowadays</a:t>
            </a:r>
            <a:r>
              <a:rPr lang="en-US" sz="2000">
                <a:solidFill>
                  <a:schemeClr val="bg2">
                    <a:lumMod val="25000"/>
                  </a:schemeClr>
                </a:solidFill>
              </a:rPr>
              <a:t> </a:t>
            </a:r>
            <a:r>
              <a:rPr lang="en-US" sz="2000" b="1">
                <a:solidFill>
                  <a:srgbClr val="0000AD"/>
                </a:solidFill>
              </a:rPr>
              <a:t> </a:t>
            </a:r>
          </a:p>
        </p:txBody>
      </p:sp>
      <p:sp>
        <p:nvSpPr>
          <p:cNvPr id="3" name="CuadroTexto 2">
            <a:extLst>
              <a:ext uri="{FF2B5EF4-FFF2-40B4-BE49-F238E27FC236}">
                <a16:creationId xmlns:a16="http://schemas.microsoft.com/office/drawing/2014/main" id="{911C009A-F6E6-5A70-53B6-4B2DA7AE4AC1}"/>
              </a:ext>
            </a:extLst>
          </p:cNvPr>
          <p:cNvSpPr txBox="1"/>
          <p:nvPr/>
        </p:nvSpPr>
        <p:spPr>
          <a:xfrm>
            <a:off x="2540219" y="3028277"/>
            <a:ext cx="7157803" cy="1992084"/>
          </a:xfrm>
          <a:prstGeom prst="rect">
            <a:avLst/>
          </a:prstGeom>
          <a:noFill/>
        </p:spPr>
        <p:txBody>
          <a:bodyPr wrap="square" lIns="91440" tIns="45720" rIns="91440" bIns="45720" anchor="t">
            <a:spAutoFit/>
          </a:bodyPr>
          <a:lstStyle/>
          <a:p>
            <a:pPr>
              <a:lnSpc>
                <a:spcPct val="90000"/>
              </a:lnSpc>
              <a:spcBef>
                <a:spcPts val="1000"/>
              </a:spcBef>
            </a:pPr>
            <a:r>
              <a:rPr lang="en-US" sz="2000" b="1">
                <a:solidFill>
                  <a:srgbClr val="0000AD"/>
                </a:solidFill>
              </a:rPr>
              <a:t>citizen</a:t>
            </a:r>
          </a:p>
          <a:p>
            <a:pPr>
              <a:lnSpc>
                <a:spcPct val="90000"/>
              </a:lnSpc>
              <a:spcBef>
                <a:spcPts val="1000"/>
              </a:spcBef>
            </a:pPr>
            <a:r>
              <a:rPr lang="en-US" sz="2000" b="1">
                <a:solidFill>
                  <a:srgbClr val="0000AD"/>
                </a:solidFill>
              </a:rPr>
              <a:t>           properly informed about bus state and location</a:t>
            </a:r>
          </a:p>
          <a:p>
            <a:pPr>
              <a:lnSpc>
                <a:spcPct val="90000"/>
              </a:lnSpc>
              <a:spcBef>
                <a:spcPts val="1000"/>
              </a:spcBef>
            </a:pPr>
            <a:r>
              <a:rPr lang="en-US" sz="2000" b="1">
                <a:solidFill>
                  <a:srgbClr val="0000AD"/>
                </a:solidFill>
              </a:rPr>
              <a:t>  real time bus movement and incidents </a:t>
            </a:r>
          </a:p>
          <a:p>
            <a:pPr>
              <a:lnSpc>
                <a:spcPct val="90000"/>
              </a:lnSpc>
              <a:spcBef>
                <a:spcPts val="1000"/>
              </a:spcBef>
            </a:pPr>
            <a:r>
              <a:rPr lang="en-US" sz="2000">
                <a:solidFill>
                  <a:schemeClr val="bg2">
                    <a:lumMod val="25000"/>
                  </a:schemeClr>
                </a:solidFill>
              </a:rPr>
              <a:t>                                                 </a:t>
            </a:r>
            <a:r>
              <a:rPr lang="en-US" sz="2000" b="1">
                <a:solidFill>
                  <a:srgbClr val="0000AD"/>
                </a:solidFill>
              </a:rPr>
              <a:t>sparse and unreliable information </a:t>
            </a:r>
          </a:p>
          <a:p>
            <a:pPr>
              <a:lnSpc>
                <a:spcPct val="90000"/>
              </a:lnSpc>
              <a:spcBef>
                <a:spcPts val="1000"/>
              </a:spcBef>
            </a:pPr>
            <a:r>
              <a:rPr lang="en-US" sz="2000" b="1">
                <a:solidFill>
                  <a:srgbClr val="0000AD"/>
                </a:solidFill>
              </a:rPr>
              <a:t>                   time-screen system</a:t>
            </a:r>
            <a:endParaRPr lang="es-ES" sz="2000" b="1">
              <a:solidFill>
                <a:srgbClr val="0000AD"/>
              </a:solidFill>
            </a:endParaRPr>
          </a:p>
        </p:txBody>
      </p:sp>
    </p:spTree>
    <p:extLst>
      <p:ext uri="{BB962C8B-B14F-4D97-AF65-F5344CB8AC3E}">
        <p14:creationId xmlns:p14="http://schemas.microsoft.com/office/powerpoint/2010/main" val="12670398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24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24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89BB3-B8C8-97D5-66BF-5F787D638460}"/>
            </a:ext>
          </a:extLst>
        </p:cNvPr>
        <p:cNvGrpSpPr/>
        <p:nvPr/>
      </p:nvGrpSpPr>
      <p:grpSpPr>
        <a:xfrm>
          <a:off x="0" y="0"/>
          <a:ext cx="0" cy="0"/>
          <a:chOff x="0" y="0"/>
          <a:chExt cx="0" cy="0"/>
        </a:xfrm>
      </p:grpSpPr>
      <p:pic>
        <p:nvPicPr>
          <p:cNvPr id="4" name="Picture 6" descr="A blue background with white lines and words&#10;&#10;AI-generated content may be incorrect.">
            <a:extLst>
              <a:ext uri="{FF2B5EF4-FFF2-40B4-BE49-F238E27FC236}">
                <a16:creationId xmlns:a16="http://schemas.microsoft.com/office/drawing/2014/main" id="{469E76DF-EE9D-4767-30E3-72CD55C13711}"/>
              </a:ext>
            </a:extLst>
          </p:cNvPr>
          <p:cNvPicPr>
            <a:picLocks noChangeAspect="1"/>
          </p:cNvPicPr>
          <p:nvPr/>
        </p:nvPicPr>
        <p:blipFill>
          <a:blip r:embed="rId3"/>
          <a:srcRect t="12584" r="118" b="7382"/>
          <a:stretch>
            <a:fillRect/>
          </a:stretch>
        </p:blipFill>
        <p:spPr>
          <a:xfrm>
            <a:off x="0" y="391"/>
            <a:ext cx="12198943" cy="6860749"/>
          </a:xfrm>
          <a:prstGeom prst="rect">
            <a:avLst/>
          </a:prstGeom>
        </p:spPr>
      </p:pic>
      <p:sp>
        <p:nvSpPr>
          <p:cNvPr id="3" name="Content Placeholder 2">
            <a:extLst>
              <a:ext uri="{FF2B5EF4-FFF2-40B4-BE49-F238E27FC236}">
                <a16:creationId xmlns:a16="http://schemas.microsoft.com/office/drawing/2014/main" id="{B73F5D6D-5BB2-6061-F651-9B8E03B108D1}"/>
              </a:ext>
            </a:extLst>
          </p:cNvPr>
          <p:cNvSpPr>
            <a:spLocks noGrp="1"/>
          </p:cNvSpPr>
          <p:nvPr>
            <p:ph idx="1"/>
          </p:nvPr>
        </p:nvSpPr>
        <p:spPr>
          <a:xfrm>
            <a:off x="1805214" y="5052928"/>
            <a:ext cx="8581571" cy="1048823"/>
          </a:xfrm>
        </p:spPr>
        <p:txBody>
          <a:bodyPr vert="horz" lIns="91440" tIns="45720" rIns="91440" bIns="45720" rtlCol="0" anchor="t">
            <a:normAutofit/>
          </a:bodyPr>
          <a:lstStyle/>
          <a:p>
            <a:pPr marL="0" indent="0" algn="ctr">
              <a:buNone/>
            </a:pPr>
            <a:r>
              <a:rPr lang="en-US" sz="2000" b="1">
                <a:solidFill>
                  <a:schemeClr val="bg1"/>
                </a:solidFill>
              </a:rPr>
              <a:t>Connected cities, informed citizens, strong public transport system.</a:t>
            </a:r>
          </a:p>
          <a:p>
            <a:pPr marL="0" indent="0" algn="ctr">
              <a:buNone/>
            </a:pPr>
            <a:r>
              <a:rPr lang="en-US" sz="2000" b="1">
                <a:solidFill>
                  <a:schemeClr val="bg1"/>
                </a:solidFill>
              </a:rPr>
              <a:t>More trust and usage.</a:t>
            </a:r>
          </a:p>
          <a:p>
            <a:pPr marL="0" indent="0">
              <a:buNone/>
            </a:pPr>
            <a:endParaRPr lang="en-US" sz="2000" b="1">
              <a:solidFill>
                <a:srgbClr val="002060"/>
              </a:solidFill>
            </a:endParaRPr>
          </a:p>
        </p:txBody>
      </p:sp>
    </p:spTree>
    <p:extLst>
      <p:ext uri="{BB962C8B-B14F-4D97-AF65-F5344CB8AC3E}">
        <p14:creationId xmlns:p14="http://schemas.microsoft.com/office/powerpoint/2010/main" val="15067671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d3c6c-5060-431e-a604-10c866729759" xsi:nil="true"/>
    <lcf76f155ced4ddcb4097134ff3c332f xmlns="bc80b623-969b-4c59-97d8-7f7145a8b26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7F746117F6E3443A7CB9625BB7EF932" ma:contentTypeVersion="11" ma:contentTypeDescription="Crear nuevo documento." ma:contentTypeScope="" ma:versionID="5904f45f917ae01de9d03927ff2a211e">
  <xsd:schema xmlns:xsd="http://www.w3.org/2001/XMLSchema" xmlns:xs="http://www.w3.org/2001/XMLSchema" xmlns:p="http://schemas.microsoft.com/office/2006/metadata/properties" xmlns:ns2="bc80b623-969b-4c59-97d8-7f7145a8b26a" xmlns:ns3="601d3c6c-5060-431e-a604-10c866729759" targetNamespace="http://schemas.microsoft.com/office/2006/metadata/properties" ma:root="true" ma:fieldsID="648aeabbd1559f66049900db663f37ee" ns2:_="" ns3:_="">
    <xsd:import namespace="bc80b623-969b-4c59-97d8-7f7145a8b26a"/>
    <xsd:import namespace="601d3c6c-5060-431e-a604-10c86672975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0b623-969b-4c59-97d8-7f7145a8b26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1d3c6c-5060-431e-a604-10c86672975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8741e9-6cf7-4dc6-a4de-37a3ca55de16}" ma:internalName="TaxCatchAll" ma:showField="CatchAllData" ma:web="601d3c6c-5060-431e-a604-10c86672975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B04955-2887-47F6-85FA-A5FA74C6C595}">
  <ds:schemaRefs>
    <ds:schemaRef ds:uri="601d3c6c-5060-431e-a604-10c866729759"/>
    <ds:schemaRef ds:uri="bc80b623-969b-4c59-97d8-7f7145a8b26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0109E0D-69DB-48DF-BE40-68DE7A78FC8E}"/>
</file>

<file path=customXml/itemProps3.xml><?xml version="1.0" encoding="utf-8"?>
<ds:datastoreItem xmlns:ds="http://schemas.openxmlformats.org/officeDocument/2006/customXml" ds:itemID="{21E398E8-AD59-414A-9199-D0EAEC80AFC3}">
  <ds:schemaRefs>
    <ds:schemaRef ds:uri="http://schemas.microsoft.com/sharepoint/v3/contenttype/forms"/>
  </ds:schemaRefs>
</ds:datastoreItem>
</file>

<file path=docMetadata/LabelInfo.xml><?xml version="1.0" encoding="utf-8"?>
<clbl:labelList xmlns:clbl="http://schemas.microsoft.com/office/2020/mipLabelMetadata">
  <clbl:label id="{6afea85d-c323-4270-b69d-a4fb3927c254}" enabled="0" method="" siteId="{6afea85d-c323-4270-b69d-a4fb3927c254}"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Real-time bus location signage</vt:lpstr>
      <vt:lpstr>BENCHMARKING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PABLO APARICIO MARTIN</dc:creator>
  <cp:revision>1</cp:revision>
  <dcterms:created xsi:type="dcterms:W3CDTF">2025-07-01T15:24:00Z</dcterms:created>
  <dcterms:modified xsi:type="dcterms:W3CDTF">2025-10-07T06:56:45Z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0x01010077F746117F6E3443A7CB9625BB7EF932</vt:lpwstr>
  </property>
  <property fmtid="{D5CDD505-2E9C-101B-9397-08002B2CF9AE}" pid="3" name="MediaServiceImageTags">
    <vt:lpwstr/>
  </property>
</Properties>
</file>